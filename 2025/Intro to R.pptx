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48"/>
  </p:notesMasterIdLst>
  <p:sldIdLst>
    <p:sldId id="256" r:id="rId5"/>
    <p:sldId id="257" r:id="rId6"/>
    <p:sldId id="258" r:id="rId7"/>
    <p:sldId id="259" r:id="rId8"/>
    <p:sldId id="260" r:id="rId9"/>
    <p:sldId id="298" r:id="rId10"/>
    <p:sldId id="286" r:id="rId11"/>
    <p:sldId id="261" r:id="rId12"/>
    <p:sldId id="263" r:id="rId13"/>
    <p:sldId id="264" r:id="rId14"/>
    <p:sldId id="265" r:id="rId15"/>
    <p:sldId id="300" r:id="rId16"/>
    <p:sldId id="266" r:id="rId17"/>
    <p:sldId id="293" r:id="rId18"/>
    <p:sldId id="268" r:id="rId19"/>
    <p:sldId id="287" r:id="rId20"/>
    <p:sldId id="291" r:id="rId21"/>
    <p:sldId id="292" r:id="rId22"/>
    <p:sldId id="289" r:id="rId23"/>
    <p:sldId id="288" r:id="rId24"/>
    <p:sldId id="295" r:id="rId25"/>
    <p:sldId id="267" r:id="rId26"/>
    <p:sldId id="294" r:id="rId27"/>
    <p:sldId id="297" r:id="rId28"/>
    <p:sldId id="290" r:id="rId29"/>
    <p:sldId id="269" r:id="rId30"/>
    <p:sldId id="299" r:id="rId31"/>
    <p:sldId id="270" r:id="rId32"/>
    <p:sldId id="271" r:id="rId33"/>
    <p:sldId id="272" r:id="rId34"/>
    <p:sldId id="273" r:id="rId35"/>
    <p:sldId id="274" r:id="rId36"/>
    <p:sldId id="275" r:id="rId37"/>
    <p:sldId id="276" r:id="rId38"/>
    <p:sldId id="277" r:id="rId39"/>
    <p:sldId id="278" r:id="rId40"/>
    <p:sldId id="280" r:id="rId41"/>
    <p:sldId id="281" r:id="rId42"/>
    <p:sldId id="282" r:id="rId43"/>
    <p:sldId id="283" r:id="rId44"/>
    <p:sldId id="284" r:id="rId45"/>
    <p:sldId id="301" r:id="rId46"/>
    <p:sldId id="285" r:id="rId47"/>
  </p:sldIdLst>
  <p:sldSz cx="21674138" cy="12192000"/>
  <p:notesSz cx="12192000" cy="12192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CC8"/>
    <a:srgbClr val="000000"/>
    <a:srgbClr val="BFBFBF"/>
    <a:srgbClr val="FFFFFF"/>
    <a:srgbClr val="EB9B0B"/>
    <a:srgbClr val="D38001"/>
    <a:srgbClr val="C44F02"/>
    <a:srgbClr val="FDB449"/>
    <a:srgbClr val="50B4C7"/>
    <a:srgbClr val="6294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EA1ECD-C559-82D4-9F60-261661C10FBA}" v="1" dt="2026-02-09T20:17:14.4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42" y="96"/>
      </p:cViewPr>
      <p:guideLst>
        <p:guide orient="horz" pos="288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g, Qiuying (PHAC/ASPC)" userId="S::qiuying.yang@phac-aspc.gc.ca::690bbae9-5fc2-4e7d-a838-4fda434e8949" providerId="AD" clId="Web-{2AEA1ECD-C559-82D4-9F60-261661C10FBA}"/>
    <pc:docChg chg="sldOrd">
      <pc:chgData name="Yang, Qiuying (PHAC/ASPC)" userId="S::qiuying.yang@phac-aspc.gc.ca::690bbae9-5fc2-4e7d-a838-4fda434e8949" providerId="AD" clId="Web-{2AEA1ECD-C559-82D4-9F60-261661C10FBA}" dt="2026-02-09T20:17:14.449" v="0"/>
      <pc:docMkLst>
        <pc:docMk/>
      </pc:docMkLst>
      <pc:sldChg chg="ord">
        <pc:chgData name="Yang, Qiuying (PHAC/ASPC)" userId="S::qiuying.yang@phac-aspc.gc.ca::690bbae9-5fc2-4e7d-a838-4fda434e8949" providerId="AD" clId="Web-{2AEA1ECD-C559-82D4-9F60-261661C10FBA}" dt="2026-02-09T20:17:14.449" v="0"/>
        <pc:sldMkLst>
          <pc:docMk/>
          <pc:sldMk cId="1108295570"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6111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6905625" y="0"/>
            <a:ext cx="5283200" cy="611188"/>
          </a:xfrm>
          <a:prstGeom prst="rect">
            <a:avLst/>
          </a:prstGeom>
        </p:spPr>
        <p:txBody>
          <a:bodyPr vert="horz" lIns="91440" tIns="45720" rIns="91440" bIns="45720" rtlCol="0"/>
          <a:lstStyle>
            <a:lvl1pPr algn="r">
              <a:defRPr sz="1200"/>
            </a:lvl1pPr>
          </a:lstStyle>
          <a:p>
            <a:fld id="{375166BA-DD4E-4E9B-BDD7-66304674C080}" type="datetimeFigureOut">
              <a:rPr lang="en-CA" smtClean="0"/>
              <a:t>2026-02-09</a:t>
            </a:fld>
            <a:endParaRPr lang="en-CA"/>
          </a:p>
        </p:txBody>
      </p:sp>
      <p:sp>
        <p:nvSpPr>
          <p:cNvPr id="4" name="Slide Image Placeholder 3"/>
          <p:cNvSpPr>
            <a:spLocks noGrp="1" noRot="1" noChangeAspect="1"/>
          </p:cNvSpPr>
          <p:nvPr>
            <p:ph type="sldImg" idx="2"/>
          </p:nvPr>
        </p:nvSpPr>
        <p:spPr>
          <a:xfrm>
            <a:off x="2438400" y="1524000"/>
            <a:ext cx="7315200" cy="41148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1219200" y="5867400"/>
            <a:ext cx="97536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11580813"/>
            <a:ext cx="5283200" cy="6111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6905625" y="11580813"/>
            <a:ext cx="5283200" cy="611187"/>
          </a:xfrm>
          <a:prstGeom prst="rect">
            <a:avLst/>
          </a:prstGeom>
        </p:spPr>
        <p:txBody>
          <a:bodyPr vert="horz" lIns="91440" tIns="45720" rIns="91440" bIns="45720" rtlCol="0" anchor="b"/>
          <a:lstStyle>
            <a:lvl1pPr algn="r">
              <a:defRPr sz="1200"/>
            </a:lvl1pPr>
          </a:lstStyle>
          <a:p>
            <a:fld id="{10CEE319-3594-4CBA-B653-1B6C966CA6A1}" type="slidenum">
              <a:rPr lang="en-CA" smtClean="0"/>
              <a:t>‹#›</a:t>
            </a:fld>
            <a:endParaRPr lang="en-CA"/>
          </a:p>
        </p:txBody>
      </p:sp>
    </p:spTree>
    <p:extLst>
      <p:ext uri="{BB962C8B-B14F-4D97-AF65-F5344CB8AC3E}">
        <p14:creationId xmlns:p14="http://schemas.microsoft.com/office/powerpoint/2010/main" val="4131446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0CEE319-3594-4CBA-B653-1B6C966CA6A1}" type="slidenum">
              <a:rPr lang="en-CA" smtClean="0"/>
              <a:t>38</a:t>
            </a:fld>
            <a:endParaRPr lang="en-CA"/>
          </a:p>
        </p:txBody>
      </p:sp>
    </p:spTree>
    <p:extLst>
      <p:ext uri="{BB962C8B-B14F-4D97-AF65-F5344CB8AC3E}">
        <p14:creationId xmlns:p14="http://schemas.microsoft.com/office/powerpoint/2010/main" val="742510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456234" y="2771775"/>
            <a:ext cx="18575414" cy="3105150"/>
          </a:xfrm>
          <a:custGeom>
            <a:avLst/>
            <a:gdLst/>
            <a:ahLst/>
            <a:cxnLst/>
            <a:rect l="l" t="t" r="r" b="b"/>
            <a:pathLst>
              <a:path w="10448925" h="3105150">
                <a:moveTo>
                  <a:pt x="10215880" y="0"/>
                </a:moveTo>
                <a:lnTo>
                  <a:pt x="233044" y="0"/>
                </a:lnTo>
                <a:lnTo>
                  <a:pt x="186079" y="4736"/>
                </a:lnTo>
                <a:lnTo>
                  <a:pt x="142335" y="18321"/>
                </a:lnTo>
                <a:lnTo>
                  <a:pt x="102749" y="39815"/>
                </a:lnTo>
                <a:lnTo>
                  <a:pt x="68259" y="68278"/>
                </a:lnTo>
                <a:lnTo>
                  <a:pt x="39801" y="102772"/>
                </a:lnTo>
                <a:lnTo>
                  <a:pt x="18314" y="142357"/>
                </a:lnTo>
                <a:lnTo>
                  <a:pt x="4734" y="186094"/>
                </a:lnTo>
                <a:lnTo>
                  <a:pt x="0" y="233045"/>
                </a:lnTo>
                <a:lnTo>
                  <a:pt x="0" y="2872105"/>
                </a:lnTo>
                <a:lnTo>
                  <a:pt x="4734" y="2919070"/>
                </a:lnTo>
                <a:lnTo>
                  <a:pt x="18314" y="2962814"/>
                </a:lnTo>
                <a:lnTo>
                  <a:pt x="39801" y="3002400"/>
                </a:lnTo>
                <a:lnTo>
                  <a:pt x="68259" y="3036890"/>
                </a:lnTo>
                <a:lnTo>
                  <a:pt x="102749" y="3065348"/>
                </a:lnTo>
                <a:lnTo>
                  <a:pt x="142335" y="3086835"/>
                </a:lnTo>
                <a:lnTo>
                  <a:pt x="186079" y="3100415"/>
                </a:lnTo>
                <a:lnTo>
                  <a:pt x="233044" y="3105150"/>
                </a:lnTo>
                <a:lnTo>
                  <a:pt x="10215880" y="3105150"/>
                </a:lnTo>
                <a:lnTo>
                  <a:pt x="10262830" y="3100415"/>
                </a:lnTo>
                <a:lnTo>
                  <a:pt x="10306567" y="3086835"/>
                </a:lnTo>
                <a:lnTo>
                  <a:pt x="10346152" y="3065348"/>
                </a:lnTo>
                <a:lnTo>
                  <a:pt x="10380646" y="3036890"/>
                </a:lnTo>
                <a:lnTo>
                  <a:pt x="10409109" y="3002400"/>
                </a:lnTo>
                <a:lnTo>
                  <a:pt x="10430603" y="2962814"/>
                </a:lnTo>
                <a:lnTo>
                  <a:pt x="10444188" y="2919070"/>
                </a:lnTo>
                <a:lnTo>
                  <a:pt x="10448925" y="2872105"/>
                </a:lnTo>
                <a:lnTo>
                  <a:pt x="10448925" y="233045"/>
                </a:lnTo>
                <a:lnTo>
                  <a:pt x="10444188" y="186094"/>
                </a:lnTo>
                <a:lnTo>
                  <a:pt x="10430603" y="142357"/>
                </a:lnTo>
                <a:lnTo>
                  <a:pt x="10409109" y="102772"/>
                </a:lnTo>
                <a:lnTo>
                  <a:pt x="10380646" y="68278"/>
                </a:lnTo>
                <a:lnTo>
                  <a:pt x="10346152" y="39815"/>
                </a:lnTo>
                <a:lnTo>
                  <a:pt x="10306567" y="18321"/>
                </a:lnTo>
                <a:lnTo>
                  <a:pt x="10262830" y="4736"/>
                </a:lnTo>
                <a:lnTo>
                  <a:pt x="10215880" y="0"/>
                </a:lnTo>
                <a:close/>
              </a:path>
            </a:pathLst>
          </a:custGeom>
          <a:solidFill>
            <a:srgbClr val="202020"/>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947286" y="4867275"/>
            <a:ext cx="8703521" cy="1009650"/>
          </a:xfrm>
          <a:prstGeom prst="rect">
            <a:avLst/>
          </a:prstGeom>
        </p:spPr>
      </p:pic>
      <p:pic>
        <p:nvPicPr>
          <p:cNvPr id="18" name="bg object 18"/>
          <p:cNvPicPr/>
          <p:nvPr/>
        </p:nvPicPr>
        <p:blipFill>
          <a:blip r:embed="rId3" cstate="print"/>
          <a:stretch>
            <a:fillRect/>
          </a:stretch>
        </p:blipFill>
        <p:spPr>
          <a:xfrm>
            <a:off x="1947286" y="2771775"/>
            <a:ext cx="5012144" cy="1009650"/>
          </a:xfrm>
          <a:prstGeom prst="rect">
            <a:avLst/>
          </a:prstGeom>
        </p:spPr>
      </p:pic>
      <p:pic>
        <p:nvPicPr>
          <p:cNvPr id="19" name="bg object 19"/>
          <p:cNvPicPr/>
          <p:nvPr/>
        </p:nvPicPr>
        <p:blipFill>
          <a:blip r:embed="rId4" cstate="print"/>
          <a:stretch>
            <a:fillRect/>
          </a:stretch>
        </p:blipFill>
        <p:spPr>
          <a:xfrm>
            <a:off x="1947286" y="3819525"/>
            <a:ext cx="5553998" cy="1009650"/>
          </a:xfrm>
          <a:prstGeom prst="rect">
            <a:avLst/>
          </a:prstGeom>
        </p:spPr>
      </p:pic>
      <p:sp>
        <p:nvSpPr>
          <p:cNvPr id="2" name="Holder 2"/>
          <p:cNvSpPr>
            <a:spLocks noGrp="1"/>
          </p:cNvSpPr>
          <p:nvPr>
            <p:ph type="ctrTitle"/>
          </p:nvPr>
        </p:nvSpPr>
        <p:spPr>
          <a:xfrm>
            <a:off x="1309482" y="802322"/>
            <a:ext cx="2861664" cy="1477328"/>
          </a:xfrm>
          <a:prstGeom prst="rect">
            <a:avLst/>
          </a:prstGeom>
        </p:spPr>
        <p:txBody>
          <a:bodyPr wrap="square" lIns="0" tIns="0" rIns="0" bIns="0">
            <a:spAutoFit/>
          </a:bodyPr>
          <a:lstStyle>
            <a:lvl1pPr>
              <a:defRPr sz="9600" b="0" i="0">
                <a:solidFill>
                  <a:srgbClr val="202020"/>
                </a:solidFill>
                <a:latin typeface="Calibri Light"/>
                <a:cs typeface="Calibri Light"/>
              </a:defRPr>
            </a:lvl1pPr>
          </a:lstStyle>
          <a:p>
            <a:endParaRPr/>
          </a:p>
        </p:txBody>
      </p:sp>
      <p:sp>
        <p:nvSpPr>
          <p:cNvPr id="3" name="Holder 3"/>
          <p:cNvSpPr>
            <a:spLocks noGrp="1"/>
          </p:cNvSpPr>
          <p:nvPr>
            <p:ph type="subTitle" idx="4"/>
          </p:nvPr>
        </p:nvSpPr>
        <p:spPr>
          <a:xfrm>
            <a:off x="3251122" y="3840482"/>
            <a:ext cx="15171897" cy="752385"/>
          </a:xfrm>
          <a:prstGeom prst="rect">
            <a:avLst/>
          </a:prstGeom>
        </p:spPr>
        <p:txBody>
          <a:bodyPr wrap="square" lIns="0" tIns="0" rIns="0" bIns="0">
            <a:spAutoFit/>
          </a:bodyPr>
          <a:lstStyle>
            <a:lvl1pPr>
              <a:defRPr sz="4889" b="0" i="0">
                <a:solidFill>
                  <a:srgbClr val="252525"/>
                </a:solidFill>
                <a:latin typeface="Calibri Light"/>
                <a:cs typeface="Calibr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309479" y="146350"/>
            <a:ext cx="19055180" cy="1477328"/>
          </a:xfrm>
        </p:spPr>
        <p:txBody>
          <a:bodyPr lIns="0" tIns="0" rIns="0" bIns="0"/>
          <a:lstStyle>
            <a:lvl1pPr>
              <a:defRPr sz="9600" b="0" i="0">
                <a:solidFill>
                  <a:srgbClr val="202020"/>
                </a:solidFill>
                <a:latin typeface="Calibri Light"/>
                <a:cs typeface="Calibri Light"/>
              </a:defRPr>
            </a:lvl1pPr>
          </a:lstStyle>
          <a:p>
            <a:endParaRPr/>
          </a:p>
        </p:txBody>
      </p:sp>
      <p:sp>
        <p:nvSpPr>
          <p:cNvPr id="3" name="Holder 3"/>
          <p:cNvSpPr>
            <a:spLocks noGrp="1"/>
          </p:cNvSpPr>
          <p:nvPr>
            <p:ph type="body" idx="1"/>
          </p:nvPr>
        </p:nvSpPr>
        <p:spPr>
          <a:xfrm>
            <a:off x="1954059" y="1971041"/>
            <a:ext cx="14519415" cy="752385"/>
          </a:xfrm>
        </p:spPr>
        <p:txBody>
          <a:bodyPr lIns="0" tIns="0" rIns="0" bIns="0"/>
          <a:lstStyle>
            <a:lvl1pPr>
              <a:defRPr sz="4889" b="0" i="0">
                <a:solidFill>
                  <a:srgbClr val="252525"/>
                </a:solidFill>
                <a:latin typeface="Calibri Light"/>
                <a:cs typeface="Calibri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309479" y="146350"/>
            <a:ext cx="19055180" cy="1477328"/>
          </a:xfrm>
        </p:spPr>
        <p:txBody>
          <a:bodyPr lIns="0" tIns="0" rIns="0" bIns="0"/>
          <a:lstStyle>
            <a:lvl1pPr>
              <a:defRPr sz="9600" b="0" i="0">
                <a:solidFill>
                  <a:srgbClr val="202020"/>
                </a:solidFill>
                <a:latin typeface="Calibri Light"/>
                <a:cs typeface="Calibri Light"/>
              </a:defRPr>
            </a:lvl1pPr>
          </a:lstStyle>
          <a:p>
            <a:endParaRPr/>
          </a:p>
        </p:txBody>
      </p:sp>
      <p:sp>
        <p:nvSpPr>
          <p:cNvPr id="3" name="Holder 3"/>
          <p:cNvSpPr>
            <a:spLocks noGrp="1"/>
          </p:cNvSpPr>
          <p:nvPr>
            <p:ph sz="half" idx="2"/>
          </p:nvPr>
        </p:nvSpPr>
        <p:spPr>
          <a:xfrm>
            <a:off x="1083707" y="1577342"/>
            <a:ext cx="9428250" cy="423193"/>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1162181" y="1577342"/>
            <a:ext cx="9428250" cy="423193"/>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09479" y="146350"/>
            <a:ext cx="19055180" cy="1477328"/>
          </a:xfrm>
        </p:spPr>
        <p:txBody>
          <a:bodyPr lIns="0" tIns="0" rIns="0" bIns="0"/>
          <a:lstStyle>
            <a:lvl1pPr>
              <a:defRPr sz="9600" b="0" i="0">
                <a:solidFill>
                  <a:srgbClr val="202020"/>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11685" y="0"/>
            <a:ext cx="21228586" cy="1694886"/>
          </a:xfrm>
          <a:prstGeom prst="rect">
            <a:avLst/>
          </a:prstGeom>
        </p:spPr>
      </p:pic>
      <p:sp>
        <p:nvSpPr>
          <p:cNvPr id="17" name="bg object 17"/>
          <p:cNvSpPr/>
          <p:nvPr/>
        </p:nvSpPr>
        <p:spPr>
          <a:xfrm>
            <a:off x="448721" y="1376428"/>
            <a:ext cx="17677969" cy="333375"/>
          </a:xfrm>
          <a:custGeom>
            <a:avLst/>
            <a:gdLst/>
            <a:ahLst/>
            <a:cxnLst/>
            <a:rect l="l" t="t" r="r" b="b"/>
            <a:pathLst>
              <a:path w="9944100" h="333375">
                <a:moveTo>
                  <a:pt x="9944100" y="0"/>
                </a:moveTo>
                <a:lnTo>
                  <a:pt x="0" y="0"/>
                </a:lnTo>
                <a:lnTo>
                  <a:pt x="0" y="333375"/>
                </a:lnTo>
                <a:lnTo>
                  <a:pt x="9944100" y="333375"/>
                </a:lnTo>
                <a:lnTo>
                  <a:pt x="9944100" y="0"/>
                </a:lnTo>
                <a:close/>
              </a:path>
            </a:pathLst>
          </a:custGeom>
          <a:solidFill>
            <a:srgbClr val="FFFFFF"/>
          </a:solidFill>
        </p:spPr>
        <p:txBody>
          <a:bodyPr wrap="square" lIns="0" tIns="0" rIns="0" bIns="0" rtlCol="0"/>
          <a:lstStyle/>
          <a:p>
            <a:endParaRPr/>
          </a:p>
        </p:txBody>
      </p:sp>
      <p:sp>
        <p:nvSpPr>
          <p:cNvPr id="18" name="bg object 18"/>
          <p:cNvSpPr/>
          <p:nvPr/>
        </p:nvSpPr>
        <p:spPr>
          <a:xfrm>
            <a:off x="448721" y="1376428"/>
            <a:ext cx="17677969" cy="333375"/>
          </a:xfrm>
          <a:custGeom>
            <a:avLst/>
            <a:gdLst/>
            <a:ahLst/>
            <a:cxnLst/>
            <a:rect l="l" t="t" r="r" b="b"/>
            <a:pathLst>
              <a:path w="9944100" h="333375">
                <a:moveTo>
                  <a:pt x="0" y="333375"/>
                </a:moveTo>
                <a:lnTo>
                  <a:pt x="9944100" y="333375"/>
                </a:lnTo>
                <a:lnTo>
                  <a:pt x="9944100" y="0"/>
                </a:lnTo>
                <a:lnTo>
                  <a:pt x="0" y="0"/>
                </a:lnTo>
                <a:lnTo>
                  <a:pt x="0" y="333375"/>
                </a:lnTo>
                <a:close/>
              </a:path>
            </a:pathLst>
          </a:custGeom>
          <a:ln w="12700">
            <a:solidFill>
              <a:srgbClr val="FFFFFF"/>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309479" y="146350"/>
            <a:ext cx="19055180" cy="830997"/>
          </a:xfrm>
          <a:prstGeom prst="rect">
            <a:avLst/>
          </a:prstGeom>
        </p:spPr>
        <p:txBody>
          <a:bodyPr wrap="square" lIns="0" tIns="0" rIns="0" bIns="0">
            <a:spAutoFit/>
          </a:bodyPr>
          <a:lstStyle>
            <a:lvl1pPr>
              <a:defRPr sz="5400" b="0" i="0">
                <a:solidFill>
                  <a:srgbClr val="202020"/>
                </a:solidFill>
                <a:latin typeface="Calibri Light"/>
                <a:cs typeface="Calibri Light"/>
              </a:defRPr>
            </a:lvl1pPr>
          </a:lstStyle>
          <a:p>
            <a:endParaRPr/>
          </a:p>
        </p:txBody>
      </p:sp>
      <p:sp>
        <p:nvSpPr>
          <p:cNvPr id="3" name="Holder 3"/>
          <p:cNvSpPr>
            <a:spLocks noGrp="1"/>
          </p:cNvSpPr>
          <p:nvPr>
            <p:ph type="body" idx="1"/>
          </p:nvPr>
        </p:nvSpPr>
        <p:spPr>
          <a:xfrm>
            <a:off x="1954059" y="1971041"/>
            <a:ext cx="14519415" cy="423193"/>
          </a:xfrm>
          <a:prstGeom prst="rect">
            <a:avLst/>
          </a:prstGeom>
        </p:spPr>
        <p:txBody>
          <a:bodyPr wrap="square" lIns="0" tIns="0" rIns="0" bIns="0">
            <a:spAutoFit/>
          </a:bodyPr>
          <a:lstStyle>
            <a:lvl1pPr>
              <a:defRPr sz="2750" b="0" i="0">
                <a:solidFill>
                  <a:srgbClr val="252525"/>
                </a:solidFill>
                <a:latin typeface="Calibri Light"/>
                <a:cs typeface="Calibri Light"/>
              </a:defRPr>
            </a:lvl1pPr>
          </a:lstStyle>
          <a:p>
            <a:endParaRPr/>
          </a:p>
        </p:txBody>
      </p:sp>
      <p:sp>
        <p:nvSpPr>
          <p:cNvPr id="4" name="Holder 4"/>
          <p:cNvSpPr>
            <a:spLocks noGrp="1"/>
          </p:cNvSpPr>
          <p:nvPr>
            <p:ph type="ftr" sz="quarter" idx="5"/>
          </p:nvPr>
        </p:nvSpPr>
        <p:spPr>
          <a:xfrm>
            <a:off x="7369207" y="6377942"/>
            <a:ext cx="693572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83707" y="6377942"/>
            <a:ext cx="4985052"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a:xfrm>
            <a:off x="15605379" y="6377942"/>
            <a:ext cx="4985052"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
        <p:nvSpPr>
          <p:cNvPr id="8" name="TextBox 7">
            <a:extLst>
              <a:ext uri="{FF2B5EF4-FFF2-40B4-BE49-F238E27FC236}">
                <a16:creationId xmlns:a16="http://schemas.microsoft.com/office/drawing/2014/main" id="{B5914156-8A77-634F-E8E2-52AE2173C18A}"/>
              </a:ext>
            </a:extLst>
          </p:cNvPr>
          <p:cNvSpPr txBox="1"/>
          <p:nvPr userDrawn="1">
            <p:extLst>
              <p:ext uri="{1162E1C5-73C7-4A58-AE30-91384D911F3F}">
                <p184:classification xmlns:p184="http://schemas.microsoft.com/office/powerpoint/2018/4/main" val="hdr"/>
              </p:ext>
            </p:extLst>
          </p:nvPr>
        </p:nvSpPr>
        <p:spPr>
          <a:xfrm>
            <a:off x="19959638" y="63500"/>
            <a:ext cx="1685925" cy="182880"/>
          </a:xfrm>
          <a:prstGeom prst="rect">
            <a:avLst/>
          </a:prstGeom>
        </p:spPr>
        <p:txBody>
          <a:bodyPr horzOverflow="overflow" lIns="0" tIns="0" rIns="0" bIns="0">
            <a:spAutoFit/>
          </a:bodyPr>
          <a:lstStyle/>
          <a:p>
            <a:pPr algn="l"/>
            <a:r>
              <a:rPr lang="en-CA" sz="12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Unclassified / Non classifié</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812764">
        <a:defRPr>
          <a:latin typeface="+mn-lt"/>
          <a:ea typeface="+mn-ea"/>
          <a:cs typeface="+mn-cs"/>
        </a:defRPr>
      </a:lvl2pPr>
      <a:lvl3pPr marL="1625529">
        <a:defRPr>
          <a:latin typeface="+mn-lt"/>
          <a:ea typeface="+mn-ea"/>
          <a:cs typeface="+mn-cs"/>
        </a:defRPr>
      </a:lvl3pPr>
      <a:lvl4pPr marL="2438293">
        <a:defRPr>
          <a:latin typeface="+mn-lt"/>
          <a:ea typeface="+mn-ea"/>
          <a:cs typeface="+mn-cs"/>
        </a:defRPr>
      </a:lvl4pPr>
      <a:lvl5pPr marL="3251058">
        <a:defRPr>
          <a:latin typeface="+mn-lt"/>
          <a:ea typeface="+mn-ea"/>
          <a:cs typeface="+mn-cs"/>
        </a:defRPr>
      </a:lvl5pPr>
      <a:lvl6pPr marL="4063822">
        <a:defRPr>
          <a:latin typeface="+mn-lt"/>
          <a:ea typeface="+mn-ea"/>
          <a:cs typeface="+mn-cs"/>
        </a:defRPr>
      </a:lvl6pPr>
      <a:lvl7pPr marL="4876587">
        <a:defRPr>
          <a:latin typeface="+mn-lt"/>
          <a:ea typeface="+mn-ea"/>
          <a:cs typeface="+mn-cs"/>
        </a:defRPr>
      </a:lvl7pPr>
      <a:lvl8pPr marL="5689351">
        <a:defRPr>
          <a:latin typeface="+mn-lt"/>
          <a:ea typeface="+mn-ea"/>
          <a:cs typeface="+mn-cs"/>
        </a:defRPr>
      </a:lvl8pPr>
      <a:lvl9pPr marL="6502116">
        <a:defRPr>
          <a:latin typeface="+mn-lt"/>
          <a:ea typeface="+mn-ea"/>
          <a:cs typeface="+mn-cs"/>
        </a:defRPr>
      </a:lvl9pPr>
    </p:bodyStyle>
    <p:otherStyle>
      <a:lvl1pPr marL="0">
        <a:defRPr>
          <a:latin typeface="+mn-lt"/>
          <a:ea typeface="+mn-ea"/>
          <a:cs typeface="+mn-cs"/>
        </a:defRPr>
      </a:lvl1pPr>
      <a:lvl2pPr marL="812764">
        <a:defRPr>
          <a:latin typeface="+mn-lt"/>
          <a:ea typeface="+mn-ea"/>
          <a:cs typeface="+mn-cs"/>
        </a:defRPr>
      </a:lvl2pPr>
      <a:lvl3pPr marL="1625529">
        <a:defRPr>
          <a:latin typeface="+mn-lt"/>
          <a:ea typeface="+mn-ea"/>
          <a:cs typeface="+mn-cs"/>
        </a:defRPr>
      </a:lvl3pPr>
      <a:lvl4pPr marL="2438293">
        <a:defRPr>
          <a:latin typeface="+mn-lt"/>
          <a:ea typeface="+mn-ea"/>
          <a:cs typeface="+mn-cs"/>
        </a:defRPr>
      </a:lvl4pPr>
      <a:lvl5pPr marL="3251058">
        <a:defRPr>
          <a:latin typeface="+mn-lt"/>
          <a:ea typeface="+mn-ea"/>
          <a:cs typeface="+mn-cs"/>
        </a:defRPr>
      </a:lvl5pPr>
      <a:lvl6pPr marL="4063822">
        <a:defRPr>
          <a:latin typeface="+mn-lt"/>
          <a:ea typeface="+mn-ea"/>
          <a:cs typeface="+mn-cs"/>
        </a:defRPr>
      </a:lvl6pPr>
      <a:lvl7pPr marL="4876587">
        <a:defRPr>
          <a:latin typeface="+mn-lt"/>
          <a:ea typeface="+mn-ea"/>
          <a:cs typeface="+mn-cs"/>
        </a:defRPr>
      </a:lvl7pPr>
      <a:lvl8pPr marL="5689351">
        <a:defRPr>
          <a:latin typeface="+mn-lt"/>
          <a:ea typeface="+mn-ea"/>
          <a:cs typeface="+mn-cs"/>
        </a:defRPr>
      </a:lvl8pPr>
      <a:lvl9pPr marL="650211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companyportal:ApplicationId=8dfb865a-eecb-442d-bc9b-f77e30339a8b"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hyperlink" Target="https://www.tidyverse.org/packages/" TargetMode="Externa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36.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2.png"/><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32.png"/><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2.jp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6.png"/><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jpg"/><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59.png"/></Relationships>
</file>

<file path=ppt/slides/_rels/slide38.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60.png"/><Relationship Id="rId5" Type="http://schemas.openxmlformats.org/officeDocument/2006/relationships/image" Target="../media/image63.png"/><Relationship Id="rId4" Type="http://schemas.openxmlformats.org/officeDocument/2006/relationships/image" Target="../media/image62.png"/></Relationships>
</file>

<file path=ppt/slides/_rels/slide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jpg"/><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66.png"/></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g"/><Relationship Id="rId1" Type="http://schemas.openxmlformats.org/officeDocument/2006/relationships/slideLayout" Target="../slideLayouts/slideLayout5.xml"/><Relationship Id="rId5" Type="http://schemas.openxmlformats.org/officeDocument/2006/relationships/image" Target="../media/image60.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71.jpg"/><Relationship Id="rId7" Type="http://schemas.openxmlformats.org/officeDocument/2006/relationships/image" Target="../media/image60.png"/><Relationship Id="rId2" Type="http://schemas.openxmlformats.org/officeDocument/2006/relationships/image" Target="../media/image70.jpg"/><Relationship Id="rId1" Type="http://schemas.openxmlformats.org/officeDocument/2006/relationships/slideLayout" Target="../slideLayouts/slideLayout5.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2.xml.rels><?xml version="1.0" encoding="UTF-8" standalone="yes"?>
<Relationships xmlns="http://schemas.openxmlformats.org/package/2006/relationships"><Relationship Id="rId8" Type="http://schemas.openxmlformats.org/officeDocument/2006/relationships/hyperlink" Target="https://pharmaverse.github.io/intro-to-r-for-sas-programmers-workshop/" TargetMode="External"/><Relationship Id="rId3" Type="http://schemas.openxmlformats.org/officeDocument/2006/relationships/hyperlink" Target="https://www.epirhandbook.com/en/" TargetMode="External"/><Relationship Id="rId7" Type="http://schemas.openxmlformats.org/officeDocument/2006/relationships/hyperlink" Target="https://posit.co/blog/how-to-learn-r-as-a-sas-user/" TargetMode="External"/><Relationship Id="rId2" Type="http://schemas.openxmlformats.org/officeDocument/2006/relationships/hyperlink" Target="https://swirlstats.com/" TargetMode="External"/><Relationship Id="rId1" Type="http://schemas.openxmlformats.org/officeDocument/2006/relationships/slideLayout" Target="../slideLayouts/slideLayout4.xml"/><Relationship Id="rId6" Type="http://schemas.openxmlformats.org/officeDocument/2006/relationships/hyperlink" Target="https://r4ds.hadley.nz/" TargetMode="External"/><Relationship Id="rId5" Type="http://schemas.openxmlformats.org/officeDocument/2006/relationships/hyperlink" Target="https://ucb-epi-r.github.io/" TargetMode="External"/><Relationship Id="rId4" Type="http://schemas.openxmlformats.org/officeDocument/2006/relationships/hyperlink" Target="https://www.r4epi.com/" TargetMode="External"/><Relationship Id="rId9" Type="http://schemas.openxmlformats.org/officeDocument/2006/relationships/hyperlink" Target="https://jhudatascience.org/tidyversecourse/intro.html" TargetMode="External"/></Relationships>
</file>

<file path=ppt/slides/_rels/slide43.xml.rels><?xml version="1.0" encoding="UTF-8" standalone="yes"?>
<Relationships xmlns="http://schemas.openxmlformats.org/package/2006/relationships"><Relationship Id="rId3" Type="http://schemas.openxmlformats.org/officeDocument/2006/relationships/hyperlink" Target="https://s3.amazonaws.com/assets.datacamp.com/blog_assets/Tidyverse%2BCheat%2BSheet.pdf" TargetMode="External"/><Relationship Id="rId2" Type="http://schemas.openxmlformats.org/officeDocument/2006/relationships/image" Target="../media/image75.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32" name="Picture 8" descr="closeup photo of lounger chairs and beach umbrellas">
            <a:extLst>
              <a:ext uri="{FF2B5EF4-FFF2-40B4-BE49-F238E27FC236}">
                <a16:creationId xmlns:a16="http://schemas.microsoft.com/office/drawing/2014/main" id="{66CC91DA-9D0B-FC9B-89A4-46702EB011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7321" b="18130"/>
          <a:stretch/>
        </p:blipFill>
        <p:spPr bwMode="auto">
          <a:xfrm>
            <a:off x="0" y="0"/>
            <a:ext cx="21674138" cy="12192000"/>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p:cNvSpPr txBox="1">
            <a:spLocks noGrp="1"/>
          </p:cNvSpPr>
          <p:nvPr>
            <p:ph type="title"/>
          </p:nvPr>
        </p:nvSpPr>
        <p:spPr>
          <a:xfrm>
            <a:off x="1235869" y="3415316"/>
            <a:ext cx="13461671" cy="2424509"/>
          </a:xfrm>
          <a:prstGeom prst="rect">
            <a:avLst/>
          </a:prstGeom>
        </p:spPr>
        <p:txBody>
          <a:bodyPr vert="horz" wrap="square" lIns="0" tIns="30479" rIns="0" bIns="0" rtlCol="0">
            <a:spAutoFit/>
          </a:bodyPr>
          <a:lstStyle/>
          <a:p>
            <a:pPr marL="22577">
              <a:spcBef>
                <a:spcPts val="240"/>
              </a:spcBef>
            </a:pPr>
            <a:r>
              <a:rPr sz="15555" b="1" dirty="0">
                <a:solidFill>
                  <a:srgbClr val="00BCC8"/>
                </a:solidFill>
                <a:latin typeface="Aptos Black" panose="020B0004020202020204" pitchFamily="34" charset="0"/>
              </a:rPr>
              <a:t>Intro</a:t>
            </a:r>
            <a:r>
              <a:rPr sz="15555" b="1" spc="-116" dirty="0">
                <a:solidFill>
                  <a:srgbClr val="00BCC8"/>
                </a:solidFill>
                <a:latin typeface="Aptos Black" panose="020B0004020202020204" pitchFamily="34" charset="0"/>
              </a:rPr>
              <a:t> </a:t>
            </a:r>
            <a:r>
              <a:rPr sz="15555" b="1" dirty="0">
                <a:solidFill>
                  <a:srgbClr val="00BCC8"/>
                </a:solidFill>
                <a:latin typeface="Aptos Black" panose="020B0004020202020204" pitchFamily="34" charset="0"/>
              </a:rPr>
              <a:t>to</a:t>
            </a:r>
            <a:r>
              <a:rPr sz="15555" b="1" spc="-116" dirty="0">
                <a:solidFill>
                  <a:srgbClr val="00BCC8"/>
                </a:solidFill>
                <a:latin typeface="Aptos Black" panose="020B0004020202020204" pitchFamily="34" charset="0"/>
              </a:rPr>
              <a:t> </a:t>
            </a:r>
            <a:r>
              <a:rPr sz="15555" b="1" spc="-89" dirty="0">
                <a:solidFill>
                  <a:srgbClr val="00BCC8"/>
                </a:solidFill>
                <a:latin typeface="Aptos Black" panose="020B0004020202020204" pitchFamily="34" charset="0"/>
              </a:rPr>
              <a:t>R</a:t>
            </a:r>
            <a:endParaRPr sz="15555" b="1" dirty="0">
              <a:solidFill>
                <a:srgbClr val="00BCC8"/>
              </a:solidFill>
              <a:latin typeface="Aptos Black" panose="020B0004020202020204" pitchFamily="34" charset="0"/>
            </a:endParaRPr>
          </a:p>
        </p:txBody>
      </p:sp>
      <p:sp>
        <p:nvSpPr>
          <p:cNvPr id="7" name="object 2">
            <a:extLst>
              <a:ext uri="{FF2B5EF4-FFF2-40B4-BE49-F238E27FC236}">
                <a16:creationId xmlns:a16="http://schemas.microsoft.com/office/drawing/2014/main" id="{3EBD341F-1DFC-2E70-A207-08B173E64103}"/>
              </a:ext>
            </a:extLst>
          </p:cNvPr>
          <p:cNvSpPr txBox="1">
            <a:spLocks/>
          </p:cNvSpPr>
          <p:nvPr/>
        </p:nvSpPr>
        <p:spPr>
          <a:xfrm>
            <a:off x="1064279" y="457200"/>
            <a:ext cx="13461671" cy="4170371"/>
          </a:xfrm>
          <a:prstGeom prst="rect">
            <a:avLst/>
          </a:prstGeom>
        </p:spPr>
        <p:txBody>
          <a:bodyPr vert="horz" wrap="square" lIns="0" tIns="30479" rIns="0" bIns="0" rtlCol="0">
            <a:spAutoFit/>
          </a:bodyPr>
          <a:lstStyle>
            <a:lvl1pPr>
              <a:defRPr sz="9600" b="0" i="0">
                <a:solidFill>
                  <a:srgbClr val="202020"/>
                </a:solidFill>
                <a:latin typeface="Calibri Light"/>
                <a:ea typeface="+mj-ea"/>
                <a:cs typeface="Calibri Light"/>
              </a:defRPr>
            </a:lvl1pPr>
          </a:lstStyle>
          <a:p>
            <a:pPr marL="22577">
              <a:spcBef>
                <a:spcPts val="240"/>
              </a:spcBef>
            </a:pPr>
            <a:r>
              <a:rPr lang="pt-BR" sz="26900" b="1" dirty="0">
                <a:solidFill>
                  <a:srgbClr val="EB9B0B"/>
                </a:solidFill>
                <a:latin typeface="Aptos Black" panose="020B0004020202020204" pitchFamily="34" charset="0"/>
              </a:rPr>
              <a:t>R</a:t>
            </a:r>
            <a:r>
              <a:rPr lang="pt-BR" sz="26900" b="1" spc="-507" dirty="0">
                <a:solidFill>
                  <a:srgbClr val="EB9B0B"/>
                </a:solidFill>
                <a:latin typeface="Aptos Black" panose="020B0004020202020204" pitchFamily="34" charset="0"/>
              </a:rPr>
              <a:t> </a:t>
            </a:r>
            <a:r>
              <a:rPr lang="pt-BR" sz="26900" b="1" dirty="0">
                <a:solidFill>
                  <a:srgbClr val="EB9B0B"/>
                </a:solidFill>
                <a:latin typeface="Aptos Black" panose="020B0004020202020204" pitchFamily="34" charset="0"/>
              </a:rPr>
              <a:t>101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86066" y="228600"/>
            <a:ext cx="33875049" cy="2678765"/>
          </a:xfrm>
          <a:prstGeom prst="rect">
            <a:avLst/>
          </a:prstGeom>
        </p:spPr>
        <p:txBody>
          <a:bodyPr vert="horz" wrap="square" lIns="0" tIns="1189854" rIns="0" bIns="0" rtlCol="0">
            <a:spAutoFit/>
          </a:bodyPr>
          <a:lstStyle/>
          <a:p>
            <a:pPr marL="22577">
              <a:spcBef>
                <a:spcPts val="187"/>
              </a:spcBef>
            </a:pPr>
            <a:r>
              <a:rPr spc="-267" dirty="0">
                <a:solidFill>
                  <a:srgbClr val="00BCC8"/>
                </a:solidFill>
                <a:latin typeface="Aptos Black" panose="020B0004020202020204" pitchFamily="34" charset="0"/>
              </a:rPr>
              <a:t>OVERVIEW</a:t>
            </a:r>
          </a:p>
        </p:txBody>
      </p:sp>
      <p:sp>
        <p:nvSpPr>
          <p:cNvPr id="3" name="object 3"/>
          <p:cNvSpPr txBox="1"/>
          <p:nvPr/>
        </p:nvSpPr>
        <p:spPr>
          <a:xfrm>
            <a:off x="1312069" y="3433976"/>
            <a:ext cx="13258800" cy="2687672"/>
          </a:xfrm>
          <a:prstGeom prst="rect">
            <a:avLst/>
          </a:prstGeom>
        </p:spPr>
        <p:txBody>
          <a:bodyPr vert="horz" wrap="square" lIns="0" tIns="29350" rIns="0" bIns="0" rtlCol="0">
            <a:spAutoFit/>
          </a:bodyPr>
          <a:lstStyle/>
          <a:p>
            <a:pPr marL="632150" indent="-610702">
              <a:lnSpc>
                <a:spcPts val="6817"/>
              </a:lnSpc>
              <a:spcBef>
                <a:spcPts val="231"/>
              </a:spcBef>
              <a:buFont typeface="Wingdings"/>
              <a:buChar char=""/>
              <a:tabLst>
                <a:tab pos="633279" algn="l"/>
              </a:tabLst>
            </a:pPr>
            <a:r>
              <a:rPr sz="5689" dirty="0">
                <a:latin typeface="Calibri Light"/>
                <a:cs typeface="Calibri Light"/>
              </a:rPr>
              <a:t>R</a:t>
            </a:r>
            <a:r>
              <a:rPr sz="5689" spc="-80" dirty="0">
                <a:latin typeface="Calibri Light"/>
                <a:cs typeface="Calibri Light"/>
              </a:rPr>
              <a:t> </a:t>
            </a:r>
            <a:r>
              <a:rPr sz="5689" spc="-18" dirty="0">
                <a:latin typeface="Calibri Light"/>
                <a:cs typeface="Calibri Light"/>
              </a:rPr>
              <a:t>basics</a:t>
            </a:r>
            <a:endParaRPr lang="en-CA" sz="5689" spc="-18" dirty="0">
              <a:latin typeface="Calibri Light"/>
              <a:cs typeface="Calibri Light"/>
            </a:endParaRPr>
          </a:p>
          <a:p>
            <a:pPr marL="632150" indent="-610702">
              <a:lnSpc>
                <a:spcPts val="6817"/>
              </a:lnSpc>
              <a:spcBef>
                <a:spcPts val="231"/>
              </a:spcBef>
              <a:buFont typeface="Wingdings"/>
              <a:buChar char=""/>
              <a:tabLst>
                <a:tab pos="633279" algn="l"/>
              </a:tabLst>
            </a:pPr>
            <a:r>
              <a:rPr sz="5689" dirty="0">
                <a:latin typeface="Calibri Light"/>
                <a:cs typeface="Calibri Light"/>
              </a:rPr>
              <a:t>Data</a:t>
            </a:r>
            <a:r>
              <a:rPr sz="5689" spc="-249" dirty="0">
                <a:latin typeface="Calibri Light"/>
                <a:cs typeface="Calibri Light"/>
              </a:rPr>
              <a:t> </a:t>
            </a:r>
            <a:r>
              <a:rPr sz="5689" dirty="0">
                <a:latin typeface="Calibri Light"/>
                <a:cs typeface="Calibri Light"/>
              </a:rPr>
              <a:t>cleaning</a:t>
            </a:r>
            <a:r>
              <a:rPr sz="5689" spc="-116" dirty="0">
                <a:latin typeface="Calibri Light"/>
                <a:cs typeface="Calibri Light"/>
              </a:rPr>
              <a:t> </a:t>
            </a:r>
            <a:r>
              <a:rPr sz="5689" dirty="0">
                <a:latin typeface="Calibri Light"/>
                <a:cs typeface="Calibri Light"/>
              </a:rPr>
              <a:t>using</a:t>
            </a:r>
            <a:r>
              <a:rPr sz="5689" spc="-169" dirty="0">
                <a:latin typeface="Calibri Light"/>
                <a:cs typeface="Calibri Light"/>
              </a:rPr>
              <a:t> </a:t>
            </a:r>
            <a:r>
              <a:rPr sz="5689" spc="-18" dirty="0">
                <a:latin typeface="Calibri Light"/>
                <a:cs typeface="Calibri Light"/>
              </a:rPr>
              <a:t>tidyverse</a:t>
            </a:r>
            <a:endParaRPr sz="5689" dirty="0">
              <a:latin typeface="Calibri Light"/>
              <a:cs typeface="Calibri Light"/>
            </a:endParaRPr>
          </a:p>
          <a:p>
            <a:pPr marL="632150" indent="-610702">
              <a:spcBef>
                <a:spcPts val="116"/>
              </a:spcBef>
              <a:buFont typeface="Wingdings"/>
              <a:buChar char=""/>
              <a:tabLst>
                <a:tab pos="633279" algn="l"/>
              </a:tabLst>
            </a:pPr>
            <a:r>
              <a:rPr lang="en-CA" sz="5689" dirty="0">
                <a:latin typeface="Calibri Light"/>
                <a:cs typeface="Calibri Light"/>
              </a:rPr>
              <a:t>Resources</a:t>
            </a:r>
            <a:endParaRPr sz="5689" dirty="0">
              <a:latin typeface="Calibri Light"/>
              <a:cs typeface="Calibri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5684" y="1699135"/>
            <a:ext cx="7393985" cy="1501265"/>
          </a:xfrm>
          <a:prstGeom prst="rect">
            <a:avLst/>
          </a:prstGeom>
        </p:spPr>
        <p:txBody>
          <a:bodyPr vert="horz" wrap="square" lIns="0" tIns="23706" rIns="0" bIns="0" rtlCol="0">
            <a:spAutoFit/>
          </a:bodyPr>
          <a:lstStyle/>
          <a:p>
            <a:pPr marL="22577">
              <a:spcBef>
                <a:spcPts val="187"/>
              </a:spcBef>
            </a:pPr>
            <a:r>
              <a:rPr spc="-329" dirty="0">
                <a:solidFill>
                  <a:srgbClr val="00BCC8"/>
                </a:solidFill>
                <a:latin typeface="Aptos Black" panose="020B0004020202020204" pitchFamily="34" charset="0"/>
              </a:rPr>
              <a:t>W</a:t>
            </a:r>
            <a:r>
              <a:rPr spc="-213" dirty="0">
                <a:solidFill>
                  <a:srgbClr val="00BCC8"/>
                </a:solidFill>
                <a:latin typeface="Aptos Black" panose="020B0004020202020204" pitchFamily="34" charset="0"/>
              </a:rPr>
              <a:t>H</a:t>
            </a:r>
            <a:r>
              <a:rPr spc="-1022" dirty="0">
                <a:solidFill>
                  <a:srgbClr val="00BCC8"/>
                </a:solidFill>
                <a:latin typeface="Aptos Black" panose="020B0004020202020204" pitchFamily="34" charset="0"/>
              </a:rPr>
              <a:t>A</a:t>
            </a:r>
            <a:r>
              <a:rPr dirty="0">
                <a:solidFill>
                  <a:srgbClr val="00BCC8"/>
                </a:solidFill>
                <a:latin typeface="Aptos Black" panose="020B0004020202020204" pitchFamily="34" charset="0"/>
              </a:rPr>
              <a:t>T</a:t>
            </a:r>
            <a:r>
              <a:rPr spc="-284" dirty="0">
                <a:solidFill>
                  <a:srgbClr val="00BCC8"/>
                </a:solidFill>
                <a:latin typeface="Aptos Black" panose="020B0004020202020204" pitchFamily="34" charset="0"/>
              </a:rPr>
              <a:t> </a:t>
            </a:r>
            <a:r>
              <a:rPr spc="-62" dirty="0">
                <a:solidFill>
                  <a:srgbClr val="00BCC8"/>
                </a:solidFill>
                <a:latin typeface="Aptos Black" panose="020B0004020202020204" pitchFamily="34" charset="0"/>
              </a:rPr>
              <a:t>IS</a:t>
            </a:r>
            <a:r>
              <a:rPr spc="-480" dirty="0">
                <a:solidFill>
                  <a:srgbClr val="00BCC8"/>
                </a:solidFill>
                <a:latin typeface="Aptos Black" panose="020B0004020202020204" pitchFamily="34" charset="0"/>
              </a:rPr>
              <a:t> </a:t>
            </a:r>
            <a:r>
              <a:rPr spc="-80" dirty="0">
                <a:solidFill>
                  <a:srgbClr val="00BCC8"/>
                </a:solidFill>
                <a:latin typeface="Aptos Black" panose="020B0004020202020204" pitchFamily="34" charset="0"/>
              </a:rPr>
              <a:t>R?</a:t>
            </a:r>
          </a:p>
        </p:txBody>
      </p:sp>
      <p:pic>
        <p:nvPicPr>
          <p:cNvPr id="3" name="object 3"/>
          <p:cNvPicPr/>
          <p:nvPr/>
        </p:nvPicPr>
        <p:blipFill>
          <a:blip r:embed="rId2" cstate="print"/>
          <a:stretch>
            <a:fillRect/>
          </a:stretch>
        </p:blipFill>
        <p:spPr>
          <a:xfrm>
            <a:off x="2074069" y="3932678"/>
            <a:ext cx="366336" cy="391338"/>
          </a:xfrm>
          <a:prstGeom prst="rect">
            <a:avLst/>
          </a:prstGeom>
        </p:spPr>
      </p:pic>
      <p:sp>
        <p:nvSpPr>
          <p:cNvPr id="4" name="object 4"/>
          <p:cNvSpPr txBox="1">
            <a:spLocks noGrp="1"/>
          </p:cNvSpPr>
          <p:nvPr>
            <p:ph type="body" idx="1"/>
          </p:nvPr>
        </p:nvSpPr>
        <p:spPr>
          <a:xfrm>
            <a:off x="2897605" y="3657600"/>
            <a:ext cx="24378527" cy="5982100"/>
          </a:xfrm>
          <a:prstGeom prst="rect">
            <a:avLst/>
          </a:prstGeom>
        </p:spPr>
        <p:txBody>
          <a:bodyPr vert="horz" wrap="square" lIns="0" tIns="29350" rIns="0" bIns="0" rtlCol="0">
            <a:spAutoFit/>
          </a:bodyPr>
          <a:lstStyle/>
          <a:p>
            <a:pPr marL="22577">
              <a:spcBef>
                <a:spcPts val="231"/>
              </a:spcBef>
            </a:pPr>
            <a:r>
              <a:rPr dirty="0"/>
              <a:t>a</a:t>
            </a:r>
            <a:r>
              <a:rPr spc="36" dirty="0"/>
              <a:t> </a:t>
            </a:r>
            <a:r>
              <a:rPr spc="-18" dirty="0"/>
              <a:t>calculator</a:t>
            </a:r>
          </a:p>
          <a:p>
            <a:pPr marL="22577" marR="8277780">
              <a:lnSpc>
                <a:spcPct val="104700"/>
              </a:lnSpc>
            </a:pPr>
            <a:r>
              <a:rPr dirty="0"/>
              <a:t>a</a:t>
            </a:r>
            <a:r>
              <a:rPr spc="-62" dirty="0"/>
              <a:t> </a:t>
            </a:r>
            <a:r>
              <a:rPr dirty="0"/>
              <a:t>suite</a:t>
            </a:r>
            <a:r>
              <a:rPr spc="107" dirty="0"/>
              <a:t> </a:t>
            </a:r>
            <a:r>
              <a:rPr dirty="0"/>
              <a:t>of</a:t>
            </a:r>
            <a:r>
              <a:rPr spc="18" dirty="0"/>
              <a:t> </a:t>
            </a:r>
            <a:r>
              <a:rPr dirty="0"/>
              <a:t>statistical</a:t>
            </a:r>
            <a:r>
              <a:rPr spc="249" dirty="0"/>
              <a:t> </a:t>
            </a:r>
            <a:r>
              <a:rPr spc="-18" dirty="0"/>
              <a:t>tools </a:t>
            </a:r>
            <a:endParaRPr lang="en-CA" spc="-18" dirty="0"/>
          </a:p>
          <a:p>
            <a:pPr marL="22577" marR="8277780">
              <a:lnSpc>
                <a:spcPct val="104700"/>
              </a:lnSpc>
            </a:pPr>
            <a:r>
              <a:rPr dirty="0"/>
              <a:t>a</a:t>
            </a:r>
            <a:r>
              <a:rPr spc="-27" dirty="0"/>
              <a:t> </a:t>
            </a:r>
            <a:r>
              <a:rPr dirty="0"/>
              <a:t>graphics</a:t>
            </a:r>
            <a:r>
              <a:rPr spc="258" dirty="0"/>
              <a:t> </a:t>
            </a:r>
            <a:r>
              <a:rPr spc="-18" dirty="0"/>
              <a:t>creator</a:t>
            </a:r>
          </a:p>
          <a:p>
            <a:pPr marL="22577" marR="8229240">
              <a:lnSpc>
                <a:spcPct val="104700"/>
              </a:lnSpc>
            </a:pPr>
            <a:r>
              <a:rPr dirty="0"/>
              <a:t>a</a:t>
            </a:r>
            <a:r>
              <a:rPr spc="-98" dirty="0"/>
              <a:t> </a:t>
            </a:r>
            <a:r>
              <a:rPr dirty="0"/>
              <a:t>programming</a:t>
            </a:r>
            <a:r>
              <a:rPr spc="427" dirty="0"/>
              <a:t> </a:t>
            </a:r>
            <a:r>
              <a:rPr spc="-18" dirty="0"/>
              <a:t>language </a:t>
            </a:r>
            <a:endParaRPr lang="en-CA" spc="-18" dirty="0"/>
          </a:p>
          <a:p>
            <a:pPr marL="22577" marR="8229240">
              <a:lnSpc>
                <a:spcPct val="104700"/>
              </a:lnSpc>
            </a:pPr>
            <a:r>
              <a:rPr dirty="0"/>
              <a:t>a</a:t>
            </a:r>
            <a:r>
              <a:rPr spc="-36" dirty="0"/>
              <a:t> </a:t>
            </a:r>
            <a:r>
              <a:rPr dirty="0"/>
              <a:t>simulation</a:t>
            </a:r>
            <a:r>
              <a:rPr spc="400" dirty="0"/>
              <a:t> </a:t>
            </a:r>
            <a:r>
              <a:rPr spc="-44" dirty="0"/>
              <a:t>lab</a:t>
            </a:r>
            <a:endParaRPr lang="en-CA" spc="-44" dirty="0"/>
          </a:p>
          <a:p>
            <a:pPr marL="22577" marR="8229240">
              <a:lnSpc>
                <a:spcPct val="104700"/>
              </a:lnSpc>
            </a:pPr>
            <a:endParaRPr lang="en-CA" sz="4266" i="1" spc="-44" dirty="0"/>
          </a:p>
          <a:p>
            <a:pPr marL="22577" marR="8229240">
              <a:lnSpc>
                <a:spcPct val="104700"/>
              </a:lnSpc>
            </a:pPr>
            <a:endParaRPr lang="en-CA" sz="4266" i="1" spc="-44" dirty="0"/>
          </a:p>
          <a:p>
            <a:pPr marL="22577" marR="8229240">
              <a:lnSpc>
                <a:spcPct val="104700"/>
              </a:lnSpc>
            </a:pPr>
            <a:r>
              <a:rPr lang="en-CA" sz="4266" i="1" spc="-44" dirty="0"/>
              <a:t>		</a:t>
            </a:r>
            <a:r>
              <a:rPr sz="4266" i="1" dirty="0"/>
              <a:t>##</a:t>
            </a:r>
            <a:r>
              <a:rPr sz="4266" i="1" spc="-107" dirty="0"/>
              <a:t> </a:t>
            </a:r>
            <a:r>
              <a:rPr sz="4266" i="1" dirty="0"/>
              <a:t>It</a:t>
            </a:r>
            <a:r>
              <a:rPr sz="4266" i="1" spc="-44" dirty="0"/>
              <a:t> </a:t>
            </a:r>
            <a:r>
              <a:rPr sz="4266" i="1" dirty="0"/>
              <a:t>is</a:t>
            </a:r>
            <a:r>
              <a:rPr sz="4266" i="1" spc="-160" dirty="0"/>
              <a:t> </a:t>
            </a:r>
            <a:r>
              <a:rPr sz="4266" i="1" dirty="0"/>
              <a:t>uniquely</a:t>
            </a:r>
            <a:r>
              <a:rPr sz="4266" i="1" spc="27" dirty="0"/>
              <a:t> </a:t>
            </a:r>
            <a:r>
              <a:rPr sz="4266" i="1" dirty="0"/>
              <a:t>suited</a:t>
            </a:r>
            <a:r>
              <a:rPr sz="4266" i="1" spc="-124" dirty="0"/>
              <a:t> </a:t>
            </a:r>
            <a:r>
              <a:rPr sz="4266" i="1" dirty="0"/>
              <a:t>to</a:t>
            </a:r>
            <a:r>
              <a:rPr sz="4266" i="1" spc="-240" dirty="0"/>
              <a:t> </a:t>
            </a:r>
            <a:r>
              <a:rPr sz="4266" i="1" dirty="0"/>
              <a:t>epidemiological</a:t>
            </a:r>
            <a:r>
              <a:rPr sz="4266" i="1" spc="133" dirty="0"/>
              <a:t> </a:t>
            </a:r>
            <a:r>
              <a:rPr sz="4266" i="1" dirty="0"/>
              <a:t>analysis</a:t>
            </a:r>
            <a:r>
              <a:rPr sz="4266" i="1" spc="-36" dirty="0"/>
              <a:t> </a:t>
            </a:r>
            <a:r>
              <a:rPr sz="4266" i="1" spc="-44" dirty="0"/>
              <a:t>##</a:t>
            </a:r>
            <a:endParaRPr sz="4266" dirty="0"/>
          </a:p>
        </p:txBody>
      </p:sp>
      <p:pic>
        <p:nvPicPr>
          <p:cNvPr id="5" name="object 5"/>
          <p:cNvPicPr/>
          <p:nvPr/>
        </p:nvPicPr>
        <p:blipFill>
          <a:blip r:embed="rId2" cstate="print"/>
          <a:stretch>
            <a:fillRect/>
          </a:stretch>
        </p:blipFill>
        <p:spPr>
          <a:xfrm>
            <a:off x="2074069" y="4711592"/>
            <a:ext cx="366336" cy="391338"/>
          </a:xfrm>
          <a:prstGeom prst="rect">
            <a:avLst/>
          </a:prstGeom>
        </p:spPr>
      </p:pic>
      <p:pic>
        <p:nvPicPr>
          <p:cNvPr id="6" name="object 6"/>
          <p:cNvPicPr/>
          <p:nvPr/>
        </p:nvPicPr>
        <p:blipFill>
          <a:blip r:embed="rId2" cstate="print"/>
          <a:stretch>
            <a:fillRect/>
          </a:stretch>
        </p:blipFill>
        <p:spPr>
          <a:xfrm>
            <a:off x="2074069" y="5490506"/>
            <a:ext cx="366336" cy="391338"/>
          </a:xfrm>
          <a:prstGeom prst="rect">
            <a:avLst/>
          </a:prstGeom>
        </p:spPr>
      </p:pic>
      <p:pic>
        <p:nvPicPr>
          <p:cNvPr id="7" name="object 7"/>
          <p:cNvPicPr/>
          <p:nvPr/>
        </p:nvPicPr>
        <p:blipFill>
          <a:blip r:embed="rId2" cstate="print"/>
          <a:stretch>
            <a:fillRect/>
          </a:stretch>
        </p:blipFill>
        <p:spPr>
          <a:xfrm>
            <a:off x="2074069" y="6269421"/>
            <a:ext cx="366336" cy="391338"/>
          </a:xfrm>
          <a:prstGeom prst="rect">
            <a:avLst/>
          </a:prstGeom>
        </p:spPr>
      </p:pic>
      <p:pic>
        <p:nvPicPr>
          <p:cNvPr id="8" name="object 8"/>
          <p:cNvPicPr/>
          <p:nvPr/>
        </p:nvPicPr>
        <p:blipFill>
          <a:blip r:embed="rId2" cstate="print"/>
          <a:stretch>
            <a:fillRect/>
          </a:stretch>
        </p:blipFill>
        <p:spPr>
          <a:xfrm>
            <a:off x="2074069" y="7048335"/>
            <a:ext cx="366336" cy="39133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9484" y="1658284"/>
            <a:ext cx="9298985" cy="1501265"/>
          </a:xfrm>
          <a:prstGeom prst="rect">
            <a:avLst/>
          </a:prstGeom>
        </p:spPr>
        <p:txBody>
          <a:bodyPr vert="horz" wrap="square" lIns="0" tIns="23706" rIns="0" bIns="0" rtlCol="0">
            <a:spAutoFit/>
          </a:bodyPr>
          <a:lstStyle/>
          <a:p>
            <a:pPr marL="22577">
              <a:spcBef>
                <a:spcPts val="187"/>
              </a:spcBef>
            </a:pPr>
            <a:r>
              <a:rPr spc="-329" dirty="0">
                <a:solidFill>
                  <a:srgbClr val="00BCC8"/>
                </a:solidFill>
                <a:latin typeface="Aptos Black" panose="020B0004020202020204" pitchFamily="34" charset="0"/>
              </a:rPr>
              <a:t>W</a:t>
            </a:r>
            <a:r>
              <a:rPr spc="-213" dirty="0">
                <a:solidFill>
                  <a:srgbClr val="00BCC8"/>
                </a:solidFill>
                <a:latin typeface="Aptos Black" panose="020B0004020202020204" pitchFamily="34" charset="0"/>
              </a:rPr>
              <a:t>H</a:t>
            </a:r>
            <a:r>
              <a:rPr spc="-1022" dirty="0">
                <a:solidFill>
                  <a:srgbClr val="00BCC8"/>
                </a:solidFill>
                <a:latin typeface="Aptos Black" panose="020B0004020202020204" pitchFamily="34" charset="0"/>
              </a:rPr>
              <a:t>A</a:t>
            </a:r>
            <a:r>
              <a:rPr dirty="0">
                <a:solidFill>
                  <a:srgbClr val="00BCC8"/>
                </a:solidFill>
                <a:latin typeface="Aptos Black" panose="020B0004020202020204" pitchFamily="34" charset="0"/>
              </a:rPr>
              <a:t>T</a:t>
            </a:r>
            <a:r>
              <a:rPr spc="-284" dirty="0">
                <a:solidFill>
                  <a:srgbClr val="00BCC8"/>
                </a:solidFill>
                <a:latin typeface="Aptos Black" panose="020B0004020202020204" pitchFamily="34" charset="0"/>
              </a:rPr>
              <a:t> </a:t>
            </a:r>
            <a:r>
              <a:rPr dirty="0">
                <a:solidFill>
                  <a:srgbClr val="00BCC8"/>
                </a:solidFill>
                <a:latin typeface="Aptos Black" panose="020B0004020202020204" pitchFamily="34" charset="0"/>
              </a:rPr>
              <a:t>R</a:t>
            </a:r>
            <a:r>
              <a:rPr spc="-347" dirty="0">
                <a:solidFill>
                  <a:srgbClr val="00BCC8"/>
                </a:solidFill>
                <a:latin typeface="Aptos Black" panose="020B0004020202020204" pitchFamily="34" charset="0"/>
              </a:rPr>
              <a:t> </a:t>
            </a:r>
            <a:r>
              <a:rPr spc="-107" dirty="0">
                <a:solidFill>
                  <a:srgbClr val="00BCC8"/>
                </a:solidFill>
                <a:latin typeface="Aptos Black" panose="020B0004020202020204" pitchFamily="34" charset="0"/>
              </a:rPr>
              <a:t>IS</a:t>
            </a:r>
            <a:r>
              <a:rPr spc="-524" dirty="0">
                <a:solidFill>
                  <a:srgbClr val="00BCC8"/>
                </a:solidFill>
                <a:latin typeface="Aptos Black" panose="020B0004020202020204" pitchFamily="34" charset="0"/>
              </a:rPr>
              <a:t> </a:t>
            </a:r>
            <a:r>
              <a:rPr spc="-222" dirty="0">
                <a:solidFill>
                  <a:srgbClr val="00BCC8"/>
                </a:solidFill>
                <a:latin typeface="Aptos Black" panose="020B0004020202020204" pitchFamily="34" charset="0"/>
              </a:rPr>
              <a:t>NOT</a:t>
            </a:r>
          </a:p>
        </p:txBody>
      </p:sp>
      <p:pic>
        <p:nvPicPr>
          <p:cNvPr id="3" name="object 3"/>
          <p:cNvPicPr/>
          <p:nvPr/>
        </p:nvPicPr>
        <p:blipFill>
          <a:blip r:embed="rId2" cstate="print"/>
          <a:stretch>
            <a:fillRect/>
          </a:stretch>
        </p:blipFill>
        <p:spPr>
          <a:xfrm>
            <a:off x="2107948" y="3957211"/>
            <a:ext cx="423321" cy="440256"/>
          </a:xfrm>
          <a:prstGeom prst="rect">
            <a:avLst/>
          </a:prstGeom>
        </p:spPr>
      </p:pic>
      <p:sp>
        <p:nvSpPr>
          <p:cNvPr id="4" name="object 4"/>
          <p:cNvSpPr txBox="1">
            <a:spLocks noGrp="1"/>
          </p:cNvSpPr>
          <p:nvPr>
            <p:ph type="body" idx="1"/>
          </p:nvPr>
        </p:nvSpPr>
        <p:spPr>
          <a:xfrm>
            <a:off x="2988469" y="3735953"/>
            <a:ext cx="25811663" cy="3045847"/>
          </a:xfrm>
          <a:prstGeom prst="rect">
            <a:avLst/>
          </a:prstGeom>
        </p:spPr>
        <p:txBody>
          <a:bodyPr vert="horz" wrap="square" lIns="0" tIns="29350" rIns="0" bIns="0" rtlCol="0">
            <a:spAutoFit/>
          </a:bodyPr>
          <a:lstStyle/>
          <a:p>
            <a:pPr marL="22577">
              <a:spcBef>
                <a:spcPts val="231"/>
              </a:spcBef>
            </a:pPr>
            <a:r>
              <a:rPr dirty="0"/>
              <a:t>easy</a:t>
            </a:r>
            <a:r>
              <a:rPr spc="203" dirty="0"/>
              <a:t> </a:t>
            </a:r>
            <a:r>
              <a:rPr dirty="0"/>
              <a:t>and</a:t>
            </a:r>
            <a:r>
              <a:rPr spc="-44" dirty="0"/>
              <a:t> </a:t>
            </a:r>
            <a:r>
              <a:rPr dirty="0"/>
              <a:t>intuitive</a:t>
            </a:r>
            <a:r>
              <a:rPr spc="203" dirty="0"/>
              <a:t> </a:t>
            </a:r>
            <a:r>
              <a:rPr spc="-18" dirty="0"/>
              <a:t>(initially)</a:t>
            </a:r>
          </a:p>
          <a:p>
            <a:pPr marL="22577">
              <a:spcBef>
                <a:spcPts val="276"/>
              </a:spcBef>
            </a:pPr>
            <a:r>
              <a:rPr dirty="0"/>
              <a:t>a</a:t>
            </a:r>
            <a:r>
              <a:rPr spc="9" dirty="0"/>
              <a:t> </a:t>
            </a:r>
            <a:r>
              <a:rPr dirty="0"/>
              <a:t>Graphical</a:t>
            </a:r>
            <a:r>
              <a:rPr spc="302" dirty="0"/>
              <a:t> </a:t>
            </a:r>
            <a:r>
              <a:rPr dirty="0"/>
              <a:t>User</a:t>
            </a:r>
            <a:r>
              <a:rPr spc="89" dirty="0"/>
              <a:t> </a:t>
            </a:r>
            <a:r>
              <a:rPr dirty="0"/>
              <a:t>Interface</a:t>
            </a:r>
            <a:r>
              <a:rPr spc="160" dirty="0"/>
              <a:t> </a:t>
            </a:r>
            <a:r>
              <a:rPr dirty="0"/>
              <a:t>(GUI)</a:t>
            </a:r>
            <a:r>
              <a:rPr spc="44" dirty="0"/>
              <a:t> </a:t>
            </a:r>
            <a:r>
              <a:rPr spc="-18" dirty="0"/>
              <a:t>experience</a:t>
            </a:r>
          </a:p>
          <a:p>
            <a:pPr marL="1038532">
              <a:spcBef>
                <a:spcPts val="363"/>
              </a:spcBef>
            </a:pPr>
            <a:r>
              <a:rPr sz="4266" i="1" spc="-71" dirty="0"/>
              <a:t>You</a:t>
            </a:r>
            <a:r>
              <a:rPr sz="4266" i="1" spc="-107" dirty="0"/>
              <a:t> </a:t>
            </a:r>
            <a:r>
              <a:rPr sz="4266" i="1" dirty="0"/>
              <a:t>will</a:t>
            </a:r>
            <a:r>
              <a:rPr sz="4266" i="1" spc="27" dirty="0"/>
              <a:t> </a:t>
            </a:r>
            <a:r>
              <a:rPr sz="4266" i="1" dirty="0"/>
              <a:t>require</a:t>
            </a:r>
            <a:r>
              <a:rPr sz="4266" i="1" spc="-80" dirty="0"/>
              <a:t> </a:t>
            </a:r>
            <a:r>
              <a:rPr sz="4266" i="1" dirty="0"/>
              <a:t>RStudio</a:t>
            </a:r>
            <a:r>
              <a:rPr sz="4266" i="1" spc="-98" dirty="0"/>
              <a:t> </a:t>
            </a:r>
            <a:r>
              <a:rPr sz="4266" i="1" dirty="0"/>
              <a:t>for</a:t>
            </a:r>
            <a:r>
              <a:rPr sz="4266" i="1" spc="-187" dirty="0"/>
              <a:t> </a:t>
            </a:r>
            <a:r>
              <a:rPr sz="4266" i="1" spc="-36" dirty="0"/>
              <a:t>this</a:t>
            </a:r>
            <a:endParaRPr sz="4266" dirty="0"/>
          </a:p>
          <a:p>
            <a:pPr marL="22577">
              <a:spcBef>
                <a:spcPts val="133"/>
              </a:spcBef>
            </a:pPr>
            <a:r>
              <a:rPr dirty="0"/>
              <a:t>a</a:t>
            </a:r>
            <a:r>
              <a:rPr spc="-116" dirty="0"/>
              <a:t> </a:t>
            </a:r>
            <a:r>
              <a:rPr dirty="0"/>
              <a:t>database</a:t>
            </a:r>
            <a:r>
              <a:rPr spc="284" dirty="0"/>
              <a:t> </a:t>
            </a:r>
            <a:r>
              <a:rPr dirty="0"/>
              <a:t>management</a:t>
            </a:r>
            <a:r>
              <a:rPr spc="293" dirty="0"/>
              <a:t> </a:t>
            </a:r>
            <a:r>
              <a:rPr dirty="0"/>
              <a:t>system</a:t>
            </a:r>
            <a:r>
              <a:rPr spc="169" dirty="0"/>
              <a:t> </a:t>
            </a:r>
            <a:r>
              <a:rPr spc="-18" dirty="0"/>
              <a:t>(DBMS)</a:t>
            </a:r>
          </a:p>
        </p:txBody>
      </p:sp>
      <p:pic>
        <p:nvPicPr>
          <p:cNvPr id="5" name="object 5"/>
          <p:cNvPicPr/>
          <p:nvPr/>
        </p:nvPicPr>
        <p:blipFill>
          <a:blip r:embed="rId2" cstate="print"/>
          <a:stretch>
            <a:fillRect/>
          </a:stretch>
        </p:blipFill>
        <p:spPr>
          <a:xfrm>
            <a:off x="2107948" y="4736125"/>
            <a:ext cx="423321" cy="440256"/>
          </a:xfrm>
          <a:prstGeom prst="rect">
            <a:avLst/>
          </a:prstGeom>
        </p:spPr>
      </p:pic>
      <p:pic>
        <p:nvPicPr>
          <p:cNvPr id="6" name="object 6"/>
          <p:cNvPicPr/>
          <p:nvPr/>
        </p:nvPicPr>
        <p:blipFill>
          <a:blip r:embed="rId2" cstate="print"/>
          <a:stretch>
            <a:fillRect/>
          </a:stretch>
        </p:blipFill>
        <p:spPr>
          <a:xfrm>
            <a:off x="2107948" y="6192356"/>
            <a:ext cx="423321" cy="4402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159669" y="6324600"/>
            <a:ext cx="12192000" cy="2652449"/>
          </a:xfrm>
          <a:prstGeom prst="rect">
            <a:avLst/>
          </a:prstGeom>
        </p:spPr>
        <p:txBody>
          <a:bodyPr vert="horz" wrap="square" lIns="0" tIns="25964" rIns="0" bIns="0" rtlCol="0">
            <a:spAutoFit/>
          </a:bodyPr>
          <a:lstStyle/>
          <a:p>
            <a:pPr marL="22577">
              <a:spcBef>
                <a:spcPts val="204"/>
              </a:spcBef>
            </a:pPr>
            <a:r>
              <a:rPr sz="17066" dirty="0">
                <a:solidFill>
                  <a:srgbClr val="00BCC8"/>
                </a:solidFill>
                <a:latin typeface="Aptos Black" panose="020B0004020202020204" pitchFamily="34" charset="0"/>
              </a:rPr>
              <a:t>R</a:t>
            </a:r>
            <a:r>
              <a:rPr sz="17066" spc="-427" dirty="0">
                <a:solidFill>
                  <a:srgbClr val="00BCC8"/>
                </a:solidFill>
                <a:latin typeface="Aptos Black" panose="020B0004020202020204" pitchFamily="34" charset="0"/>
              </a:rPr>
              <a:t> </a:t>
            </a:r>
            <a:r>
              <a:rPr sz="17066" spc="-203" dirty="0">
                <a:solidFill>
                  <a:srgbClr val="00BCC8"/>
                </a:solidFill>
                <a:latin typeface="Aptos Black" panose="020B0004020202020204" pitchFamily="34" charset="0"/>
              </a:rPr>
              <a:t>Basics</a:t>
            </a:r>
            <a:endParaRPr sz="17066" dirty="0">
              <a:solidFill>
                <a:srgbClr val="00BCC8"/>
              </a:solidFill>
              <a:latin typeface="Aptos Black" panose="020B0004020202020204" pitchFamily="34" charset="0"/>
            </a:endParaRPr>
          </a:p>
        </p:txBody>
      </p:sp>
      <p:sp>
        <p:nvSpPr>
          <p:cNvPr id="4" name="object 4"/>
          <p:cNvSpPr/>
          <p:nvPr/>
        </p:nvSpPr>
        <p:spPr>
          <a:xfrm>
            <a:off x="0" y="9279538"/>
            <a:ext cx="21674138" cy="2912462"/>
          </a:xfrm>
          <a:custGeom>
            <a:avLst/>
            <a:gdLst/>
            <a:ahLst/>
            <a:cxnLst/>
            <a:rect l="l" t="t" r="r" b="b"/>
            <a:pathLst>
              <a:path w="12192000" h="1638300">
                <a:moveTo>
                  <a:pt x="12192000" y="0"/>
                </a:moveTo>
                <a:lnTo>
                  <a:pt x="0" y="0"/>
                </a:lnTo>
                <a:lnTo>
                  <a:pt x="0" y="1638300"/>
                </a:lnTo>
                <a:lnTo>
                  <a:pt x="12192000" y="1638300"/>
                </a:lnTo>
                <a:lnTo>
                  <a:pt x="12192000" y="0"/>
                </a:lnTo>
                <a:close/>
              </a:path>
            </a:pathLst>
          </a:custGeom>
          <a:solidFill>
            <a:srgbClr val="00BCC8"/>
          </a:solidFill>
        </p:spPr>
        <p:txBody>
          <a:bodyPr wrap="square" lIns="0" tIns="0" rIns="0" bIns="0" rtlCol="0"/>
          <a:lstStyle/>
          <a:p>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3F562-9118-C634-BF3F-A828BDB561E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3C6F549-8363-E946-753F-28D18EA3C197}"/>
              </a:ext>
            </a:extLst>
          </p:cNvPr>
          <p:cNvSpPr txBox="1">
            <a:spLocks noGrp="1"/>
          </p:cNvSpPr>
          <p:nvPr>
            <p:ph type="title"/>
          </p:nvPr>
        </p:nvSpPr>
        <p:spPr>
          <a:xfrm>
            <a:off x="1286066" y="228600"/>
            <a:ext cx="33875049" cy="2678765"/>
          </a:xfrm>
          <a:prstGeom prst="rect">
            <a:avLst/>
          </a:prstGeom>
        </p:spPr>
        <p:txBody>
          <a:bodyPr vert="horz" wrap="square" lIns="0" tIns="1189854" rIns="0" bIns="0" rtlCol="0">
            <a:spAutoFit/>
          </a:bodyPr>
          <a:lstStyle/>
          <a:p>
            <a:pPr marL="22577">
              <a:spcBef>
                <a:spcPts val="187"/>
              </a:spcBef>
            </a:pPr>
            <a:r>
              <a:rPr spc="-267" dirty="0">
                <a:solidFill>
                  <a:srgbClr val="00BCC8"/>
                </a:solidFill>
                <a:latin typeface="Aptos Black" panose="020B0004020202020204" pitchFamily="34" charset="0"/>
              </a:rPr>
              <a:t>OVERVIEW</a:t>
            </a:r>
          </a:p>
        </p:txBody>
      </p:sp>
      <p:sp>
        <p:nvSpPr>
          <p:cNvPr id="3" name="object 3">
            <a:extLst>
              <a:ext uri="{FF2B5EF4-FFF2-40B4-BE49-F238E27FC236}">
                <a16:creationId xmlns:a16="http://schemas.microsoft.com/office/drawing/2014/main" id="{CE7715D5-2ED8-F9B5-B6D5-DA9719EDD935}"/>
              </a:ext>
            </a:extLst>
          </p:cNvPr>
          <p:cNvSpPr txBox="1"/>
          <p:nvPr/>
        </p:nvSpPr>
        <p:spPr>
          <a:xfrm>
            <a:off x="1312069" y="3433976"/>
            <a:ext cx="13258800" cy="6620415"/>
          </a:xfrm>
          <a:prstGeom prst="rect">
            <a:avLst/>
          </a:prstGeom>
        </p:spPr>
        <p:txBody>
          <a:bodyPr vert="horz" wrap="square" lIns="0" tIns="29350" rIns="0" bIns="0" rtlCol="0">
            <a:spAutoFit/>
          </a:bodyPr>
          <a:lstStyle/>
          <a:p>
            <a:pPr marL="632150" indent="-610702">
              <a:lnSpc>
                <a:spcPts val="6817"/>
              </a:lnSpc>
              <a:spcBef>
                <a:spcPts val="231"/>
              </a:spcBef>
              <a:buFont typeface="Wingdings"/>
              <a:buChar char=""/>
              <a:tabLst>
                <a:tab pos="633279" algn="l"/>
              </a:tabLst>
            </a:pPr>
            <a:r>
              <a:rPr sz="5689" dirty="0">
                <a:latin typeface="Calibri Light"/>
                <a:cs typeface="Calibri Light"/>
              </a:rPr>
              <a:t>R</a:t>
            </a:r>
            <a:r>
              <a:rPr sz="5689" spc="-80" dirty="0">
                <a:latin typeface="Calibri Light"/>
                <a:cs typeface="Calibri Light"/>
              </a:rPr>
              <a:t> </a:t>
            </a:r>
            <a:r>
              <a:rPr sz="5689" spc="-18" dirty="0">
                <a:latin typeface="Calibri Light"/>
                <a:cs typeface="Calibri Light"/>
              </a:rPr>
              <a:t>basics</a:t>
            </a:r>
            <a:endParaRPr lang="en-CA" sz="5689" spc="-18" dirty="0">
              <a:latin typeface="Calibri Light"/>
              <a:cs typeface="Calibri Light"/>
            </a:endParaRPr>
          </a:p>
          <a:p>
            <a:pPr marL="21448" lvl="3">
              <a:spcBef>
                <a:spcPts val="231"/>
              </a:spcBef>
              <a:tabLst>
                <a:tab pos="633279" algn="l"/>
              </a:tabLst>
            </a:pPr>
            <a:r>
              <a:rPr lang="en-CA" sz="5689" dirty="0">
                <a:latin typeface="Calibri Light"/>
                <a:cs typeface="Calibri Light"/>
              </a:rPr>
              <a:t>		</a:t>
            </a:r>
            <a:r>
              <a:rPr lang="en-CA" sz="4800" dirty="0">
                <a:solidFill>
                  <a:srgbClr val="00BCC8"/>
                </a:solidFill>
                <a:latin typeface="Calibri Light"/>
                <a:cs typeface="Calibri Light"/>
              </a:rPr>
              <a:t>Installing R </a:t>
            </a:r>
          </a:p>
          <a:p>
            <a:pPr marL="21448" lvl="3">
              <a:spcBef>
                <a:spcPts val="231"/>
              </a:spcBef>
              <a:tabLst>
                <a:tab pos="633279" algn="l"/>
              </a:tabLst>
            </a:pPr>
            <a:r>
              <a:rPr lang="en-CA" sz="4800" dirty="0">
                <a:solidFill>
                  <a:srgbClr val="00BCC8"/>
                </a:solidFill>
                <a:latin typeface="Calibri Light"/>
                <a:cs typeface="Calibri Light"/>
              </a:rPr>
              <a:t>		Navigating the interface</a:t>
            </a:r>
          </a:p>
          <a:p>
            <a:pPr marL="21448" lvl="3">
              <a:spcBef>
                <a:spcPts val="231"/>
              </a:spcBef>
              <a:tabLst>
                <a:tab pos="633279" algn="l"/>
              </a:tabLst>
            </a:pPr>
            <a:r>
              <a:rPr lang="en-CA" sz="4800" dirty="0">
                <a:solidFill>
                  <a:srgbClr val="00BCC8"/>
                </a:solidFill>
                <a:latin typeface="Calibri Light"/>
                <a:cs typeface="Calibri Light"/>
              </a:rPr>
              <a:t>		Working directory &amp; R projects</a:t>
            </a:r>
          </a:p>
          <a:p>
            <a:pPr marL="21448" lvl="3">
              <a:spcBef>
                <a:spcPts val="231"/>
              </a:spcBef>
              <a:tabLst>
                <a:tab pos="633279" algn="l"/>
              </a:tabLst>
            </a:pPr>
            <a:r>
              <a:rPr lang="en-CA" sz="4800" dirty="0">
                <a:solidFill>
                  <a:srgbClr val="00BCC8"/>
                </a:solidFill>
                <a:latin typeface="Calibri Light"/>
                <a:cs typeface="Calibri Light"/>
              </a:rPr>
              <a:t>		Base R &amp; Packages</a:t>
            </a:r>
          </a:p>
          <a:p>
            <a:pPr marL="21448" lvl="3">
              <a:spcBef>
                <a:spcPts val="231"/>
              </a:spcBef>
              <a:tabLst>
                <a:tab pos="633279" algn="l"/>
              </a:tabLst>
            </a:pPr>
            <a:r>
              <a:rPr lang="en-CA" sz="4800" dirty="0">
                <a:solidFill>
                  <a:srgbClr val="00BCC8"/>
                </a:solidFill>
                <a:latin typeface="Calibri Light"/>
                <a:cs typeface="Calibri Light"/>
              </a:rPr>
              <a:t>		Importing &amp; exporting data</a:t>
            </a:r>
            <a:endParaRPr sz="5689" dirty="0">
              <a:solidFill>
                <a:srgbClr val="00BCC8"/>
              </a:solidFill>
              <a:latin typeface="Calibri Light"/>
              <a:cs typeface="Calibri Light"/>
            </a:endParaRPr>
          </a:p>
          <a:p>
            <a:pPr marL="632150" indent="-610702">
              <a:lnSpc>
                <a:spcPts val="6817"/>
              </a:lnSpc>
              <a:buFont typeface="Wingdings"/>
              <a:buChar char=""/>
              <a:tabLst>
                <a:tab pos="633279" algn="l"/>
              </a:tabLst>
            </a:pPr>
            <a:r>
              <a:rPr sz="5689" dirty="0">
                <a:latin typeface="Calibri Light"/>
                <a:cs typeface="Calibri Light"/>
              </a:rPr>
              <a:t>Data</a:t>
            </a:r>
            <a:r>
              <a:rPr sz="5689" spc="-249" dirty="0">
                <a:latin typeface="Calibri Light"/>
                <a:cs typeface="Calibri Light"/>
              </a:rPr>
              <a:t> </a:t>
            </a:r>
            <a:r>
              <a:rPr sz="5689" dirty="0">
                <a:latin typeface="Calibri Light"/>
                <a:cs typeface="Calibri Light"/>
              </a:rPr>
              <a:t>cleaning</a:t>
            </a:r>
            <a:r>
              <a:rPr sz="5689" spc="-116" dirty="0">
                <a:latin typeface="Calibri Light"/>
                <a:cs typeface="Calibri Light"/>
              </a:rPr>
              <a:t> </a:t>
            </a:r>
            <a:r>
              <a:rPr sz="5689" dirty="0">
                <a:latin typeface="Calibri Light"/>
                <a:cs typeface="Calibri Light"/>
              </a:rPr>
              <a:t>using</a:t>
            </a:r>
            <a:r>
              <a:rPr sz="5689" spc="-169" dirty="0">
                <a:latin typeface="Calibri Light"/>
                <a:cs typeface="Calibri Light"/>
              </a:rPr>
              <a:t> </a:t>
            </a:r>
            <a:r>
              <a:rPr sz="5689" spc="-18" dirty="0">
                <a:latin typeface="Calibri Light"/>
                <a:cs typeface="Calibri Light"/>
              </a:rPr>
              <a:t>tidyverse</a:t>
            </a:r>
            <a:endParaRPr sz="5689" dirty="0">
              <a:latin typeface="Calibri Light"/>
              <a:cs typeface="Calibri Light"/>
            </a:endParaRPr>
          </a:p>
          <a:p>
            <a:pPr marL="632150" indent="-610702">
              <a:spcBef>
                <a:spcPts val="116"/>
              </a:spcBef>
              <a:buFont typeface="Wingdings"/>
              <a:buChar char=""/>
              <a:tabLst>
                <a:tab pos="633279" algn="l"/>
              </a:tabLst>
            </a:pPr>
            <a:r>
              <a:rPr lang="en-CA" sz="5689" dirty="0">
                <a:latin typeface="Calibri Light"/>
                <a:cs typeface="Calibri Light"/>
              </a:rPr>
              <a:t>Resources</a:t>
            </a:r>
            <a:endParaRPr sz="5689" dirty="0">
              <a:latin typeface="Calibri Light"/>
              <a:cs typeface="Calibri Light"/>
            </a:endParaRPr>
          </a:p>
        </p:txBody>
      </p:sp>
    </p:spTree>
    <p:extLst>
      <p:ext uri="{BB962C8B-B14F-4D97-AF65-F5344CB8AC3E}">
        <p14:creationId xmlns:p14="http://schemas.microsoft.com/office/powerpoint/2010/main" val="21578593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FE61E-7796-0456-9526-D483082FAB6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06D015-FF0E-28DF-D69B-CB7003A4F937}"/>
              </a:ext>
            </a:extLst>
          </p:cNvPr>
          <p:cNvSpPr txBox="1">
            <a:spLocks noGrp="1"/>
          </p:cNvSpPr>
          <p:nvPr>
            <p:ph type="title"/>
          </p:nvPr>
        </p:nvSpPr>
        <p:spPr>
          <a:xfrm>
            <a:off x="1309484" y="1066800"/>
            <a:ext cx="9298985" cy="1501265"/>
          </a:xfrm>
          <a:prstGeom prst="rect">
            <a:avLst/>
          </a:prstGeom>
        </p:spPr>
        <p:txBody>
          <a:bodyPr vert="horz" wrap="square" lIns="0" tIns="23706" rIns="0" bIns="0" rtlCol="0">
            <a:spAutoFit/>
          </a:bodyPr>
          <a:lstStyle/>
          <a:p>
            <a:pPr marL="22577">
              <a:spcBef>
                <a:spcPts val="187"/>
              </a:spcBef>
            </a:pPr>
            <a:r>
              <a:rPr lang="en-CA" spc="-329" dirty="0">
                <a:solidFill>
                  <a:srgbClr val="00BCC8"/>
                </a:solidFill>
                <a:latin typeface="Aptos Black" panose="020B0004020202020204" pitchFamily="34" charset="0"/>
              </a:rPr>
              <a:t>Installation</a:t>
            </a:r>
            <a:endParaRPr spc="-222" dirty="0">
              <a:solidFill>
                <a:srgbClr val="00BCC8"/>
              </a:solidFill>
              <a:latin typeface="Aptos Black" panose="020B0004020202020204" pitchFamily="34" charset="0"/>
            </a:endParaRPr>
          </a:p>
        </p:txBody>
      </p:sp>
      <p:sp>
        <p:nvSpPr>
          <p:cNvPr id="4" name="object 4">
            <a:extLst>
              <a:ext uri="{FF2B5EF4-FFF2-40B4-BE49-F238E27FC236}">
                <a16:creationId xmlns:a16="http://schemas.microsoft.com/office/drawing/2014/main" id="{961939E7-B600-6B72-7B2D-62A245D6CEBA}"/>
              </a:ext>
            </a:extLst>
          </p:cNvPr>
          <p:cNvSpPr txBox="1">
            <a:spLocks noGrp="1"/>
          </p:cNvSpPr>
          <p:nvPr>
            <p:ph type="body" idx="1"/>
          </p:nvPr>
        </p:nvSpPr>
        <p:spPr>
          <a:xfrm>
            <a:off x="1335118" y="2568065"/>
            <a:ext cx="18894860" cy="782022"/>
          </a:xfrm>
          <a:prstGeom prst="rect">
            <a:avLst/>
          </a:prstGeom>
        </p:spPr>
        <p:txBody>
          <a:bodyPr vert="horz" wrap="square" lIns="0" tIns="29350" rIns="0" bIns="0" rtlCol="0">
            <a:spAutoFit/>
          </a:bodyPr>
          <a:lstStyle/>
          <a:p>
            <a:pPr marL="22577">
              <a:spcBef>
                <a:spcPts val="231"/>
              </a:spcBef>
            </a:pPr>
            <a:r>
              <a:rPr lang="en-CA" dirty="0"/>
              <a:t>Company Portal </a:t>
            </a:r>
            <a:r>
              <a:rPr lang="en-CA" dirty="0">
                <a:solidFill>
                  <a:srgbClr val="00BCC8"/>
                </a:solidFill>
                <a:hlinkClick r:id="rId2">
                  <a:extLst>
                    <a:ext uri="{A12FA001-AC4F-418D-AE19-62706E023703}">
                      <ahyp:hlinkClr xmlns:ahyp="http://schemas.microsoft.com/office/drawing/2018/hyperlinkcolor" val="tx"/>
                    </a:ext>
                  </a:extLst>
                </a:hlinkClick>
              </a:rPr>
              <a:t>Link</a:t>
            </a:r>
            <a:endParaRPr spc="-18" dirty="0">
              <a:solidFill>
                <a:srgbClr val="00BCC8"/>
              </a:solidFill>
            </a:endParaRPr>
          </a:p>
        </p:txBody>
      </p:sp>
      <p:pic>
        <p:nvPicPr>
          <p:cNvPr id="8" name="Picture 7">
            <a:extLst>
              <a:ext uri="{FF2B5EF4-FFF2-40B4-BE49-F238E27FC236}">
                <a16:creationId xmlns:a16="http://schemas.microsoft.com/office/drawing/2014/main" id="{2BEFC6CB-A074-2E0D-1E62-27A9C6CD69B2}"/>
              </a:ext>
            </a:extLst>
          </p:cNvPr>
          <p:cNvPicPr>
            <a:picLocks noChangeAspect="1"/>
          </p:cNvPicPr>
          <p:nvPr/>
        </p:nvPicPr>
        <p:blipFill>
          <a:blip r:embed="rId3"/>
          <a:stretch>
            <a:fillRect/>
          </a:stretch>
        </p:blipFill>
        <p:spPr>
          <a:xfrm>
            <a:off x="3079391" y="3733800"/>
            <a:ext cx="15058156" cy="7914052"/>
          </a:xfrm>
          <a:prstGeom prst="roundRect">
            <a:avLst>
              <a:gd name="adj" fmla="val 1596"/>
            </a:avLst>
          </a:prstGeom>
        </p:spPr>
      </p:pic>
    </p:spTree>
    <p:extLst>
      <p:ext uri="{BB962C8B-B14F-4D97-AF65-F5344CB8AC3E}">
        <p14:creationId xmlns:p14="http://schemas.microsoft.com/office/powerpoint/2010/main" val="1648682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 y="35472"/>
            <a:ext cx="21674136" cy="12156528"/>
          </a:xfrm>
          <a:prstGeom prst="rect">
            <a:avLst/>
          </a:prstGeom>
        </p:spPr>
      </p:pic>
      <p:sp>
        <p:nvSpPr>
          <p:cNvPr id="3" name="object 3"/>
          <p:cNvSpPr txBox="1">
            <a:spLocks noGrp="1"/>
          </p:cNvSpPr>
          <p:nvPr>
            <p:ph type="title"/>
          </p:nvPr>
        </p:nvSpPr>
        <p:spPr>
          <a:xfrm>
            <a:off x="5032017" y="3640884"/>
            <a:ext cx="4943284" cy="1830636"/>
          </a:xfrm>
          <a:prstGeom prst="rect">
            <a:avLst/>
          </a:prstGeom>
        </p:spPr>
        <p:txBody>
          <a:bodyPr vert="horz" wrap="square" lIns="0" tIns="24835" rIns="0" bIns="0" rtlCol="0">
            <a:spAutoFit/>
          </a:bodyPr>
          <a:lstStyle/>
          <a:p>
            <a:pPr marL="22577">
              <a:spcBef>
                <a:spcPts val="196"/>
              </a:spcBef>
            </a:pPr>
            <a:r>
              <a:rPr sz="11733" spc="924" dirty="0">
                <a:solidFill>
                  <a:srgbClr val="FFFFFF"/>
                </a:solidFill>
                <a:latin typeface="Calibri"/>
                <a:cs typeface="Calibri"/>
              </a:rPr>
              <a:t>SCRIPT</a:t>
            </a:r>
            <a:endParaRPr sz="11733">
              <a:latin typeface="Calibri"/>
              <a:cs typeface="Calibri"/>
            </a:endParaRPr>
          </a:p>
        </p:txBody>
      </p:sp>
      <p:sp>
        <p:nvSpPr>
          <p:cNvPr id="4" name="object 4"/>
          <p:cNvSpPr txBox="1"/>
          <p:nvPr/>
        </p:nvSpPr>
        <p:spPr>
          <a:xfrm>
            <a:off x="4167756" y="9852446"/>
            <a:ext cx="6607224" cy="1665284"/>
          </a:xfrm>
          <a:prstGeom prst="rect">
            <a:avLst/>
          </a:prstGeom>
        </p:spPr>
        <p:txBody>
          <a:bodyPr vert="horz" wrap="square" lIns="0" tIns="23706" rIns="0" bIns="0" rtlCol="0">
            <a:spAutoFit/>
          </a:bodyPr>
          <a:lstStyle/>
          <a:p>
            <a:pPr marL="22577">
              <a:spcBef>
                <a:spcPts val="187"/>
              </a:spcBef>
            </a:pPr>
            <a:r>
              <a:rPr sz="10666" spc="1431" dirty="0">
                <a:solidFill>
                  <a:srgbClr val="FFFFFF"/>
                </a:solidFill>
                <a:latin typeface="Calibri"/>
                <a:cs typeface="Calibri"/>
              </a:rPr>
              <a:t>CONSOLE</a:t>
            </a:r>
            <a:endParaRPr sz="10666">
              <a:latin typeface="Calibri"/>
              <a:cs typeface="Calibri"/>
            </a:endParaRPr>
          </a:p>
        </p:txBody>
      </p:sp>
      <p:sp>
        <p:nvSpPr>
          <p:cNvPr id="5" name="object 5"/>
          <p:cNvSpPr txBox="1"/>
          <p:nvPr/>
        </p:nvSpPr>
        <p:spPr>
          <a:xfrm>
            <a:off x="14720356" y="3939578"/>
            <a:ext cx="6586906" cy="1110253"/>
          </a:xfrm>
          <a:prstGeom prst="rect">
            <a:avLst/>
          </a:prstGeom>
        </p:spPr>
        <p:txBody>
          <a:bodyPr vert="horz" wrap="square" lIns="0" tIns="29350" rIns="0" bIns="0" rtlCol="0">
            <a:spAutoFit/>
          </a:bodyPr>
          <a:lstStyle/>
          <a:p>
            <a:pPr marL="22577">
              <a:spcBef>
                <a:spcPts val="231"/>
              </a:spcBef>
            </a:pPr>
            <a:r>
              <a:rPr sz="7022" spc="631" dirty="0">
                <a:solidFill>
                  <a:srgbClr val="FFFFFF"/>
                </a:solidFill>
                <a:latin typeface="Calibri"/>
                <a:cs typeface="Calibri"/>
              </a:rPr>
              <a:t>ENVIRONMENT</a:t>
            </a:r>
            <a:endParaRPr sz="7022">
              <a:latin typeface="Calibri"/>
              <a:cs typeface="Calibri"/>
            </a:endParaRPr>
          </a:p>
        </p:txBody>
      </p:sp>
      <p:sp>
        <p:nvSpPr>
          <p:cNvPr id="6" name="object 6"/>
          <p:cNvSpPr txBox="1"/>
          <p:nvPr/>
        </p:nvSpPr>
        <p:spPr>
          <a:xfrm>
            <a:off x="14720352" y="9546520"/>
            <a:ext cx="6637705" cy="1008823"/>
          </a:xfrm>
          <a:prstGeom prst="rect">
            <a:avLst/>
          </a:prstGeom>
        </p:spPr>
        <p:txBody>
          <a:bodyPr vert="horz" wrap="square" lIns="0" tIns="23706" rIns="0" bIns="0" rtlCol="0">
            <a:spAutoFit/>
          </a:bodyPr>
          <a:lstStyle/>
          <a:p>
            <a:pPr marL="22577">
              <a:spcBef>
                <a:spcPts val="187"/>
              </a:spcBef>
            </a:pPr>
            <a:r>
              <a:rPr sz="6400" spc="507" dirty="0">
                <a:solidFill>
                  <a:srgbClr val="FFFFFF"/>
                </a:solidFill>
                <a:latin typeface="Calibri"/>
                <a:cs typeface="Calibri"/>
              </a:rPr>
              <a:t>PLOTS,</a:t>
            </a:r>
            <a:r>
              <a:rPr sz="6400" spc="-178" dirty="0">
                <a:solidFill>
                  <a:srgbClr val="FFFFFF"/>
                </a:solidFill>
                <a:latin typeface="Calibri"/>
                <a:cs typeface="Calibri"/>
              </a:rPr>
              <a:t> </a:t>
            </a:r>
            <a:r>
              <a:rPr sz="6400" spc="604" dirty="0">
                <a:solidFill>
                  <a:srgbClr val="FFFFFF"/>
                </a:solidFill>
                <a:latin typeface="Calibri"/>
                <a:cs typeface="Calibri"/>
              </a:rPr>
              <a:t>VIEWER…</a:t>
            </a:r>
            <a:endParaRPr sz="6400">
              <a:latin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09479" y="1314749"/>
            <a:ext cx="14845654" cy="1501265"/>
          </a:xfrm>
          <a:prstGeom prst="rect">
            <a:avLst/>
          </a:prstGeom>
        </p:spPr>
        <p:txBody>
          <a:bodyPr vert="horz" wrap="square" lIns="0" tIns="23706" rIns="0" bIns="0" rtlCol="0">
            <a:spAutoFit/>
          </a:bodyPr>
          <a:lstStyle/>
          <a:p>
            <a:pPr marL="22577">
              <a:spcBef>
                <a:spcPts val="187"/>
              </a:spcBef>
            </a:pPr>
            <a:r>
              <a:rPr sz="9600" spc="-276" dirty="0">
                <a:solidFill>
                  <a:srgbClr val="50B4C7"/>
                </a:solidFill>
                <a:latin typeface="Aptos Black" panose="020B0004020202020204" pitchFamily="34" charset="0"/>
                <a:cs typeface="Calibri Light"/>
              </a:rPr>
              <a:t>Navigating </a:t>
            </a:r>
            <a:r>
              <a:rPr sz="9600" spc="-196" dirty="0">
                <a:solidFill>
                  <a:srgbClr val="50B4C7"/>
                </a:solidFill>
                <a:latin typeface="Aptos Black" panose="020B0004020202020204" pitchFamily="34" charset="0"/>
                <a:cs typeface="Calibri Light"/>
              </a:rPr>
              <a:t>the</a:t>
            </a:r>
            <a:r>
              <a:rPr sz="9600" spc="-391" dirty="0">
                <a:solidFill>
                  <a:srgbClr val="50B4C7"/>
                </a:solidFill>
                <a:latin typeface="Aptos Black" panose="020B0004020202020204" pitchFamily="34" charset="0"/>
                <a:cs typeface="Calibri Light"/>
              </a:rPr>
              <a:t> </a:t>
            </a:r>
            <a:r>
              <a:rPr sz="9600" spc="-249" dirty="0">
                <a:solidFill>
                  <a:srgbClr val="50B4C7"/>
                </a:solidFill>
                <a:latin typeface="Aptos Black" panose="020B0004020202020204" pitchFamily="34" charset="0"/>
                <a:cs typeface="Calibri Light"/>
              </a:rPr>
              <a:t>interface</a:t>
            </a:r>
            <a:endParaRPr sz="9600" dirty="0">
              <a:latin typeface="Aptos Black" panose="020B0004020202020204" pitchFamily="34" charset="0"/>
              <a:cs typeface="Calibri Light"/>
            </a:endParaRPr>
          </a:p>
        </p:txBody>
      </p:sp>
      <p:sp>
        <p:nvSpPr>
          <p:cNvPr id="3" name="object 3"/>
          <p:cNvSpPr txBox="1"/>
          <p:nvPr/>
        </p:nvSpPr>
        <p:spPr>
          <a:xfrm>
            <a:off x="1316209" y="3260571"/>
            <a:ext cx="18266105" cy="2368504"/>
          </a:xfrm>
          <a:prstGeom prst="rect">
            <a:avLst/>
          </a:prstGeom>
        </p:spPr>
        <p:txBody>
          <a:bodyPr vert="horz" wrap="square" lIns="0" tIns="22577" rIns="0" bIns="0" rtlCol="0">
            <a:spAutoFit/>
          </a:bodyPr>
          <a:lstStyle/>
          <a:p>
            <a:pPr marL="22577">
              <a:lnSpc>
                <a:spcPts val="4764"/>
              </a:lnSpc>
              <a:spcBef>
                <a:spcPts val="178"/>
              </a:spcBef>
            </a:pPr>
            <a:r>
              <a:rPr sz="4266" dirty="0">
                <a:solidFill>
                  <a:srgbClr val="252525"/>
                </a:solidFill>
                <a:latin typeface="Calibri Light"/>
                <a:cs typeface="Calibri Light"/>
              </a:rPr>
              <a:t>The</a:t>
            </a:r>
            <a:r>
              <a:rPr sz="4266" spc="-18" dirty="0">
                <a:solidFill>
                  <a:srgbClr val="252525"/>
                </a:solidFill>
                <a:latin typeface="Calibri Light"/>
                <a:cs typeface="Calibri Light"/>
              </a:rPr>
              <a:t> </a:t>
            </a:r>
            <a:r>
              <a:rPr sz="4266" dirty="0">
                <a:solidFill>
                  <a:srgbClr val="252525"/>
                </a:solidFill>
                <a:latin typeface="Calibri Light"/>
                <a:cs typeface="Calibri Light"/>
              </a:rPr>
              <a:t>console</a:t>
            </a:r>
            <a:r>
              <a:rPr sz="4266" spc="-391" dirty="0">
                <a:solidFill>
                  <a:srgbClr val="252525"/>
                </a:solidFill>
                <a:latin typeface="Calibri Light"/>
                <a:cs typeface="Calibri Light"/>
              </a:rPr>
              <a:t> </a:t>
            </a:r>
            <a:r>
              <a:rPr sz="4266" dirty="0">
                <a:solidFill>
                  <a:srgbClr val="252525"/>
                </a:solidFill>
                <a:latin typeface="Calibri Light"/>
                <a:cs typeface="Calibri Light"/>
              </a:rPr>
              <a:t>is</a:t>
            </a:r>
            <a:r>
              <a:rPr sz="4266" spc="53" dirty="0">
                <a:solidFill>
                  <a:srgbClr val="252525"/>
                </a:solidFill>
                <a:latin typeface="Calibri Light"/>
                <a:cs typeface="Calibri Light"/>
              </a:rPr>
              <a:t> </a:t>
            </a:r>
            <a:r>
              <a:rPr sz="4266" dirty="0">
                <a:solidFill>
                  <a:srgbClr val="252525"/>
                </a:solidFill>
                <a:latin typeface="Calibri Light"/>
                <a:cs typeface="Calibri Light"/>
              </a:rPr>
              <a:t>the</a:t>
            </a:r>
            <a:r>
              <a:rPr sz="4266" spc="-142" dirty="0">
                <a:solidFill>
                  <a:srgbClr val="252525"/>
                </a:solidFill>
                <a:latin typeface="Calibri Light"/>
                <a:cs typeface="Calibri Light"/>
              </a:rPr>
              <a:t> </a:t>
            </a:r>
            <a:r>
              <a:rPr sz="4266" dirty="0">
                <a:solidFill>
                  <a:srgbClr val="252525"/>
                </a:solidFill>
                <a:latin typeface="Calibri Light"/>
                <a:cs typeface="Calibri Light"/>
              </a:rPr>
              <a:t>most</a:t>
            </a:r>
            <a:r>
              <a:rPr sz="4266" spc="-107" dirty="0">
                <a:solidFill>
                  <a:srgbClr val="252525"/>
                </a:solidFill>
                <a:latin typeface="Calibri Light"/>
                <a:cs typeface="Calibri Light"/>
              </a:rPr>
              <a:t> </a:t>
            </a:r>
            <a:r>
              <a:rPr sz="4266" dirty="0">
                <a:solidFill>
                  <a:srgbClr val="252525"/>
                </a:solidFill>
                <a:latin typeface="Calibri Light"/>
                <a:cs typeface="Calibri Light"/>
              </a:rPr>
              <a:t>basic</a:t>
            </a:r>
            <a:r>
              <a:rPr sz="4266" spc="27" dirty="0">
                <a:solidFill>
                  <a:srgbClr val="252525"/>
                </a:solidFill>
                <a:latin typeface="Calibri Light"/>
                <a:cs typeface="Calibri Light"/>
              </a:rPr>
              <a:t> </a:t>
            </a:r>
            <a:r>
              <a:rPr sz="4266" dirty="0">
                <a:solidFill>
                  <a:srgbClr val="252525"/>
                </a:solidFill>
                <a:latin typeface="Calibri Light"/>
                <a:cs typeface="Calibri Light"/>
              </a:rPr>
              <a:t>way</a:t>
            </a:r>
            <a:r>
              <a:rPr sz="4266" spc="98" dirty="0">
                <a:solidFill>
                  <a:srgbClr val="252525"/>
                </a:solidFill>
                <a:latin typeface="Calibri Light"/>
                <a:cs typeface="Calibri Light"/>
              </a:rPr>
              <a:t> </a:t>
            </a:r>
            <a:r>
              <a:rPr sz="4266" dirty="0">
                <a:solidFill>
                  <a:srgbClr val="252525"/>
                </a:solidFill>
                <a:latin typeface="Calibri Light"/>
                <a:cs typeface="Calibri Light"/>
              </a:rPr>
              <a:t>to</a:t>
            </a:r>
            <a:r>
              <a:rPr sz="4266" spc="-124" dirty="0">
                <a:solidFill>
                  <a:srgbClr val="252525"/>
                </a:solidFill>
                <a:latin typeface="Calibri Light"/>
                <a:cs typeface="Calibri Light"/>
              </a:rPr>
              <a:t> </a:t>
            </a:r>
            <a:r>
              <a:rPr sz="4266" spc="-18" dirty="0">
                <a:solidFill>
                  <a:srgbClr val="252525"/>
                </a:solidFill>
                <a:latin typeface="Calibri Light"/>
                <a:cs typeface="Calibri Light"/>
              </a:rPr>
              <a:t>interact</a:t>
            </a:r>
            <a:r>
              <a:rPr sz="4266" spc="-240" dirty="0">
                <a:solidFill>
                  <a:srgbClr val="252525"/>
                </a:solidFill>
                <a:latin typeface="Calibri Light"/>
                <a:cs typeface="Calibri Light"/>
              </a:rPr>
              <a:t> </a:t>
            </a:r>
            <a:r>
              <a:rPr sz="4266" dirty="0">
                <a:solidFill>
                  <a:srgbClr val="252525"/>
                </a:solidFill>
                <a:latin typeface="Calibri Light"/>
                <a:cs typeface="Calibri Light"/>
              </a:rPr>
              <a:t>with</a:t>
            </a:r>
            <a:r>
              <a:rPr sz="4266" spc="27" dirty="0">
                <a:solidFill>
                  <a:srgbClr val="252525"/>
                </a:solidFill>
                <a:latin typeface="Calibri Light"/>
                <a:cs typeface="Calibri Light"/>
              </a:rPr>
              <a:t> </a:t>
            </a:r>
            <a:r>
              <a:rPr sz="4266" dirty="0">
                <a:solidFill>
                  <a:srgbClr val="252525"/>
                </a:solidFill>
                <a:latin typeface="Calibri Light"/>
                <a:cs typeface="Calibri Light"/>
              </a:rPr>
              <a:t>R.</a:t>
            </a:r>
            <a:r>
              <a:rPr sz="4266" spc="-18" dirty="0">
                <a:solidFill>
                  <a:srgbClr val="252525"/>
                </a:solidFill>
                <a:latin typeface="Calibri Light"/>
                <a:cs typeface="Calibri Light"/>
              </a:rPr>
              <a:t> </a:t>
            </a:r>
            <a:r>
              <a:rPr sz="4266" spc="-71" dirty="0">
                <a:solidFill>
                  <a:srgbClr val="252525"/>
                </a:solidFill>
                <a:latin typeface="Calibri Light"/>
                <a:cs typeface="Calibri Light"/>
              </a:rPr>
              <a:t>You</a:t>
            </a:r>
            <a:r>
              <a:rPr sz="4266" spc="-116" dirty="0">
                <a:solidFill>
                  <a:srgbClr val="252525"/>
                </a:solidFill>
                <a:latin typeface="Calibri Light"/>
                <a:cs typeface="Calibri Light"/>
              </a:rPr>
              <a:t> </a:t>
            </a:r>
            <a:r>
              <a:rPr sz="4266" dirty="0">
                <a:solidFill>
                  <a:srgbClr val="252525"/>
                </a:solidFill>
                <a:latin typeface="Calibri Light"/>
                <a:cs typeface="Calibri Light"/>
              </a:rPr>
              <a:t>can</a:t>
            </a:r>
            <a:r>
              <a:rPr sz="4266" spc="-124" dirty="0">
                <a:solidFill>
                  <a:srgbClr val="252525"/>
                </a:solidFill>
                <a:latin typeface="Calibri Light"/>
                <a:cs typeface="Calibri Light"/>
              </a:rPr>
              <a:t> </a:t>
            </a:r>
            <a:r>
              <a:rPr sz="4266" dirty="0">
                <a:solidFill>
                  <a:srgbClr val="252525"/>
                </a:solidFill>
                <a:latin typeface="Calibri Light"/>
                <a:cs typeface="Calibri Light"/>
              </a:rPr>
              <a:t>type</a:t>
            </a:r>
            <a:r>
              <a:rPr sz="4266" spc="-142" dirty="0">
                <a:solidFill>
                  <a:srgbClr val="252525"/>
                </a:solidFill>
                <a:latin typeface="Calibri Light"/>
                <a:cs typeface="Calibri Light"/>
              </a:rPr>
              <a:t> </a:t>
            </a:r>
            <a:r>
              <a:rPr sz="4266" dirty="0">
                <a:solidFill>
                  <a:srgbClr val="252525"/>
                </a:solidFill>
                <a:latin typeface="Calibri Light"/>
                <a:cs typeface="Calibri Light"/>
              </a:rPr>
              <a:t>a</a:t>
            </a:r>
            <a:r>
              <a:rPr sz="4266" spc="-27" dirty="0">
                <a:solidFill>
                  <a:srgbClr val="252525"/>
                </a:solidFill>
                <a:latin typeface="Calibri Light"/>
                <a:cs typeface="Calibri Light"/>
              </a:rPr>
              <a:t> </a:t>
            </a:r>
            <a:r>
              <a:rPr sz="4266" dirty="0">
                <a:solidFill>
                  <a:srgbClr val="252525"/>
                </a:solidFill>
                <a:latin typeface="Calibri Light"/>
                <a:cs typeface="Calibri Light"/>
              </a:rPr>
              <a:t>command</a:t>
            </a:r>
            <a:r>
              <a:rPr sz="4266" spc="18" dirty="0">
                <a:solidFill>
                  <a:srgbClr val="252525"/>
                </a:solidFill>
                <a:latin typeface="Calibri Light"/>
                <a:cs typeface="Calibri Light"/>
              </a:rPr>
              <a:t> </a:t>
            </a:r>
            <a:r>
              <a:rPr sz="4266" dirty="0">
                <a:solidFill>
                  <a:srgbClr val="252525"/>
                </a:solidFill>
                <a:latin typeface="Calibri Light"/>
                <a:cs typeface="Calibri Light"/>
              </a:rPr>
              <a:t>to</a:t>
            </a:r>
            <a:r>
              <a:rPr sz="4266" spc="-116" dirty="0">
                <a:solidFill>
                  <a:srgbClr val="252525"/>
                </a:solidFill>
                <a:latin typeface="Calibri Light"/>
                <a:cs typeface="Calibri Light"/>
              </a:rPr>
              <a:t> </a:t>
            </a:r>
            <a:r>
              <a:rPr sz="4266" spc="-89" dirty="0">
                <a:solidFill>
                  <a:srgbClr val="252525"/>
                </a:solidFill>
                <a:latin typeface="Calibri Light"/>
                <a:cs typeface="Calibri Light"/>
              </a:rPr>
              <a:t>R</a:t>
            </a:r>
            <a:endParaRPr sz="4266" dirty="0">
              <a:latin typeface="Calibri Light"/>
              <a:cs typeface="Calibri Light"/>
            </a:endParaRPr>
          </a:p>
          <a:p>
            <a:pPr marL="22577" marR="9031">
              <a:lnSpc>
                <a:spcPct val="84800"/>
              </a:lnSpc>
              <a:spcBef>
                <a:spcPts val="418"/>
              </a:spcBef>
            </a:pPr>
            <a:r>
              <a:rPr sz="4266" dirty="0">
                <a:solidFill>
                  <a:srgbClr val="252525"/>
                </a:solidFill>
                <a:latin typeface="Calibri Light"/>
                <a:cs typeface="Calibri Light"/>
              </a:rPr>
              <a:t>into</a:t>
            </a:r>
            <a:r>
              <a:rPr sz="4266" spc="-276" dirty="0">
                <a:solidFill>
                  <a:srgbClr val="252525"/>
                </a:solidFill>
                <a:latin typeface="Calibri Light"/>
                <a:cs typeface="Calibri Light"/>
              </a:rPr>
              <a:t> </a:t>
            </a:r>
            <a:r>
              <a:rPr sz="4266" dirty="0">
                <a:solidFill>
                  <a:srgbClr val="252525"/>
                </a:solidFill>
                <a:latin typeface="Calibri Light"/>
                <a:cs typeface="Calibri Light"/>
              </a:rPr>
              <a:t>the</a:t>
            </a:r>
            <a:r>
              <a:rPr sz="4266" spc="9" dirty="0">
                <a:solidFill>
                  <a:srgbClr val="252525"/>
                </a:solidFill>
                <a:latin typeface="Calibri Light"/>
                <a:cs typeface="Calibri Light"/>
              </a:rPr>
              <a:t> </a:t>
            </a:r>
            <a:r>
              <a:rPr sz="4266" dirty="0">
                <a:solidFill>
                  <a:srgbClr val="252525"/>
                </a:solidFill>
                <a:latin typeface="Calibri Light"/>
                <a:cs typeface="Calibri Light"/>
              </a:rPr>
              <a:t>console</a:t>
            </a:r>
            <a:r>
              <a:rPr sz="4266" spc="-267" dirty="0">
                <a:solidFill>
                  <a:srgbClr val="252525"/>
                </a:solidFill>
                <a:latin typeface="Calibri Light"/>
                <a:cs typeface="Calibri Light"/>
              </a:rPr>
              <a:t> </a:t>
            </a:r>
            <a:r>
              <a:rPr sz="4266" dirty="0">
                <a:solidFill>
                  <a:srgbClr val="252525"/>
                </a:solidFill>
                <a:latin typeface="Calibri Light"/>
                <a:cs typeface="Calibri Light"/>
              </a:rPr>
              <a:t>prompt</a:t>
            </a:r>
            <a:r>
              <a:rPr sz="4266" spc="-89" dirty="0">
                <a:solidFill>
                  <a:srgbClr val="252525"/>
                </a:solidFill>
                <a:latin typeface="Calibri Light"/>
                <a:cs typeface="Calibri Light"/>
              </a:rPr>
              <a:t> </a:t>
            </a:r>
            <a:r>
              <a:rPr sz="4266" dirty="0">
                <a:solidFill>
                  <a:srgbClr val="252525"/>
                </a:solidFill>
                <a:latin typeface="Calibri Light"/>
                <a:cs typeface="Calibri Light"/>
              </a:rPr>
              <a:t>(the</a:t>
            </a:r>
            <a:r>
              <a:rPr sz="4266" spc="-142" dirty="0">
                <a:solidFill>
                  <a:srgbClr val="252525"/>
                </a:solidFill>
                <a:latin typeface="Calibri Light"/>
                <a:cs typeface="Calibri Light"/>
              </a:rPr>
              <a:t> </a:t>
            </a:r>
            <a:r>
              <a:rPr sz="4266" dirty="0">
                <a:solidFill>
                  <a:srgbClr val="252525"/>
                </a:solidFill>
                <a:latin typeface="Calibri Light"/>
                <a:cs typeface="Calibri Light"/>
              </a:rPr>
              <a:t>prompt</a:t>
            </a:r>
            <a:r>
              <a:rPr sz="4266" spc="-89" dirty="0">
                <a:solidFill>
                  <a:srgbClr val="252525"/>
                </a:solidFill>
                <a:latin typeface="Calibri Light"/>
                <a:cs typeface="Calibri Light"/>
              </a:rPr>
              <a:t> </a:t>
            </a:r>
            <a:r>
              <a:rPr sz="4266" dirty="0">
                <a:solidFill>
                  <a:srgbClr val="252525"/>
                </a:solidFill>
                <a:latin typeface="Calibri Light"/>
                <a:cs typeface="Calibri Light"/>
              </a:rPr>
              <a:t>looks</a:t>
            </a:r>
            <a:r>
              <a:rPr sz="4266" spc="-62" dirty="0">
                <a:solidFill>
                  <a:srgbClr val="252525"/>
                </a:solidFill>
                <a:latin typeface="Calibri Light"/>
                <a:cs typeface="Calibri Light"/>
              </a:rPr>
              <a:t> </a:t>
            </a:r>
            <a:r>
              <a:rPr sz="4266" dirty="0">
                <a:solidFill>
                  <a:srgbClr val="252525"/>
                </a:solidFill>
                <a:latin typeface="Calibri Light"/>
                <a:cs typeface="Calibri Light"/>
              </a:rPr>
              <a:t>like</a:t>
            </a:r>
            <a:r>
              <a:rPr sz="4266" spc="9" dirty="0">
                <a:solidFill>
                  <a:srgbClr val="252525"/>
                </a:solidFill>
                <a:latin typeface="Calibri Light"/>
                <a:cs typeface="Calibri Light"/>
              </a:rPr>
              <a:t> </a:t>
            </a:r>
            <a:r>
              <a:rPr sz="4266" dirty="0">
                <a:solidFill>
                  <a:srgbClr val="252525"/>
                </a:solidFill>
                <a:latin typeface="Calibri Light"/>
                <a:cs typeface="Calibri Light"/>
              </a:rPr>
              <a:t>“&gt;”)</a:t>
            </a:r>
            <a:r>
              <a:rPr sz="4266" spc="53" dirty="0">
                <a:solidFill>
                  <a:srgbClr val="252525"/>
                </a:solidFill>
                <a:latin typeface="Calibri Light"/>
                <a:cs typeface="Calibri Light"/>
              </a:rPr>
              <a:t> </a:t>
            </a:r>
            <a:r>
              <a:rPr sz="4266" dirty="0">
                <a:solidFill>
                  <a:srgbClr val="252525"/>
                </a:solidFill>
                <a:latin typeface="Calibri Light"/>
                <a:cs typeface="Calibri Light"/>
              </a:rPr>
              <a:t>and</a:t>
            </a:r>
            <a:r>
              <a:rPr sz="4266" spc="27" dirty="0">
                <a:solidFill>
                  <a:srgbClr val="252525"/>
                </a:solidFill>
                <a:latin typeface="Calibri Light"/>
                <a:cs typeface="Calibri Light"/>
              </a:rPr>
              <a:t> </a:t>
            </a:r>
            <a:r>
              <a:rPr sz="4266" dirty="0">
                <a:solidFill>
                  <a:srgbClr val="252525"/>
                </a:solidFill>
                <a:latin typeface="Calibri Light"/>
                <a:cs typeface="Calibri Light"/>
              </a:rPr>
              <a:t>R</a:t>
            </a:r>
            <a:r>
              <a:rPr sz="4266" spc="-18" dirty="0">
                <a:solidFill>
                  <a:srgbClr val="252525"/>
                </a:solidFill>
                <a:latin typeface="Calibri Light"/>
                <a:cs typeface="Calibri Light"/>
              </a:rPr>
              <a:t> </a:t>
            </a:r>
            <a:r>
              <a:rPr sz="4266" dirty="0">
                <a:solidFill>
                  <a:srgbClr val="252525"/>
                </a:solidFill>
                <a:latin typeface="Calibri Light"/>
                <a:cs typeface="Calibri Light"/>
              </a:rPr>
              <a:t>will</a:t>
            </a:r>
            <a:r>
              <a:rPr sz="4266" spc="-18" dirty="0">
                <a:solidFill>
                  <a:srgbClr val="252525"/>
                </a:solidFill>
                <a:latin typeface="Calibri Light"/>
                <a:cs typeface="Calibri Light"/>
              </a:rPr>
              <a:t> </a:t>
            </a:r>
            <a:r>
              <a:rPr sz="4266" dirty="0">
                <a:solidFill>
                  <a:srgbClr val="252525"/>
                </a:solidFill>
                <a:latin typeface="Calibri Light"/>
                <a:cs typeface="Calibri Light"/>
              </a:rPr>
              <a:t>respond</a:t>
            </a:r>
            <a:r>
              <a:rPr sz="4266" spc="-107" dirty="0">
                <a:solidFill>
                  <a:srgbClr val="252525"/>
                </a:solidFill>
                <a:latin typeface="Calibri Light"/>
                <a:cs typeface="Calibri Light"/>
              </a:rPr>
              <a:t> </a:t>
            </a:r>
            <a:r>
              <a:rPr sz="4266" dirty="0">
                <a:solidFill>
                  <a:srgbClr val="252525"/>
                </a:solidFill>
                <a:latin typeface="Calibri Light"/>
                <a:cs typeface="Calibri Light"/>
              </a:rPr>
              <a:t>to</a:t>
            </a:r>
            <a:r>
              <a:rPr sz="4266" spc="-116" dirty="0">
                <a:solidFill>
                  <a:srgbClr val="252525"/>
                </a:solidFill>
                <a:latin typeface="Calibri Light"/>
                <a:cs typeface="Calibri Light"/>
              </a:rPr>
              <a:t> </a:t>
            </a:r>
            <a:r>
              <a:rPr sz="4266" dirty="0">
                <a:solidFill>
                  <a:srgbClr val="252525"/>
                </a:solidFill>
                <a:latin typeface="Calibri Light"/>
                <a:cs typeface="Calibri Light"/>
              </a:rPr>
              <a:t>what</a:t>
            </a:r>
            <a:r>
              <a:rPr sz="4266" spc="-98" dirty="0">
                <a:solidFill>
                  <a:srgbClr val="252525"/>
                </a:solidFill>
                <a:latin typeface="Calibri Light"/>
                <a:cs typeface="Calibri Light"/>
              </a:rPr>
              <a:t> </a:t>
            </a:r>
            <a:r>
              <a:rPr sz="4266" spc="-44" dirty="0">
                <a:solidFill>
                  <a:srgbClr val="252525"/>
                </a:solidFill>
                <a:latin typeface="Calibri Light"/>
                <a:cs typeface="Calibri Light"/>
              </a:rPr>
              <a:t>you </a:t>
            </a:r>
            <a:r>
              <a:rPr sz="4266" dirty="0">
                <a:solidFill>
                  <a:srgbClr val="252525"/>
                </a:solidFill>
                <a:latin typeface="Calibri Light"/>
                <a:cs typeface="Calibri Light"/>
              </a:rPr>
              <a:t>type.</a:t>
            </a:r>
            <a:r>
              <a:rPr sz="4266" spc="-116" dirty="0">
                <a:solidFill>
                  <a:srgbClr val="252525"/>
                </a:solidFill>
                <a:latin typeface="Calibri Light"/>
                <a:cs typeface="Calibri Light"/>
              </a:rPr>
              <a:t> </a:t>
            </a:r>
            <a:r>
              <a:rPr sz="4266" dirty="0">
                <a:solidFill>
                  <a:srgbClr val="252525"/>
                </a:solidFill>
                <a:latin typeface="Calibri Light"/>
                <a:cs typeface="Calibri Light"/>
              </a:rPr>
              <a:t>For</a:t>
            </a:r>
            <a:r>
              <a:rPr sz="4266" spc="-133" dirty="0">
                <a:solidFill>
                  <a:srgbClr val="252525"/>
                </a:solidFill>
                <a:latin typeface="Calibri Light"/>
                <a:cs typeface="Calibri Light"/>
              </a:rPr>
              <a:t> </a:t>
            </a:r>
            <a:r>
              <a:rPr sz="4266" dirty="0">
                <a:solidFill>
                  <a:srgbClr val="252525"/>
                </a:solidFill>
                <a:latin typeface="Calibri Light"/>
                <a:cs typeface="Calibri Light"/>
              </a:rPr>
              <a:t>example,</a:t>
            </a:r>
            <a:r>
              <a:rPr sz="4266" spc="27" dirty="0">
                <a:solidFill>
                  <a:srgbClr val="252525"/>
                </a:solidFill>
                <a:latin typeface="Calibri Light"/>
                <a:cs typeface="Calibri Light"/>
              </a:rPr>
              <a:t> </a:t>
            </a:r>
            <a:r>
              <a:rPr sz="4266" dirty="0">
                <a:solidFill>
                  <a:srgbClr val="252525"/>
                </a:solidFill>
                <a:latin typeface="Calibri Light"/>
                <a:cs typeface="Calibri Light"/>
              </a:rPr>
              <a:t>below</a:t>
            </a:r>
            <a:r>
              <a:rPr sz="4266" spc="-27" dirty="0">
                <a:solidFill>
                  <a:srgbClr val="252525"/>
                </a:solidFill>
                <a:latin typeface="Calibri Light"/>
                <a:cs typeface="Calibri Light"/>
              </a:rPr>
              <a:t> </a:t>
            </a:r>
            <a:r>
              <a:rPr sz="4266" dirty="0">
                <a:solidFill>
                  <a:srgbClr val="252525"/>
                </a:solidFill>
                <a:latin typeface="Calibri Light"/>
                <a:cs typeface="Calibri Light"/>
              </a:rPr>
              <a:t>I’ve</a:t>
            </a:r>
            <a:r>
              <a:rPr sz="4266" spc="-116" dirty="0">
                <a:solidFill>
                  <a:srgbClr val="252525"/>
                </a:solidFill>
                <a:latin typeface="Calibri Light"/>
                <a:cs typeface="Calibri Light"/>
              </a:rPr>
              <a:t> </a:t>
            </a:r>
            <a:r>
              <a:rPr sz="4266" dirty="0">
                <a:solidFill>
                  <a:srgbClr val="252525"/>
                </a:solidFill>
                <a:latin typeface="Calibri Light"/>
                <a:cs typeface="Calibri Light"/>
              </a:rPr>
              <a:t>typed</a:t>
            </a:r>
            <a:r>
              <a:rPr sz="4266" spc="-89" dirty="0">
                <a:solidFill>
                  <a:srgbClr val="252525"/>
                </a:solidFill>
                <a:latin typeface="Calibri Light"/>
                <a:cs typeface="Calibri Light"/>
              </a:rPr>
              <a:t> </a:t>
            </a:r>
            <a:r>
              <a:rPr sz="4266" dirty="0">
                <a:solidFill>
                  <a:srgbClr val="252525"/>
                </a:solidFill>
                <a:latin typeface="Calibri Light"/>
                <a:cs typeface="Calibri Light"/>
              </a:rPr>
              <a:t>“1</a:t>
            </a:r>
            <a:r>
              <a:rPr sz="4266" spc="-27" dirty="0">
                <a:solidFill>
                  <a:srgbClr val="252525"/>
                </a:solidFill>
                <a:latin typeface="Calibri Light"/>
                <a:cs typeface="Calibri Light"/>
              </a:rPr>
              <a:t> </a:t>
            </a:r>
            <a:r>
              <a:rPr sz="4266" dirty="0">
                <a:solidFill>
                  <a:srgbClr val="252525"/>
                </a:solidFill>
                <a:latin typeface="Calibri Light"/>
                <a:cs typeface="Calibri Light"/>
              </a:rPr>
              <a:t>plus</a:t>
            </a:r>
            <a:r>
              <a:rPr sz="4266" spc="-36" dirty="0">
                <a:solidFill>
                  <a:srgbClr val="252525"/>
                </a:solidFill>
                <a:latin typeface="Calibri Light"/>
                <a:cs typeface="Calibri Light"/>
              </a:rPr>
              <a:t> </a:t>
            </a:r>
            <a:r>
              <a:rPr sz="4266" spc="-53" dirty="0">
                <a:solidFill>
                  <a:srgbClr val="252525"/>
                </a:solidFill>
                <a:latin typeface="Calibri Light"/>
                <a:cs typeface="Calibri Light"/>
              </a:rPr>
              <a:t>1,”</a:t>
            </a:r>
            <a:r>
              <a:rPr sz="4266" dirty="0">
                <a:solidFill>
                  <a:srgbClr val="252525"/>
                </a:solidFill>
                <a:latin typeface="Calibri Light"/>
                <a:cs typeface="Calibri Light"/>
              </a:rPr>
              <a:t> </a:t>
            </a:r>
            <a:r>
              <a:rPr sz="4266" b="1" dirty="0">
                <a:solidFill>
                  <a:srgbClr val="252525"/>
                </a:solidFill>
                <a:latin typeface="Calibri Light"/>
                <a:cs typeface="Calibri Light"/>
              </a:rPr>
              <a:t>hit</a:t>
            </a:r>
            <a:r>
              <a:rPr sz="4266" b="1" spc="-80" dirty="0">
                <a:solidFill>
                  <a:srgbClr val="252525"/>
                </a:solidFill>
                <a:latin typeface="Calibri Light"/>
                <a:cs typeface="Calibri Light"/>
              </a:rPr>
              <a:t> </a:t>
            </a:r>
            <a:r>
              <a:rPr sz="4266" b="1" spc="-62" dirty="0">
                <a:solidFill>
                  <a:srgbClr val="252525"/>
                </a:solidFill>
                <a:latin typeface="Calibri Light"/>
                <a:cs typeface="Calibri Light"/>
              </a:rPr>
              <a:t>enter</a:t>
            </a:r>
            <a:r>
              <a:rPr sz="4266" spc="-62" dirty="0">
                <a:solidFill>
                  <a:srgbClr val="252525"/>
                </a:solidFill>
                <a:latin typeface="Calibri Light"/>
                <a:cs typeface="Calibri Light"/>
              </a:rPr>
              <a:t>,</a:t>
            </a:r>
            <a:r>
              <a:rPr sz="4266" spc="-240" dirty="0">
                <a:solidFill>
                  <a:srgbClr val="252525"/>
                </a:solidFill>
                <a:latin typeface="Calibri Light"/>
                <a:cs typeface="Calibri Light"/>
              </a:rPr>
              <a:t> </a:t>
            </a:r>
            <a:r>
              <a:rPr sz="4266" dirty="0">
                <a:solidFill>
                  <a:srgbClr val="252525"/>
                </a:solidFill>
                <a:latin typeface="Calibri Light"/>
                <a:cs typeface="Calibri Light"/>
              </a:rPr>
              <a:t>and</a:t>
            </a:r>
            <a:r>
              <a:rPr sz="4266" spc="62" dirty="0">
                <a:solidFill>
                  <a:srgbClr val="252525"/>
                </a:solidFill>
                <a:latin typeface="Calibri Light"/>
                <a:cs typeface="Calibri Light"/>
              </a:rPr>
              <a:t> </a:t>
            </a:r>
            <a:r>
              <a:rPr sz="4266" dirty="0">
                <a:solidFill>
                  <a:srgbClr val="252525"/>
                </a:solidFill>
                <a:latin typeface="Calibri Light"/>
                <a:cs typeface="Calibri Light"/>
              </a:rPr>
              <a:t>the</a:t>
            </a:r>
            <a:r>
              <a:rPr sz="4266" spc="-107" dirty="0">
                <a:solidFill>
                  <a:srgbClr val="252525"/>
                </a:solidFill>
                <a:latin typeface="Calibri Light"/>
                <a:cs typeface="Calibri Light"/>
              </a:rPr>
              <a:t> </a:t>
            </a:r>
            <a:r>
              <a:rPr sz="4266" dirty="0">
                <a:solidFill>
                  <a:srgbClr val="252525"/>
                </a:solidFill>
                <a:latin typeface="Calibri Light"/>
                <a:cs typeface="Calibri Light"/>
              </a:rPr>
              <a:t>R console</a:t>
            </a:r>
            <a:r>
              <a:rPr sz="4266" spc="-107" dirty="0">
                <a:solidFill>
                  <a:srgbClr val="252525"/>
                </a:solidFill>
                <a:latin typeface="Calibri Light"/>
                <a:cs typeface="Calibri Light"/>
              </a:rPr>
              <a:t> </a:t>
            </a:r>
            <a:r>
              <a:rPr sz="4266" spc="-18" dirty="0">
                <a:solidFill>
                  <a:srgbClr val="252525"/>
                </a:solidFill>
                <a:latin typeface="Calibri Light"/>
                <a:cs typeface="Calibri Light"/>
              </a:rPr>
              <a:t>returned </a:t>
            </a:r>
            <a:r>
              <a:rPr sz="4266" dirty="0">
                <a:solidFill>
                  <a:srgbClr val="252525"/>
                </a:solidFill>
                <a:latin typeface="Calibri Light"/>
                <a:cs typeface="Calibri Light"/>
              </a:rPr>
              <a:t>the</a:t>
            </a:r>
            <a:r>
              <a:rPr sz="4266" spc="-133" dirty="0">
                <a:solidFill>
                  <a:srgbClr val="252525"/>
                </a:solidFill>
                <a:latin typeface="Calibri Light"/>
                <a:cs typeface="Calibri Light"/>
              </a:rPr>
              <a:t> </a:t>
            </a:r>
            <a:r>
              <a:rPr sz="4266" dirty="0">
                <a:solidFill>
                  <a:srgbClr val="252525"/>
                </a:solidFill>
                <a:latin typeface="Calibri Light"/>
                <a:cs typeface="Calibri Light"/>
              </a:rPr>
              <a:t>sum</a:t>
            </a:r>
            <a:r>
              <a:rPr sz="4266" spc="89" dirty="0">
                <a:solidFill>
                  <a:srgbClr val="252525"/>
                </a:solidFill>
                <a:latin typeface="Calibri Light"/>
                <a:cs typeface="Calibri Light"/>
              </a:rPr>
              <a:t> </a:t>
            </a:r>
            <a:r>
              <a:rPr sz="4266" dirty="0">
                <a:solidFill>
                  <a:srgbClr val="252525"/>
                </a:solidFill>
                <a:latin typeface="Calibri Light"/>
                <a:cs typeface="Calibri Light"/>
              </a:rPr>
              <a:t>of</a:t>
            </a:r>
            <a:r>
              <a:rPr sz="4266" spc="-89" dirty="0">
                <a:solidFill>
                  <a:srgbClr val="252525"/>
                </a:solidFill>
                <a:latin typeface="Calibri Light"/>
                <a:cs typeface="Calibri Light"/>
              </a:rPr>
              <a:t> </a:t>
            </a:r>
            <a:r>
              <a:rPr sz="4266" dirty="0">
                <a:solidFill>
                  <a:srgbClr val="252525"/>
                </a:solidFill>
                <a:latin typeface="Calibri Light"/>
                <a:cs typeface="Calibri Light"/>
              </a:rPr>
              <a:t>the</a:t>
            </a:r>
            <a:r>
              <a:rPr sz="4266" spc="-116" dirty="0">
                <a:solidFill>
                  <a:srgbClr val="252525"/>
                </a:solidFill>
                <a:latin typeface="Calibri Light"/>
                <a:cs typeface="Calibri Light"/>
              </a:rPr>
              <a:t> </a:t>
            </a:r>
            <a:r>
              <a:rPr sz="4266" dirty="0">
                <a:solidFill>
                  <a:srgbClr val="252525"/>
                </a:solidFill>
                <a:latin typeface="Calibri Light"/>
                <a:cs typeface="Calibri Light"/>
              </a:rPr>
              <a:t>numbers</a:t>
            </a:r>
            <a:r>
              <a:rPr sz="4266" spc="-36" dirty="0">
                <a:solidFill>
                  <a:srgbClr val="252525"/>
                </a:solidFill>
                <a:latin typeface="Calibri Light"/>
                <a:cs typeface="Calibri Light"/>
              </a:rPr>
              <a:t> </a:t>
            </a:r>
            <a:r>
              <a:rPr sz="4266" dirty="0">
                <a:solidFill>
                  <a:srgbClr val="252525"/>
                </a:solidFill>
                <a:latin typeface="Calibri Light"/>
                <a:cs typeface="Calibri Light"/>
              </a:rPr>
              <a:t>1</a:t>
            </a:r>
            <a:r>
              <a:rPr sz="4266" spc="107" dirty="0">
                <a:solidFill>
                  <a:srgbClr val="252525"/>
                </a:solidFill>
                <a:latin typeface="Calibri Light"/>
                <a:cs typeface="Calibri Light"/>
              </a:rPr>
              <a:t> </a:t>
            </a:r>
            <a:r>
              <a:rPr sz="4266" dirty="0">
                <a:solidFill>
                  <a:srgbClr val="252525"/>
                </a:solidFill>
                <a:latin typeface="Calibri Light"/>
                <a:cs typeface="Calibri Light"/>
              </a:rPr>
              <a:t>and</a:t>
            </a:r>
            <a:r>
              <a:rPr sz="4266" spc="-89" dirty="0">
                <a:solidFill>
                  <a:srgbClr val="252525"/>
                </a:solidFill>
                <a:latin typeface="Calibri Light"/>
                <a:cs typeface="Calibri Light"/>
              </a:rPr>
              <a:t> </a:t>
            </a:r>
            <a:r>
              <a:rPr sz="4266" spc="-44" dirty="0">
                <a:solidFill>
                  <a:srgbClr val="252525"/>
                </a:solidFill>
                <a:latin typeface="Calibri Light"/>
                <a:cs typeface="Calibri Light"/>
              </a:rPr>
              <a:t>1.</a:t>
            </a:r>
            <a:endParaRPr sz="4266" dirty="0">
              <a:latin typeface="Calibri Light"/>
              <a:cs typeface="Calibri Light"/>
            </a:endParaRPr>
          </a:p>
        </p:txBody>
      </p:sp>
      <p:grpSp>
        <p:nvGrpSpPr>
          <p:cNvPr id="5" name="object 5"/>
          <p:cNvGrpSpPr/>
          <p:nvPr/>
        </p:nvGrpSpPr>
        <p:grpSpPr>
          <a:xfrm>
            <a:off x="16862484" y="427576"/>
            <a:ext cx="4823624" cy="1309479"/>
            <a:chOff x="9485376" y="303275"/>
            <a:chExt cx="2713355" cy="736600"/>
          </a:xfrm>
          <a:solidFill>
            <a:srgbClr val="EB9B0B"/>
          </a:solidFill>
        </p:grpSpPr>
        <p:sp>
          <p:nvSpPr>
            <p:cNvPr id="6" name="object 6"/>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7" name="object 7"/>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8" name="object 8"/>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9" name="object 9"/>
          <p:cNvSpPr txBox="1">
            <a:spLocks noGrp="1"/>
          </p:cNvSpPr>
          <p:nvPr>
            <p:ph type="title"/>
          </p:nvPr>
        </p:nvSpPr>
        <p:spPr>
          <a:xfrm>
            <a:off x="16628269" y="565634"/>
            <a:ext cx="4665551" cy="1008823"/>
          </a:xfrm>
          <a:prstGeom prst="rect">
            <a:avLst/>
          </a:prstGeom>
        </p:spPr>
        <p:txBody>
          <a:bodyPr vert="horz" wrap="square" lIns="0" tIns="23706" rIns="0" bIns="0" rtlCol="0">
            <a:spAutoFit/>
          </a:bodyPr>
          <a:lstStyle/>
          <a:p>
            <a:pPr marL="1136741">
              <a:spcBef>
                <a:spcPts val="187"/>
              </a:spcBef>
            </a:pPr>
            <a:r>
              <a:rPr sz="6400" spc="-18" dirty="0">
                <a:solidFill>
                  <a:srgbClr val="FFFFFF"/>
                </a:solidFill>
                <a:latin typeface="Aptos Black" panose="020B0004020202020204" pitchFamily="34" charset="0"/>
              </a:rPr>
              <a:t>console</a:t>
            </a:r>
            <a:endParaRPr sz="6400" dirty="0">
              <a:latin typeface="Aptos Black" panose="020B0004020202020204" pitchFamily="34" charset="0"/>
            </a:endParaRPr>
          </a:p>
        </p:txBody>
      </p:sp>
      <p:pic>
        <p:nvPicPr>
          <p:cNvPr id="11" name="Picture 10">
            <a:extLst>
              <a:ext uri="{FF2B5EF4-FFF2-40B4-BE49-F238E27FC236}">
                <a16:creationId xmlns:a16="http://schemas.microsoft.com/office/drawing/2014/main" id="{1BF33AC7-BF09-2106-0463-618680D4BA29}"/>
              </a:ext>
            </a:extLst>
          </p:cNvPr>
          <p:cNvPicPr>
            <a:picLocks noChangeAspect="1"/>
          </p:cNvPicPr>
          <p:nvPr/>
        </p:nvPicPr>
        <p:blipFill>
          <a:blip r:embed="rId2"/>
          <a:stretch>
            <a:fillRect/>
          </a:stretch>
        </p:blipFill>
        <p:spPr>
          <a:xfrm>
            <a:off x="1309479" y="6781800"/>
            <a:ext cx="18795613" cy="34616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27906" y="-4480896"/>
            <a:ext cx="33875049" cy="1871542"/>
          </a:xfrm>
          <a:prstGeom prst="rect">
            <a:avLst/>
          </a:prstGeom>
        </p:spPr>
        <p:txBody>
          <a:bodyPr vert="horz" wrap="square" lIns="0" tIns="940375" rIns="0" bIns="0" rtlCol="0">
            <a:spAutoFit/>
          </a:bodyPr>
          <a:lstStyle/>
          <a:p>
            <a:pPr marL="225768" marR="9031">
              <a:lnSpc>
                <a:spcPct val="77100"/>
              </a:lnSpc>
              <a:spcBef>
                <a:spcPts val="1271"/>
              </a:spcBef>
            </a:pPr>
            <a:r>
              <a:rPr sz="3822" dirty="0">
                <a:solidFill>
                  <a:srgbClr val="252525"/>
                </a:solidFill>
              </a:rPr>
              <a:t>The</a:t>
            </a:r>
            <a:r>
              <a:rPr sz="3822" spc="36" dirty="0">
                <a:solidFill>
                  <a:srgbClr val="252525"/>
                </a:solidFill>
              </a:rPr>
              <a:t> </a:t>
            </a:r>
            <a:r>
              <a:rPr sz="3822" dirty="0">
                <a:solidFill>
                  <a:srgbClr val="252525"/>
                </a:solidFill>
              </a:rPr>
              <a:t>number</a:t>
            </a:r>
            <a:r>
              <a:rPr sz="3822" spc="231" dirty="0">
                <a:solidFill>
                  <a:srgbClr val="252525"/>
                </a:solidFill>
              </a:rPr>
              <a:t> </a:t>
            </a:r>
            <a:r>
              <a:rPr sz="3822" dirty="0">
                <a:solidFill>
                  <a:srgbClr val="252525"/>
                </a:solidFill>
              </a:rPr>
              <a:t>1</a:t>
            </a:r>
            <a:r>
              <a:rPr sz="3822" spc="133" dirty="0">
                <a:solidFill>
                  <a:srgbClr val="252525"/>
                </a:solidFill>
              </a:rPr>
              <a:t> </a:t>
            </a:r>
            <a:r>
              <a:rPr sz="3822" dirty="0">
                <a:solidFill>
                  <a:srgbClr val="252525"/>
                </a:solidFill>
              </a:rPr>
              <a:t>you</a:t>
            </a:r>
            <a:r>
              <a:rPr sz="3822" spc="89" dirty="0">
                <a:solidFill>
                  <a:srgbClr val="252525"/>
                </a:solidFill>
              </a:rPr>
              <a:t> </a:t>
            </a:r>
            <a:r>
              <a:rPr sz="3822" dirty="0">
                <a:solidFill>
                  <a:srgbClr val="252525"/>
                </a:solidFill>
              </a:rPr>
              <a:t>see</a:t>
            </a:r>
            <a:r>
              <a:rPr sz="3822" spc="178" dirty="0">
                <a:solidFill>
                  <a:srgbClr val="252525"/>
                </a:solidFill>
              </a:rPr>
              <a:t> </a:t>
            </a:r>
            <a:r>
              <a:rPr sz="3822" dirty="0">
                <a:solidFill>
                  <a:srgbClr val="252525"/>
                </a:solidFill>
              </a:rPr>
              <a:t>in</a:t>
            </a:r>
            <a:r>
              <a:rPr sz="3822" spc="89" dirty="0">
                <a:solidFill>
                  <a:srgbClr val="252525"/>
                </a:solidFill>
              </a:rPr>
              <a:t> </a:t>
            </a:r>
            <a:r>
              <a:rPr sz="3822" dirty="0">
                <a:solidFill>
                  <a:srgbClr val="252525"/>
                </a:solidFill>
              </a:rPr>
              <a:t>brackets</a:t>
            </a:r>
            <a:r>
              <a:rPr sz="3822" spc="203" dirty="0">
                <a:solidFill>
                  <a:srgbClr val="252525"/>
                </a:solidFill>
              </a:rPr>
              <a:t> </a:t>
            </a:r>
            <a:r>
              <a:rPr sz="3822" dirty="0">
                <a:solidFill>
                  <a:srgbClr val="252525"/>
                </a:solidFill>
              </a:rPr>
              <a:t>before</a:t>
            </a:r>
            <a:r>
              <a:rPr sz="3822" spc="187" dirty="0">
                <a:solidFill>
                  <a:srgbClr val="252525"/>
                </a:solidFill>
              </a:rPr>
              <a:t> </a:t>
            </a:r>
            <a:r>
              <a:rPr sz="3822" dirty="0">
                <a:solidFill>
                  <a:srgbClr val="252525"/>
                </a:solidFill>
              </a:rPr>
              <a:t>the</a:t>
            </a:r>
            <a:r>
              <a:rPr sz="3822" spc="36" dirty="0">
                <a:solidFill>
                  <a:srgbClr val="252525"/>
                </a:solidFill>
              </a:rPr>
              <a:t> </a:t>
            </a:r>
            <a:r>
              <a:rPr sz="3822" dirty="0">
                <a:solidFill>
                  <a:srgbClr val="252525"/>
                </a:solidFill>
              </a:rPr>
              <a:t>2</a:t>
            </a:r>
            <a:r>
              <a:rPr sz="3822" spc="-9" dirty="0">
                <a:solidFill>
                  <a:srgbClr val="252525"/>
                </a:solidFill>
              </a:rPr>
              <a:t> </a:t>
            </a:r>
            <a:r>
              <a:rPr sz="3822" dirty="0">
                <a:solidFill>
                  <a:srgbClr val="252525"/>
                </a:solidFill>
              </a:rPr>
              <a:t>(i.e.,</a:t>
            </a:r>
            <a:r>
              <a:rPr sz="3822" spc="203" dirty="0">
                <a:solidFill>
                  <a:srgbClr val="252525"/>
                </a:solidFill>
              </a:rPr>
              <a:t> </a:t>
            </a:r>
            <a:r>
              <a:rPr sz="3822" dirty="0">
                <a:solidFill>
                  <a:srgbClr val="252525"/>
                </a:solidFill>
              </a:rPr>
              <a:t>[1])</a:t>
            </a:r>
            <a:r>
              <a:rPr sz="3822" spc="-9" dirty="0">
                <a:solidFill>
                  <a:srgbClr val="252525"/>
                </a:solidFill>
              </a:rPr>
              <a:t> </a:t>
            </a:r>
            <a:r>
              <a:rPr sz="3822" dirty="0">
                <a:solidFill>
                  <a:srgbClr val="252525"/>
                </a:solidFill>
              </a:rPr>
              <a:t>is</a:t>
            </a:r>
            <a:r>
              <a:rPr sz="3822" spc="203" dirty="0">
                <a:solidFill>
                  <a:srgbClr val="252525"/>
                </a:solidFill>
              </a:rPr>
              <a:t> </a:t>
            </a:r>
            <a:r>
              <a:rPr sz="3822" dirty="0">
                <a:solidFill>
                  <a:srgbClr val="252525"/>
                </a:solidFill>
              </a:rPr>
              <a:t>telling</a:t>
            </a:r>
            <a:r>
              <a:rPr sz="3822" spc="267" dirty="0">
                <a:solidFill>
                  <a:srgbClr val="252525"/>
                </a:solidFill>
              </a:rPr>
              <a:t> </a:t>
            </a:r>
            <a:r>
              <a:rPr sz="3822" dirty="0">
                <a:solidFill>
                  <a:srgbClr val="252525"/>
                </a:solidFill>
              </a:rPr>
              <a:t>you</a:t>
            </a:r>
            <a:r>
              <a:rPr sz="3822" spc="89" dirty="0">
                <a:solidFill>
                  <a:srgbClr val="252525"/>
                </a:solidFill>
              </a:rPr>
              <a:t> </a:t>
            </a:r>
            <a:r>
              <a:rPr sz="3822" dirty="0">
                <a:solidFill>
                  <a:srgbClr val="252525"/>
                </a:solidFill>
              </a:rPr>
              <a:t>that</a:t>
            </a:r>
            <a:r>
              <a:rPr sz="3822" spc="-133" dirty="0">
                <a:solidFill>
                  <a:srgbClr val="252525"/>
                </a:solidFill>
              </a:rPr>
              <a:t> </a:t>
            </a:r>
            <a:r>
              <a:rPr sz="3822" dirty="0">
                <a:solidFill>
                  <a:srgbClr val="252525"/>
                </a:solidFill>
              </a:rPr>
              <a:t>this</a:t>
            </a:r>
            <a:r>
              <a:rPr sz="3822" spc="213" dirty="0">
                <a:solidFill>
                  <a:srgbClr val="252525"/>
                </a:solidFill>
              </a:rPr>
              <a:t> </a:t>
            </a:r>
            <a:r>
              <a:rPr sz="3822" dirty="0">
                <a:solidFill>
                  <a:srgbClr val="252525"/>
                </a:solidFill>
              </a:rPr>
              <a:t>line</a:t>
            </a:r>
            <a:r>
              <a:rPr sz="3822" spc="178" dirty="0">
                <a:solidFill>
                  <a:srgbClr val="252525"/>
                </a:solidFill>
              </a:rPr>
              <a:t> </a:t>
            </a:r>
            <a:r>
              <a:rPr sz="3822" dirty="0">
                <a:solidFill>
                  <a:srgbClr val="252525"/>
                </a:solidFill>
              </a:rPr>
              <a:t>of</a:t>
            </a:r>
            <a:r>
              <a:rPr sz="3822" spc="124" dirty="0">
                <a:solidFill>
                  <a:srgbClr val="252525"/>
                </a:solidFill>
              </a:rPr>
              <a:t> </a:t>
            </a:r>
            <a:r>
              <a:rPr sz="3822" spc="-18" dirty="0">
                <a:solidFill>
                  <a:srgbClr val="252525"/>
                </a:solidFill>
              </a:rPr>
              <a:t>results </a:t>
            </a:r>
            <a:r>
              <a:rPr sz="3822" dirty="0">
                <a:solidFill>
                  <a:srgbClr val="252525"/>
                </a:solidFill>
              </a:rPr>
              <a:t>starts</a:t>
            </a:r>
            <a:r>
              <a:rPr sz="3822" spc="-80" dirty="0">
                <a:solidFill>
                  <a:srgbClr val="252525"/>
                </a:solidFill>
              </a:rPr>
              <a:t> </a:t>
            </a:r>
            <a:r>
              <a:rPr sz="3822" dirty="0">
                <a:solidFill>
                  <a:srgbClr val="252525"/>
                </a:solidFill>
              </a:rPr>
              <a:t>with</a:t>
            </a:r>
            <a:r>
              <a:rPr sz="3822" spc="89" dirty="0">
                <a:solidFill>
                  <a:srgbClr val="252525"/>
                </a:solidFill>
              </a:rPr>
              <a:t> </a:t>
            </a:r>
            <a:r>
              <a:rPr sz="3822" dirty="0">
                <a:solidFill>
                  <a:srgbClr val="252525"/>
                </a:solidFill>
              </a:rPr>
              <a:t>the</a:t>
            </a:r>
            <a:r>
              <a:rPr sz="3822" spc="36" dirty="0">
                <a:solidFill>
                  <a:srgbClr val="252525"/>
                </a:solidFill>
              </a:rPr>
              <a:t> </a:t>
            </a:r>
            <a:r>
              <a:rPr sz="3822" dirty="0">
                <a:solidFill>
                  <a:srgbClr val="252525"/>
                </a:solidFill>
              </a:rPr>
              <a:t>first</a:t>
            </a:r>
            <a:r>
              <a:rPr sz="3822" spc="284" dirty="0">
                <a:solidFill>
                  <a:srgbClr val="252525"/>
                </a:solidFill>
              </a:rPr>
              <a:t> </a:t>
            </a:r>
            <a:r>
              <a:rPr sz="3822" dirty="0">
                <a:solidFill>
                  <a:srgbClr val="252525"/>
                </a:solidFill>
              </a:rPr>
              <a:t>result.</a:t>
            </a:r>
            <a:r>
              <a:rPr sz="3822" spc="89" dirty="0">
                <a:solidFill>
                  <a:srgbClr val="252525"/>
                </a:solidFill>
              </a:rPr>
              <a:t> </a:t>
            </a:r>
            <a:r>
              <a:rPr sz="3822" dirty="0">
                <a:solidFill>
                  <a:srgbClr val="252525"/>
                </a:solidFill>
              </a:rPr>
              <a:t>That</a:t>
            </a:r>
            <a:r>
              <a:rPr sz="3822" spc="142" dirty="0">
                <a:solidFill>
                  <a:srgbClr val="252525"/>
                </a:solidFill>
              </a:rPr>
              <a:t> </a:t>
            </a:r>
            <a:r>
              <a:rPr sz="3822" dirty="0">
                <a:solidFill>
                  <a:srgbClr val="252525"/>
                </a:solidFill>
              </a:rPr>
              <a:t>fact</a:t>
            </a:r>
            <a:r>
              <a:rPr sz="3822" spc="18" dirty="0">
                <a:solidFill>
                  <a:srgbClr val="252525"/>
                </a:solidFill>
              </a:rPr>
              <a:t> </a:t>
            </a:r>
            <a:r>
              <a:rPr sz="3822" dirty="0">
                <a:solidFill>
                  <a:srgbClr val="252525"/>
                </a:solidFill>
              </a:rPr>
              <a:t>is</a:t>
            </a:r>
            <a:r>
              <a:rPr sz="3822" spc="196" dirty="0">
                <a:solidFill>
                  <a:srgbClr val="252525"/>
                </a:solidFill>
              </a:rPr>
              <a:t> </a:t>
            </a:r>
            <a:r>
              <a:rPr sz="3822" dirty="0">
                <a:solidFill>
                  <a:srgbClr val="252525"/>
                </a:solidFill>
              </a:rPr>
              <a:t>obvious</a:t>
            </a:r>
            <a:r>
              <a:rPr sz="3822" spc="187" dirty="0">
                <a:solidFill>
                  <a:srgbClr val="252525"/>
                </a:solidFill>
              </a:rPr>
              <a:t> </a:t>
            </a:r>
            <a:r>
              <a:rPr sz="3822" dirty="0">
                <a:solidFill>
                  <a:srgbClr val="252525"/>
                </a:solidFill>
              </a:rPr>
              <a:t>here</a:t>
            </a:r>
            <a:r>
              <a:rPr sz="3822" spc="187" dirty="0">
                <a:solidFill>
                  <a:srgbClr val="252525"/>
                </a:solidFill>
              </a:rPr>
              <a:t> </a:t>
            </a:r>
            <a:r>
              <a:rPr sz="3822" dirty="0">
                <a:solidFill>
                  <a:srgbClr val="252525"/>
                </a:solidFill>
              </a:rPr>
              <a:t>because</a:t>
            </a:r>
            <a:r>
              <a:rPr sz="3822" spc="178" dirty="0">
                <a:solidFill>
                  <a:srgbClr val="252525"/>
                </a:solidFill>
              </a:rPr>
              <a:t> </a:t>
            </a:r>
            <a:r>
              <a:rPr sz="3822" dirty="0">
                <a:solidFill>
                  <a:srgbClr val="252525"/>
                </a:solidFill>
              </a:rPr>
              <a:t>there</a:t>
            </a:r>
            <a:r>
              <a:rPr sz="3822" spc="44" dirty="0">
                <a:solidFill>
                  <a:srgbClr val="252525"/>
                </a:solidFill>
              </a:rPr>
              <a:t> </a:t>
            </a:r>
            <a:r>
              <a:rPr sz="3822" dirty="0">
                <a:solidFill>
                  <a:srgbClr val="252525"/>
                </a:solidFill>
              </a:rPr>
              <a:t>is</a:t>
            </a:r>
            <a:r>
              <a:rPr sz="3822" spc="203" dirty="0">
                <a:solidFill>
                  <a:srgbClr val="252525"/>
                </a:solidFill>
              </a:rPr>
              <a:t> </a:t>
            </a:r>
            <a:r>
              <a:rPr sz="3822" dirty="0">
                <a:solidFill>
                  <a:srgbClr val="252525"/>
                </a:solidFill>
              </a:rPr>
              <a:t>only</a:t>
            </a:r>
            <a:r>
              <a:rPr sz="3822" spc="107" dirty="0">
                <a:solidFill>
                  <a:srgbClr val="252525"/>
                </a:solidFill>
              </a:rPr>
              <a:t> </a:t>
            </a:r>
            <a:r>
              <a:rPr sz="3822" dirty="0">
                <a:solidFill>
                  <a:srgbClr val="252525"/>
                </a:solidFill>
              </a:rPr>
              <a:t>one</a:t>
            </a:r>
            <a:r>
              <a:rPr sz="3822" spc="169" dirty="0">
                <a:solidFill>
                  <a:srgbClr val="252525"/>
                </a:solidFill>
              </a:rPr>
              <a:t> </a:t>
            </a:r>
            <a:r>
              <a:rPr sz="3822" dirty="0">
                <a:solidFill>
                  <a:srgbClr val="252525"/>
                </a:solidFill>
              </a:rPr>
              <a:t>result.</a:t>
            </a:r>
            <a:r>
              <a:rPr sz="3822" spc="213" dirty="0">
                <a:solidFill>
                  <a:srgbClr val="252525"/>
                </a:solidFill>
              </a:rPr>
              <a:t> </a:t>
            </a:r>
            <a:r>
              <a:rPr sz="3822" spc="-107" dirty="0">
                <a:solidFill>
                  <a:srgbClr val="252525"/>
                </a:solidFill>
              </a:rPr>
              <a:t>To</a:t>
            </a:r>
            <a:r>
              <a:rPr sz="3822" spc="71" dirty="0">
                <a:solidFill>
                  <a:srgbClr val="252525"/>
                </a:solidFill>
              </a:rPr>
              <a:t> </a:t>
            </a:r>
            <a:r>
              <a:rPr sz="3822" spc="-36" dirty="0">
                <a:solidFill>
                  <a:srgbClr val="252525"/>
                </a:solidFill>
              </a:rPr>
              <a:t>make </a:t>
            </a:r>
            <a:r>
              <a:rPr sz="3822" dirty="0">
                <a:solidFill>
                  <a:srgbClr val="252525"/>
                </a:solidFill>
              </a:rPr>
              <a:t>this</a:t>
            </a:r>
            <a:r>
              <a:rPr sz="3822" spc="-9" dirty="0">
                <a:solidFill>
                  <a:srgbClr val="252525"/>
                </a:solidFill>
              </a:rPr>
              <a:t> </a:t>
            </a:r>
            <a:r>
              <a:rPr sz="3822" dirty="0">
                <a:solidFill>
                  <a:srgbClr val="252525"/>
                </a:solidFill>
              </a:rPr>
              <a:t>idea</a:t>
            </a:r>
            <a:r>
              <a:rPr sz="3822" spc="203" dirty="0">
                <a:solidFill>
                  <a:srgbClr val="252525"/>
                </a:solidFill>
              </a:rPr>
              <a:t> </a:t>
            </a:r>
            <a:r>
              <a:rPr sz="3822" spc="-18" dirty="0">
                <a:solidFill>
                  <a:srgbClr val="252525"/>
                </a:solidFill>
              </a:rPr>
              <a:t>clearer,</a:t>
            </a:r>
            <a:r>
              <a:rPr sz="3822" spc="267" dirty="0">
                <a:solidFill>
                  <a:srgbClr val="252525"/>
                </a:solidFill>
              </a:rPr>
              <a:t> </a:t>
            </a:r>
            <a:r>
              <a:rPr sz="3822" dirty="0">
                <a:solidFill>
                  <a:srgbClr val="252525"/>
                </a:solidFill>
              </a:rPr>
              <a:t>let’s</a:t>
            </a:r>
            <a:r>
              <a:rPr sz="3822" spc="124" dirty="0">
                <a:solidFill>
                  <a:srgbClr val="252525"/>
                </a:solidFill>
              </a:rPr>
              <a:t> </a:t>
            </a:r>
            <a:r>
              <a:rPr sz="3822" dirty="0">
                <a:solidFill>
                  <a:srgbClr val="252525"/>
                </a:solidFill>
              </a:rPr>
              <a:t>show</a:t>
            </a:r>
            <a:r>
              <a:rPr sz="3822" spc="116" dirty="0">
                <a:solidFill>
                  <a:srgbClr val="252525"/>
                </a:solidFill>
              </a:rPr>
              <a:t> </a:t>
            </a:r>
            <a:r>
              <a:rPr sz="3822" dirty="0">
                <a:solidFill>
                  <a:srgbClr val="252525"/>
                </a:solidFill>
              </a:rPr>
              <a:t>you</a:t>
            </a:r>
            <a:r>
              <a:rPr sz="3822" spc="-116" dirty="0">
                <a:solidFill>
                  <a:srgbClr val="252525"/>
                </a:solidFill>
              </a:rPr>
              <a:t> </a:t>
            </a:r>
            <a:r>
              <a:rPr sz="3822" dirty="0">
                <a:solidFill>
                  <a:srgbClr val="252525"/>
                </a:solidFill>
              </a:rPr>
              <a:t>a</a:t>
            </a:r>
            <a:r>
              <a:rPr sz="3822" spc="71" dirty="0">
                <a:solidFill>
                  <a:srgbClr val="252525"/>
                </a:solidFill>
              </a:rPr>
              <a:t> </a:t>
            </a:r>
            <a:r>
              <a:rPr sz="3822" dirty="0">
                <a:solidFill>
                  <a:srgbClr val="252525"/>
                </a:solidFill>
              </a:rPr>
              <a:t>result</a:t>
            </a:r>
            <a:r>
              <a:rPr sz="3822" spc="213" dirty="0">
                <a:solidFill>
                  <a:srgbClr val="252525"/>
                </a:solidFill>
              </a:rPr>
              <a:t> </a:t>
            </a:r>
            <a:r>
              <a:rPr sz="3822" dirty="0">
                <a:solidFill>
                  <a:srgbClr val="252525"/>
                </a:solidFill>
              </a:rPr>
              <a:t>with</a:t>
            </a:r>
            <a:r>
              <a:rPr sz="3822" spc="18" dirty="0">
                <a:solidFill>
                  <a:srgbClr val="252525"/>
                </a:solidFill>
              </a:rPr>
              <a:t> </a:t>
            </a:r>
            <a:r>
              <a:rPr sz="3822" dirty="0">
                <a:solidFill>
                  <a:srgbClr val="252525"/>
                </a:solidFill>
              </a:rPr>
              <a:t>multiple</a:t>
            </a:r>
            <a:r>
              <a:rPr sz="3822" spc="240" dirty="0">
                <a:solidFill>
                  <a:srgbClr val="252525"/>
                </a:solidFill>
              </a:rPr>
              <a:t> </a:t>
            </a:r>
            <a:r>
              <a:rPr sz="3822" spc="-18" dirty="0">
                <a:solidFill>
                  <a:srgbClr val="252525"/>
                </a:solidFill>
              </a:rPr>
              <a:t>lines.</a:t>
            </a:r>
            <a:endParaRPr sz="3822"/>
          </a:p>
        </p:txBody>
      </p:sp>
      <p:sp>
        <p:nvSpPr>
          <p:cNvPr id="3" name="object 3"/>
          <p:cNvSpPr txBox="1"/>
          <p:nvPr/>
        </p:nvSpPr>
        <p:spPr>
          <a:xfrm>
            <a:off x="1593950" y="7410795"/>
            <a:ext cx="18486233" cy="3621907"/>
          </a:xfrm>
          <a:prstGeom prst="rect">
            <a:avLst/>
          </a:prstGeom>
        </p:spPr>
        <p:txBody>
          <a:bodyPr vert="horz" wrap="square" lIns="0" tIns="165943" rIns="0" bIns="0" rtlCol="0">
            <a:spAutoFit/>
          </a:bodyPr>
          <a:lstStyle/>
          <a:p>
            <a:pPr marL="22577" marR="9031">
              <a:lnSpc>
                <a:spcPct val="76400"/>
              </a:lnSpc>
              <a:spcBef>
                <a:spcPts val="1307"/>
              </a:spcBef>
            </a:pPr>
            <a:r>
              <a:rPr sz="3822" dirty="0">
                <a:solidFill>
                  <a:srgbClr val="252525"/>
                </a:solidFill>
                <a:latin typeface="Calibri Light"/>
                <a:cs typeface="Calibri Light"/>
              </a:rPr>
              <a:t>The</a:t>
            </a:r>
            <a:r>
              <a:rPr sz="3822" spc="18" dirty="0">
                <a:solidFill>
                  <a:srgbClr val="252525"/>
                </a:solidFill>
                <a:latin typeface="Calibri Light"/>
                <a:cs typeface="Calibri Light"/>
              </a:rPr>
              <a:t> </a:t>
            </a:r>
            <a:r>
              <a:rPr sz="3822" dirty="0">
                <a:solidFill>
                  <a:srgbClr val="252525"/>
                </a:solidFill>
                <a:latin typeface="Calibri Light"/>
                <a:cs typeface="Calibri Light"/>
              </a:rPr>
              <a:t>first</a:t>
            </a:r>
            <a:r>
              <a:rPr sz="3822" spc="293" dirty="0">
                <a:solidFill>
                  <a:srgbClr val="252525"/>
                </a:solidFill>
                <a:latin typeface="Calibri Light"/>
                <a:cs typeface="Calibri Light"/>
              </a:rPr>
              <a:t> </a:t>
            </a:r>
            <a:r>
              <a:rPr sz="3822" dirty="0">
                <a:solidFill>
                  <a:srgbClr val="252525"/>
                </a:solidFill>
                <a:latin typeface="Calibri Light"/>
                <a:cs typeface="Calibri Light"/>
              </a:rPr>
              <a:t>line</a:t>
            </a:r>
            <a:r>
              <a:rPr sz="3822" spc="178" dirty="0">
                <a:solidFill>
                  <a:srgbClr val="252525"/>
                </a:solidFill>
                <a:latin typeface="Calibri Light"/>
                <a:cs typeface="Calibri Light"/>
              </a:rPr>
              <a:t> </a:t>
            </a:r>
            <a:r>
              <a:rPr sz="3822" dirty="0">
                <a:solidFill>
                  <a:srgbClr val="252525"/>
                </a:solidFill>
                <a:latin typeface="Calibri Light"/>
                <a:cs typeface="Calibri Light"/>
              </a:rPr>
              <a:t>of</a:t>
            </a:r>
            <a:r>
              <a:rPr sz="3822" spc="133" dirty="0">
                <a:solidFill>
                  <a:srgbClr val="252525"/>
                </a:solidFill>
                <a:latin typeface="Calibri Light"/>
                <a:cs typeface="Calibri Light"/>
              </a:rPr>
              <a:t> </a:t>
            </a:r>
            <a:r>
              <a:rPr sz="3822" dirty="0">
                <a:solidFill>
                  <a:srgbClr val="252525"/>
                </a:solidFill>
                <a:latin typeface="Calibri Light"/>
                <a:cs typeface="Calibri Light"/>
              </a:rPr>
              <a:t>results</a:t>
            </a:r>
            <a:r>
              <a:rPr sz="3822" spc="203" dirty="0">
                <a:solidFill>
                  <a:srgbClr val="252525"/>
                </a:solidFill>
                <a:latin typeface="Calibri Light"/>
                <a:cs typeface="Calibri Light"/>
              </a:rPr>
              <a:t> </a:t>
            </a:r>
            <a:r>
              <a:rPr sz="3822" dirty="0">
                <a:solidFill>
                  <a:srgbClr val="252525"/>
                </a:solidFill>
                <a:latin typeface="Calibri Light"/>
                <a:cs typeface="Calibri Light"/>
              </a:rPr>
              <a:t>starts</a:t>
            </a:r>
            <a:r>
              <a:rPr sz="3822" spc="-80" dirty="0">
                <a:solidFill>
                  <a:srgbClr val="252525"/>
                </a:solidFill>
                <a:latin typeface="Calibri Light"/>
                <a:cs typeface="Calibri Light"/>
              </a:rPr>
              <a:t> </a:t>
            </a:r>
            <a:r>
              <a:rPr sz="3822" dirty="0">
                <a:solidFill>
                  <a:srgbClr val="252525"/>
                </a:solidFill>
                <a:latin typeface="Calibri Light"/>
                <a:cs typeface="Calibri Light"/>
              </a:rPr>
              <a:t>with</a:t>
            </a:r>
            <a:r>
              <a:rPr sz="3822" spc="89" dirty="0">
                <a:solidFill>
                  <a:srgbClr val="252525"/>
                </a:solidFill>
                <a:latin typeface="Calibri Light"/>
                <a:cs typeface="Calibri Light"/>
              </a:rPr>
              <a:t> </a:t>
            </a:r>
            <a:r>
              <a:rPr sz="3822" dirty="0">
                <a:solidFill>
                  <a:srgbClr val="252525"/>
                </a:solidFill>
                <a:latin typeface="Calibri Light"/>
                <a:cs typeface="Calibri Light"/>
              </a:rPr>
              <a:t>a</a:t>
            </a:r>
            <a:r>
              <a:rPr sz="3822" spc="133" dirty="0">
                <a:solidFill>
                  <a:srgbClr val="252525"/>
                </a:solidFill>
                <a:latin typeface="Calibri Light"/>
                <a:cs typeface="Calibri Light"/>
              </a:rPr>
              <a:t> </a:t>
            </a:r>
            <a:r>
              <a:rPr sz="3822" dirty="0">
                <a:solidFill>
                  <a:srgbClr val="252525"/>
                </a:solidFill>
                <a:latin typeface="Calibri Light"/>
                <a:cs typeface="Calibri Light"/>
              </a:rPr>
              <a:t>1</a:t>
            </a:r>
            <a:r>
              <a:rPr sz="3822" spc="-9" dirty="0">
                <a:solidFill>
                  <a:srgbClr val="252525"/>
                </a:solidFill>
                <a:latin typeface="Calibri Light"/>
                <a:cs typeface="Calibri Light"/>
              </a:rPr>
              <a:t> </a:t>
            </a:r>
            <a:r>
              <a:rPr sz="3822" dirty="0">
                <a:solidFill>
                  <a:srgbClr val="252525"/>
                </a:solidFill>
                <a:latin typeface="Calibri Light"/>
                <a:cs typeface="Calibri Light"/>
              </a:rPr>
              <a:t>in</a:t>
            </a:r>
            <a:r>
              <a:rPr sz="3822" spc="213" dirty="0">
                <a:solidFill>
                  <a:srgbClr val="252525"/>
                </a:solidFill>
                <a:latin typeface="Calibri Light"/>
                <a:cs typeface="Calibri Light"/>
              </a:rPr>
              <a:t> </a:t>
            </a:r>
            <a:r>
              <a:rPr sz="3822" dirty="0">
                <a:solidFill>
                  <a:srgbClr val="252525"/>
                </a:solidFill>
                <a:latin typeface="Calibri Light"/>
                <a:cs typeface="Calibri Light"/>
              </a:rPr>
              <a:t>brackets</a:t>
            </a:r>
            <a:r>
              <a:rPr sz="3822" spc="203" dirty="0">
                <a:solidFill>
                  <a:srgbClr val="252525"/>
                </a:solidFill>
                <a:latin typeface="Calibri Light"/>
                <a:cs typeface="Calibri Light"/>
              </a:rPr>
              <a:t> </a:t>
            </a:r>
            <a:r>
              <a:rPr sz="3822" dirty="0">
                <a:solidFill>
                  <a:srgbClr val="252525"/>
                </a:solidFill>
                <a:latin typeface="Calibri Light"/>
                <a:cs typeface="Calibri Light"/>
              </a:rPr>
              <a:t>(i.e.,</a:t>
            </a:r>
            <a:r>
              <a:rPr sz="3822" spc="196" dirty="0">
                <a:solidFill>
                  <a:srgbClr val="252525"/>
                </a:solidFill>
                <a:latin typeface="Calibri Light"/>
                <a:cs typeface="Calibri Light"/>
              </a:rPr>
              <a:t> </a:t>
            </a:r>
            <a:r>
              <a:rPr sz="3822" dirty="0">
                <a:solidFill>
                  <a:srgbClr val="252525"/>
                </a:solidFill>
                <a:latin typeface="Calibri Light"/>
                <a:cs typeface="Calibri Light"/>
              </a:rPr>
              <a:t>[1]),</a:t>
            </a:r>
            <a:r>
              <a:rPr sz="3822" spc="-196" dirty="0">
                <a:solidFill>
                  <a:srgbClr val="252525"/>
                </a:solidFill>
                <a:latin typeface="Calibri Light"/>
                <a:cs typeface="Calibri Light"/>
              </a:rPr>
              <a:t> </a:t>
            </a:r>
            <a:r>
              <a:rPr sz="3822" dirty="0">
                <a:solidFill>
                  <a:srgbClr val="252525"/>
                </a:solidFill>
                <a:latin typeface="Calibri Light"/>
                <a:cs typeface="Calibri Light"/>
              </a:rPr>
              <a:t>which</a:t>
            </a:r>
            <a:r>
              <a:rPr sz="3822" spc="356" dirty="0">
                <a:solidFill>
                  <a:srgbClr val="252525"/>
                </a:solidFill>
                <a:latin typeface="Calibri Light"/>
                <a:cs typeface="Calibri Light"/>
              </a:rPr>
              <a:t> </a:t>
            </a:r>
            <a:r>
              <a:rPr sz="3822" dirty="0">
                <a:solidFill>
                  <a:srgbClr val="252525"/>
                </a:solidFill>
                <a:latin typeface="Calibri Light"/>
                <a:cs typeface="Calibri Light"/>
              </a:rPr>
              <a:t>indicates</a:t>
            </a:r>
            <a:r>
              <a:rPr sz="3822" spc="203" dirty="0">
                <a:solidFill>
                  <a:srgbClr val="252525"/>
                </a:solidFill>
                <a:latin typeface="Calibri Light"/>
                <a:cs typeface="Calibri Light"/>
              </a:rPr>
              <a:t> </a:t>
            </a:r>
            <a:r>
              <a:rPr sz="3822" dirty="0">
                <a:solidFill>
                  <a:srgbClr val="252525"/>
                </a:solidFill>
                <a:latin typeface="Calibri Light"/>
                <a:cs typeface="Calibri Light"/>
              </a:rPr>
              <a:t>that</a:t>
            </a:r>
            <a:r>
              <a:rPr sz="3822" spc="27" dirty="0">
                <a:solidFill>
                  <a:srgbClr val="252525"/>
                </a:solidFill>
                <a:latin typeface="Calibri Light"/>
                <a:cs typeface="Calibri Light"/>
              </a:rPr>
              <a:t> </a:t>
            </a:r>
            <a:r>
              <a:rPr sz="3822" dirty="0">
                <a:solidFill>
                  <a:srgbClr val="252525"/>
                </a:solidFill>
                <a:latin typeface="Calibri Light"/>
                <a:cs typeface="Calibri Light"/>
              </a:rPr>
              <a:t>this</a:t>
            </a:r>
            <a:r>
              <a:rPr sz="3822" spc="53" dirty="0">
                <a:solidFill>
                  <a:srgbClr val="252525"/>
                </a:solidFill>
                <a:latin typeface="Calibri Light"/>
                <a:cs typeface="Calibri Light"/>
              </a:rPr>
              <a:t> </a:t>
            </a:r>
            <a:r>
              <a:rPr sz="3822" dirty="0">
                <a:solidFill>
                  <a:srgbClr val="252525"/>
                </a:solidFill>
                <a:latin typeface="Calibri Light"/>
                <a:cs typeface="Calibri Light"/>
              </a:rPr>
              <a:t>line</a:t>
            </a:r>
            <a:r>
              <a:rPr sz="3822" spc="178" dirty="0">
                <a:solidFill>
                  <a:srgbClr val="252525"/>
                </a:solidFill>
                <a:latin typeface="Calibri Light"/>
                <a:cs typeface="Calibri Light"/>
              </a:rPr>
              <a:t> </a:t>
            </a:r>
            <a:r>
              <a:rPr sz="3822" spc="-44" dirty="0">
                <a:solidFill>
                  <a:srgbClr val="252525"/>
                </a:solidFill>
                <a:latin typeface="Calibri Light"/>
                <a:cs typeface="Calibri Light"/>
              </a:rPr>
              <a:t>of </a:t>
            </a:r>
            <a:r>
              <a:rPr sz="3822" dirty="0">
                <a:solidFill>
                  <a:srgbClr val="252525"/>
                </a:solidFill>
                <a:latin typeface="Calibri Light"/>
                <a:cs typeface="Calibri Light"/>
              </a:rPr>
              <a:t>results</a:t>
            </a:r>
            <a:r>
              <a:rPr sz="3822" spc="196" dirty="0">
                <a:solidFill>
                  <a:srgbClr val="252525"/>
                </a:solidFill>
                <a:latin typeface="Calibri Light"/>
                <a:cs typeface="Calibri Light"/>
              </a:rPr>
              <a:t> </a:t>
            </a:r>
            <a:r>
              <a:rPr sz="3822" dirty="0">
                <a:solidFill>
                  <a:srgbClr val="252525"/>
                </a:solidFill>
                <a:latin typeface="Calibri Light"/>
                <a:cs typeface="Calibri Light"/>
              </a:rPr>
              <a:t>starts</a:t>
            </a:r>
            <a:r>
              <a:rPr sz="3822" spc="-71" dirty="0">
                <a:solidFill>
                  <a:srgbClr val="252525"/>
                </a:solidFill>
                <a:latin typeface="Calibri Light"/>
                <a:cs typeface="Calibri Light"/>
              </a:rPr>
              <a:t> </a:t>
            </a:r>
            <a:r>
              <a:rPr sz="3822" dirty="0">
                <a:solidFill>
                  <a:srgbClr val="252525"/>
                </a:solidFill>
                <a:latin typeface="Calibri Light"/>
                <a:cs typeface="Calibri Light"/>
              </a:rPr>
              <a:t>with</a:t>
            </a:r>
            <a:r>
              <a:rPr sz="3822" spc="98" dirty="0">
                <a:solidFill>
                  <a:srgbClr val="252525"/>
                </a:solidFill>
                <a:latin typeface="Calibri Light"/>
                <a:cs typeface="Calibri Light"/>
              </a:rPr>
              <a:t> </a:t>
            </a:r>
            <a:r>
              <a:rPr sz="3822" dirty="0">
                <a:solidFill>
                  <a:srgbClr val="252525"/>
                </a:solidFill>
                <a:latin typeface="Calibri Light"/>
                <a:cs typeface="Calibri Light"/>
              </a:rPr>
              <a:t>the</a:t>
            </a:r>
            <a:r>
              <a:rPr sz="3822" spc="44" dirty="0">
                <a:solidFill>
                  <a:srgbClr val="252525"/>
                </a:solidFill>
                <a:latin typeface="Calibri Light"/>
                <a:cs typeface="Calibri Light"/>
              </a:rPr>
              <a:t> </a:t>
            </a:r>
            <a:r>
              <a:rPr sz="3822" dirty="0">
                <a:solidFill>
                  <a:srgbClr val="252525"/>
                </a:solidFill>
                <a:latin typeface="Calibri Light"/>
                <a:cs typeface="Calibri Light"/>
              </a:rPr>
              <a:t>first</a:t>
            </a:r>
            <a:r>
              <a:rPr sz="3822" spc="311" dirty="0">
                <a:solidFill>
                  <a:srgbClr val="252525"/>
                </a:solidFill>
                <a:latin typeface="Calibri Light"/>
                <a:cs typeface="Calibri Light"/>
              </a:rPr>
              <a:t> </a:t>
            </a:r>
            <a:r>
              <a:rPr sz="3822" dirty="0">
                <a:solidFill>
                  <a:srgbClr val="252525"/>
                </a:solidFill>
                <a:latin typeface="Calibri Light"/>
                <a:cs typeface="Calibri Light"/>
              </a:rPr>
              <a:t>result.</a:t>
            </a:r>
            <a:r>
              <a:rPr sz="3822" spc="89" dirty="0">
                <a:solidFill>
                  <a:srgbClr val="252525"/>
                </a:solidFill>
                <a:latin typeface="Calibri Light"/>
                <a:cs typeface="Calibri Light"/>
              </a:rPr>
              <a:t> </a:t>
            </a:r>
            <a:r>
              <a:rPr sz="3822" dirty="0">
                <a:solidFill>
                  <a:srgbClr val="252525"/>
                </a:solidFill>
                <a:latin typeface="Calibri Light"/>
                <a:cs typeface="Calibri Light"/>
              </a:rPr>
              <a:t>In</a:t>
            </a:r>
            <a:r>
              <a:rPr sz="3822" spc="80" dirty="0">
                <a:solidFill>
                  <a:srgbClr val="252525"/>
                </a:solidFill>
                <a:latin typeface="Calibri Light"/>
                <a:cs typeface="Calibri Light"/>
              </a:rPr>
              <a:t> </a:t>
            </a:r>
            <a:r>
              <a:rPr sz="3822" dirty="0">
                <a:solidFill>
                  <a:srgbClr val="252525"/>
                </a:solidFill>
                <a:latin typeface="Calibri Light"/>
                <a:cs typeface="Calibri Light"/>
              </a:rPr>
              <a:t>this</a:t>
            </a:r>
            <a:r>
              <a:rPr sz="3822" spc="213" dirty="0">
                <a:solidFill>
                  <a:srgbClr val="252525"/>
                </a:solidFill>
                <a:latin typeface="Calibri Light"/>
                <a:cs typeface="Calibri Light"/>
              </a:rPr>
              <a:t> </a:t>
            </a:r>
            <a:r>
              <a:rPr sz="3822" dirty="0">
                <a:solidFill>
                  <a:srgbClr val="252525"/>
                </a:solidFill>
                <a:latin typeface="Calibri Light"/>
                <a:cs typeface="Calibri Light"/>
              </a:rPr>
              <a:t>case</a:t>
            </a:r>
            <a:r>
              <a:rPr sz="3822" spc="44" dirty="0">
                <a:solidFill>
                  <a:srgbClr val="252525"/>
                </a:solidFill>
                <a:latin typeface="Calibri Light"/>
                <a:cs typeface="Calibri Light"/>
              </a:rPr>
              <a:t> </a:t>
            </a:r>
            <a:r>
              <a:rPr sz="3822" dirty="0">
                <a:solidFill>
                  <a:srgbClr val="252525"/>
                </a:solidFill>
                <a:latin typeface="Calibri Light"/>
                <a:cs typeface="Calibri Light"/>
              </a:rPr>
              <a:t>the</a:t>
            </a:r>
            <a:r>
              <a:rPr sz="3822" spc="53" dirty="0">
                <a:solidFill>
                  <a:srgbClr val="252525"/>
                </a:solidFill>
                <a:latin typeface="Calibri Light"/>
                <a:cs typeface="Calibri Light"/>
              </a:rPr>
              <a:t> </a:t>
            </a:r>
            <a:r>
              <a:rPr sz="3822" dirty="0">
                <a:solidFill>
                  <a:srgbClr val="252525"/>
                </a:solidFill>
                <a:latin typeface="Calibri Light"/>
                <a:cs typeface="Calibri Light"/>
              </a:rPr>
              <a:t>first</a:t>
            </a:r>
            <a:r>
              <a:rPr sz="3822" spc="151" dirty="0">
                <a:solidFill>
                  <a:srgbClr val="252525"/>
                </a:solidFill>
                <a:latin typeface="Calibri Light"/>
                <a:cs typeface="Calibri Light"/>
              </a:rPr>
              <a:t> </a:t>
            </a:r>
            <a:r>
              <a:rPr sz="3822" dirty="0">
                <a:solidFill>
                  <a:srgbClr val="252525"/>
                </a:solidFill>
                <a:latin typeface="Calibri Light"/>
                <a:cs typeface="Calibri Light"/>
              </a:rPr>
              <a:t>result</a:t>
            </a:r>
            <a:r>
              <a:rPr sz="3822" spc="302" dirty="0">
                <a:solidFill>
                  <a:srgbClr val="252525"/>
                </a:solidFill>
                <a:latin typeface="Calibri Light"/>
                <a:cs typeface="Calibri Light"/>
              </a:rPr>
              <a:t> </a:t>
            </a:r>
            <a:r>
              <a:rPr sz="3822" dirty="0">
                <a:solidFill>
                  <a:srgbClr val="252525"/>
                </a:solidFill>
                <a:latin typeface="Calibri Light"/>
                <a:cs typeface="Calibri Light"/>
              </a:rPr>
              <a:t>is</a:t>
            </a:r>
            <a:r>
              <a:rPr sz="3822" spc="71" dirty="0">
                <a:solidFill>
                  <a:srgbClr val="252525"/>
                </a:solidFill>
                <a:latin typeface="Calibri Light"/>
                <a:cs typeface="Calibri Light"/>
              </a:rPr>
              <a:t> </a:t>
            </a:r>
            <a:r>
              <a:rPr sz="3822" dirty="0">
                <a:solidFill>
                  <a:srgbClr val="252525"/>
                </a:solidFill>
                <a:latin typeface="Calibri Light"/>
                <a:cs typeface="Calibri Light"/>
              </a:rPr>
              <a:t>the</a:t>
            </a:r>
            <a:r>
              <a:rPr sz="3822" spc="44" dirty="0">
                <a:solidFill>
                  <a:srgbClr val="252525"/>
                </a:solidFill>
                <a:latin typeface="Calibri Light"/>
                <a:cs typeface="Calibri Light"/>
              </a:rPr>
              <a:t> </a:t>
            </a:r>
            <a:r>
              <a:rPr sz="3822" dirty="0">
                <a:solidFill>
                  <a:srgbClr val="252525"/>
                </a:solidFill>
                <a:latin typeface="Calibri Light"/>
                <a:cs typeface="Calibri Light"/>
              </a:rPr>
              <a:t>number</a:t>
            </a:r>
            <a:r>
              <a:rPr sz="3822" spc="240" dirty="0">
                <a:solidFill>
                  <a:srgbClr val="252525"/>
                </a:solidFill>
                <a:latin typeface="Calibri Light"/>
                <a:cs typeface="Calibri Light"/>
              </a:rPr>
              <a:t> </a:t>
            </a:r>
            <a:r>
              <a:rPr sz="3822" dirty="0">
                <a:solidFill>
                  <a:srgbClr val="252525"/>
                </a:solidFill>
                <a:latin typeface="Calibri Light"/>
                <a:cs typeface="Calibri Light"/>
              </a:rPr>
              <a:t>2.</a:t>
            </a:r>
            <a:r>
              <a:rPr sz="3822" spc="89" dirty="0">
                <a:solidFill>
                  <a:srgbClr val="252525"/>
                </a:solidFill>
                <a:latin typeface="Calibri Light"/>
                <a:cs typeface="Calibri Light"/>
              </a:rPr>
              <a:t> </a:t>
            </a:r>
            <a:r>
              <a:rPr sz="3822" dirty="0">
                <a:solidFill>
                  <a:srgbClr val="252525"/>
                </a:solidFill>
                <a:latin typeface="Calibri Light"/>
                <a:cs typeface="Calibri Light"/>
              </a:rPr>
              <a:t>The</a:t>
            </a:r>
            <a:r>
              <a:rPr sz="3822" spc="187" dirty="0">
                <a:solidFill>
                  <a:srgbClr val="252525"/>
                </a:solidFill>
                <a:latin typeface="Calibri Light"/>
                <a:cs typeface="Calibri Light"/>
              </a:rPr>
              <a:t> </a:t>
            </a:r>
            <a:r>
              <a:rPr sz="3822" dirty="0">
                <a:solidFill>
                  <a:srgbClr val="252525"/>
                </a:solidFill>
                <a:latin typeface="Calibri Light"/>
                <a:cs typeface="Calibri Light"/>
              </a:rPr>
              <a:t>second</a:t>
            </a:r>
            <a:r>
              <a:rPr sz="3822" spc="222" dirty="0">
                <a:solidFill>
                  <a:srgbClr val="252525"/>
                </a:solidFill>
                <a:latin typeface="Calibri Light"/>
                <a:cs typeface="Calibri Light"/>
              </a:rPr>
              <a:t> </a:t>
            </a:r>
            <a:r>
              <a:rPr sz="3822" spc="-36" dirty="0">
                <a:solidFill>
                  <a:srgbClr val="252525"/>
                </a:solidFill>
                <a:latin typeface="Calibri Light"/>
                <a:cs typeface="Calibri Light"/>
              </a:rPr>
              <a:t>line </a:t>
            </a:r>
            <a:r>
              <a:rPr sz="3822" dirty="0">
                <a:solidFill>
                  <a:srgbClr val="252525"/>
                </a:solidFill>
                <a:latin typeface="Calibri Light"/>
                <a:cs typeface="Calibri Light"/>
              </a:rPr>
              <a:t>of</a:t>
            </a:r>
            <a:r>
              <a:rPr sz="3822" spc="133" dirty="0">
                <a:solidFill>
                  <a:srgbClr val="252525"/>
                </a:solidFill>
                <a:latin typeface="Calibri Light"/>
                <a:cs typeface="Calibri Light"/>
              </a:rPr>
              <a:t> </a:t>
            </a:r>
            <a:r>
              <a:rPr sz="3822" dirty="0">
                <a:solidFill>
                  <a:srgbClr val="252525"/>
                </a:solidFill>
                <a:latin typeface="Calibri Light"/>
                <a:cs typeface="Calibri Light"/>
              </a:rPr>
              <a:t>results</a:t>
            </a:r>
            <a:r>
              <a:rPr sz="3822" spc="213" dirty="0">
                <a:solidFill>
                  <a:srgbClr val="252525"/>
                </a:solidFill>
                <a:latin typeface="Calibri Light"/>
                <a:cs typeface="Calibri Light"/>
              </a:rPr>
              <a:t> </a:t>
            </a:r>
            <a:r>
              <a:rPr sz="3822" dirty="0">
                <a:solidFill>
                  <a:srgbClr val="252525"/>
                </a:solidFill>
                <a:latin typeface="Calibri Light"/>
                <a:cs typeface="Calibri Light"/>
              </a:rPr>
              <a:t>starts</a:t>
            </a:r>
            <a:r>
              <a:rPr sz="3822" spc="-53" dirty="0">
                <a:solidFill>
                  <a:srgbClr val="252525"/>
                </a:solidFill>
                <a:latin typeface="Calibri Light"/>
                <a:cs typeface="Calibri Light"/>
              </a:rPr>
              <a:t> </a:t>
            </a:r>
            <a:r>
              <a:rPr sz="3822" dirty="0">
                <a:solidFill>
                  <a:srgbClr val="252525"/>
                </a:solidFill>
                <a:latin typeface="Calibri Light"/>
                <a:cs typeface="Calibri Light"/>
              </a:rPr>
              <a:t>with</a:t>
            </a:r>
            <a:r>
              <a:rPr sz="3822" spc="98" dirty="0">
                <a:solidFill>
                  <a:srgbClr val="252525"/>
                </a:solidFill>
                <a:latin typeface="Calibri Light"/>
                <a:cs typeface="Calibri Light"/>
              </a:rPr>
              <a:t> </a:t>
            </a:r>
            <a:r>
              <a:rPr sz="3822" dirty="0">
                <a:solidFill>
                  <a:srgbClr val="252525"/>
                </a:solidFill>
                <a:latin typeface="Calibri Light"/>
                <a:cs typeface="Calibri Light"/>
              </a:rPr>
              <a:t>a</a:t>
            </a:r>
            <a:r>
              <a:rPr sz="3822" spc="151" dirty="0">
                <a:solidFill>
                  <a:srgbClr val="252525"/>
                </a:solidFill>
                <a:latin typeface="Calibri Light"/>
                <a:cs typeface="Calibri Light"/>
              </a:rPr>
              <a:t> </a:t>
            </a:r>
            <a:r>
              <a:rPr lang="en-CA" sz="3822" dirty="0">
                <a:solidFill>
                  <a:srgbClr val="252525"/>
                </a:solidFill>
                <a:latin typeface="Calibri Light"/>
                <a:cs typeface="Calibri Light"/>
              </a:rPr>
              <a:t>17</a:t>
            </a:r>
            <a:r>
              <a:rPr sz="3822" spc="9" dirty="0">
                <a:solidFill>
                  <a:srgbClr val="252525"/>
                </a:solidFill>
                <a:latin typeface="Calibri Light"/>
                <a:cs typeface="Calibri Light"/>
              </a:rPr>
              <a:t> </a:t>
            </a:r>
            <a:r>
              <a:rPr sz="3822" dirty="0">
                <a:solidFill>
                  <a:srgbClr val="252525"/>
                </a:solidFill>
                <a:latin typeface="Calibri Light"/>
                <a:cs typeface="Calibri Light"/>
              </a:rPr>
              <a:t>in</a:t>
            </a:r>
            <a:r>
              <a:rPr sz="3822" spc="98" dirty="0">
                <a:solidFill>
                  <a:srgbClr val="252525"/>
                </a:solidFill>
                <a:latin typeface="Calibri Light"/>
                <a:cs typeface="Calibri Light"/>
              </a:rPr>
              <a:t> </a:t>
            </a:r>
            <a:r>
              <a:rPr sz="3822" dirty="0">
                <a:solidFill>
                  <a:srgbClr val="252525"/>
                </a:solidFill>
                <a:latin typeface="Calibri Light"/>
                <a:cs typeface="Calibri Light"/>
              </a:rPr>
              <a:t>brackets</a:t>
            </a:r>
            <a:r>
              <a:rPr sz="3822" spc="222" dirty="0">
                <a:solidFill>
                  <a:srgbClr val="252525"/>
                </a:solidFill>
                <a:latin typeface="Calibri Light"/>
                <a:cs typeface="Calibri Light"/>
              </a:rPr>
              <a:t> </a:t>
            </a:r>
            <a:r>
              <a:rPr sz="3822" dirty="0">
                <a:solidFill>
                  <a:srgbClr val="252525"/>
                </a:solidFill>
                <a:latin typeface="Calibri Light"/>
                <a:cs typeface="Calibri Light"/>
              </a:rPr>
              <a:t>(i.e.,</a:t>
            </a:r>
            <a:r>
              <a:rPr sz="3822" spc="222" dirty="0">
                <a:solidFill>
                  <a:srgbClr val="252525"/>
                </a:solidFill>
                <a:latin typeface="Calibri Light"/>
                <a:cs typeface="Calibri Light"/>
              </a:rPr>
              <a:t> </a:t>
            </a:r>
            <a:r>
              <a:rPr sz="3822" dirty="0">
                <a:solidFill>
                  <a:srgbClr val="252525"/>
                </a:solidFill>
                <a:latin typeface="Calibri Light"/>
                <a:cs typeface="Calibri Light"/>
              </a:rPr>
              <a:t>[</a:t>
            </a:r>
            <a:r>
              <a:rPr lang="en-CA" sz="3822" dirty="0">
                <a:solidFill>
                  <a:srgbClr val="252525"/>
                </a:solidFill>
                <a:latin typeface="Calibri Light"/>
                <a:cs typeface="Calibri Light"/>
              </a:rPr>
              <a:t>17</a:t>
            </a:r>
            <a:r>
              <a:rPr sz="3822" dirty="0">
                <a:solidFill>
                  <a:srgbClr val="252525"/>
                </a:solidFill>
                <a:latin typeface="Calibri Light"/>
                <a:cs typeface="Calibri Light"/>
              </a:rPr>
              <a:t>]),</a:t>
            </a:r>
            <a:r>
              <a:rPr sz="3822" spc="-53" dirty="0">
                <a:solidFill>
                  <a:srgbClr val="252525"/>
                </a:solidFill>
                <a:latin typeface="Calibri Light"/>
                <a:cs typeface="Calibri Light"/>
              </a:rPr>
              <a:t> </a:t>
            </a:r>
            <a:r>
              <a:rPr sz="3822" dirty="0">
                <a:solidFill>
                  <a:srgbClr val="252525"/>
                </a:solidFill>
                <a:latin typeface="Calibri Light"/>
                <a:cs typeface="Calibri Light"/>
              </a:rPr>
              <a:t>which</a:t>
            </a:r>
            <a:r>
              <a:rPr sz="3822" spc="382" dirty="0">
                <a:solidFill>
                  <a:srgbClr val="252525"/>
                </a:solidFill>
                <a:latin typeface="Calibri Light"/>
                <a:cs typeface="Calibri Light"/>
              </a:rPr>
              <a:t> </a:t>
            </a:r>
            <a:r>
              <a:rPr sz="3822" dirty="0">
                <a:solidFill>
                  <a:srgbClr val="252525"/>
                </a:solidFill>
                <a:latin typeface="Calibri Light"/>
                <a:cs typeface="Calibri Light"/>
              </a:rPr>
              <a:t>indicates</a:t>
            </a:r>
            <a:r>
              <a:rPr sz="3822" spc="222" dirty="0">
                <a:solidFill>
                  <a:srgbClr val="252525"/>
                </a:solidFill>
                <a:latin typeface="Calibri Light"/>
                <a:cs typeface="Calibri Light"/>
              </a:rPr>
              <a:t> </a:t>
            </a:r>
            <a:r>
              <a:rPr sz="3822" dirty="0">
                <a:solidFill>
                  <a:srgbClr val="252525"/>
                </a:solidFill>
                <a:latin typeface="Calibri Light"/>
                <a:cs typeface="Calibri Light"/>
              </a:rPr>
              <a:t>that</a:t>
            </a:r>
            <a:r>
              <a:rPr sz="3822" spc="-116" dirty="0">
                <a:solidFill>
                  <a:srgbClr val="252525"/>
                </a:solidFill>
                <a:latin typeface="Calibri Light"/>
                <a:cs typeface="Calibri Light"/>
              </a:rPr>
              <a:t> </a:t>
            </a:r>
            <a:r>
              <a:rPr sz="3822" dirty="0">
                <a:solidFill>
                  <a:srgbClr val="252525"/>
                </a:solidFill>
                <a:latin typeface="Calibri Light"/>
                <a:cs typeface="Calibri Light"/>
              </a:rPr>
              <a:t>this</a:t>
            </a:r>
            <a:r>
              <a:rPr sz="3822" spc="222" dirty="0">
                <a:solidFill>
                  <a:srgbClr val="252525"/>
                </a:solidFill>
                <a:latin typeface="Calibri Light"/>
                <a:cs typeface="Calibri Light"/>
              </a:rPr>
              <a:t> </a:t>
            </a:r>
            <a:r>
              <a:rPr sz="3822" dirty="0">
                <a:solidFill>
                  <a:srgbClr val="252525"/>
                </a:solidFill>
                <a:latin typeface="Calibri Light"/>
                <a:cs typeface="Calibri Light"/>
              </a:rPr>
              <a:t>line</a:t>
            </a:r>
            <a:r>
              <a:rPr sz="3822" spc="196" dirty="0">
                <a:solidFill>
                  <a:srgbClr val="252525"/>
                </a:solidFill>
                <a:latin typeface="Calibri Light"/>
                <a:cs typeface="Calibri Light"/>
              </a:rPr>
              <a:t> </a:t>
            </a:r>
            <a:r>
              <a:rPr sz="3822" dirty="0">
                <a:solidFill>
                  <a:srgbClr val="252525"/>
                </a:solidFill>
                <a:latin typeface="Calibri Light"/>
                <a:cs typeface="Calibri Light"/>
              </a:rPr>
              <a:t>of</a:t>
            </a:r>
            <a:r>
              <a:rPr sz="3822" spc="151" dirty="0">
                <a:solidFill>
                  <a:srgbClr val="252525"/>
                </a:solidFill>
                <a:latin typeface="Calibri Light"/>
                <a:cs typeface="Calibri Light"/>
              </a:rPr>
              <a:t> </a:t>
            </a:r>
            <a:r>
              <a:rPr sz="3822" dirty="0">
                <a:solidFill>
                  <a:srgbClr val="252525"/>
                </a:solidFill>
                <a:latin typeface="Calibri Light"/>
                <a:cs typeface="Calibri Light"/>
              </a:rPr>
              <a:t>results</a:t>
            </a:r>
            <a:r>
              <a:rPr sz="3822" spc="222" dirty="0">
                <a:solidFill>
                  <a:srgbClr val="252525"/>
                </a:solidFill>
                <a:latin typeface="Calibri Light"/>
                <a:cs typeface="Calibri Light"/>
              </a:rPr>
              <a:t> </a:t>
            </a:r>
            <a:r>
              <a:rPr sz="3822" spc="-18" dirty="0">
                <a:solidFill>
                  <a:srgbClr val="252525"/>
                </a:solidFill>
                <a:latin typeface="Calibri Light"/>
                <a:cs typeface="Calibri Light"/>
              </a:rPr>
              <a:t>starts </a:t>
            </a:r>
            <a:r>
              <a:rPr sz="3822" dirty="0">
                <a:solidFill>
                  <a:srgbClr val="252525"/>
                </a:solidFill>
                <a:latin typeface="Calibri Light"/>
                <a:cs typeface="Calibri Light"/>
              </a:rPr>
              <a:t>with</a:t>
            </a:r>
            <a:r>
              <a:rPr sz="3822" spc="107" dirty="0">
                <a:solidFill>
                  <a:srgbClr val="252525"/>
                </a:solidFill>
                <a:latin typeface="Calibri Light"/>
                <a:cs typeface="Calibri Light"/>
              </a:rPr>
              <a:t> </a:t>
            </a:r>
            <a:r>
              <a:rPr sz="3822" dirty="0">
                <a:solidFill>
                  <a:srgbClr val="252525"/>
                </a:solidFill>
                <a:latin typeface="Calibri Light"/>
                <a:cs typeface="Calibri Light"/>
              </a:rPr>
              <a:t>the</a:t>
            </a:r>
            <a:r>
              <a:rPr sz="3822" spc="80" dirty="0">
                <a:solidFill>
                  <a:srgbClr val="252525"/>
                </a:solidFill>
                <a:latin typeface="Calibri Light"/>
                <a:cs typeface="Calibri Light"/>
              </a:rPr>
              <a:t> </a:t>
            </a:r>
            <a:r>
              <a:rPr lang="en-CA" sz="3822" dirty="0">
                <a:solidFill>
                  <a:srgbClr val="252525"/>
                </a:solidFill>
                <a:latin typeface="Calibri Light"/>
                <a:cs typeface="Calibri Light"/>
              </a:rPr>
              <a:t>seventeenth</a:t>
            </a:r>
            <a:r>
              <a:rPr sz="3822" spc="107" dirty="0">
                <a:solidFill>
                  <a:srgbClr val="252525"/>
                </a:solidFill>
                <a:latin typeface="Calibri Light"/>
                <a:cs typeface="Calibri Light"/>
              </a:rPr>
              <a:t> </a:t>
            </a:r>
            <a:r>
              <a:rPr sz="3822" dirty="0">
                <a:solidFill>
                  <a:srgbClr val="252525"/>
                </a:solidFill>
                <a:latin typeface="Calibri Light"/>
                <a:cs typeface="Calibri Light"/>
              </a:rPr>
              <a:t>result.</a:t>
            </a:r>
            <a:r>
              <a:rPr sz="3822" spc="249" dirty="0">
                <a:solidFill>
                  <a:srgbClr val="252525"/>
                </a:solidFill>
                <a:latin typeface="Calibri Light"/>
                <a:cs typeface="Calibri Light"/>
              </a:rPr>
              <a:t> </a:t>
            </a:r>
            <a:r>
              <a:rPr sz="3822" dirty="0">
                <a:solidFill>
                  <a:srgbClr val="252525"/>
                </a:solidFill>
                <a:latin typeface="Calibri Light"/>
                <a:cs typeface="Calibri Light"/>
              </a:rPr>
              <a:t>In</a:t>
            </a:r>
            <a:r>
              <a:rPr sz="3822" spc="98" dirty="0">
                <a:solidFill>
                  <a:srgbClr val="252525"/>
                </a:solidFill>
                <a:latin typeface="Calibri Light"/>
                <a:cs typeface="Calibri Light"/>
              </a:rPr>
              <a:t> </a:t>
            </a:r>
            <a:r>
              <a:rPr sz="3822" dirty="0">
                <a:solidFill>
                  <a:srgbClr val="252525"/>
                </a:solidFill>
                <a:latin typeface="Calibri Light"/>
                <a:cs typeface="Calibri Light"/>
              </a:rPr>
              <a:t>this</a:t>
            </a:r>
            <a:r>
              <a:rPr sz="3822" spc="240" dirty="0">
                <a:solidFill>
                  <a:srgbClr val="252525"/>
                </a:solidFill>
                <a:latin typeface="Calibri Light"/>
                <a:cs typeface="Calibri Light"/>
              </a:rPr>
              <a:t> </a:t>
            </a:r>
            <a:r>
              <a:rPr sz="3822" dirty="0">
                <a:solidFill>
                  <a:srgbClr val="252525"/>
                </a:solidFill>
                <a:latin typeface="Calibri Light"/>
                <a:cs typeface="Calibri Light"/>
              </a:rPr>
              <a:t>case</a:t>
            </a:r>
            <a:r>
              <a:rPr sz="3822" spc="71" dirty="0">
                <a:solidFill>
                  <a:srgbClr val="252525"/>
                </a:solidFill>
                <a:latin typeface="Calibri Light"/>
                <a:cs typeface="Calibri Light"/>
              </a:rPr>
              <a:t> </a:t>
            </a:r>
            <a:r>
              <a:rPr sz="3822" dirty="0">
                <a:solidFill>
                  <a:srgbClr val="252525"/>
                </a:solidFill>
                <a:latin typeface="Calibri Light"/>
                <a:cs typeface="Calibri Light"/>
              </a:rPr>
              <a:t>the</a:t>
            </a:r>
            <a:r>
              <a:rPr sz="3822" spc="80" dirty="0">
                <a:solidFill>
                  <a:srgbClr val="252525"/>
                </a:solidFill>
                <a:latin typeface="Calibri Light"/>
                <a:cs typeface="Calibri Light"/>
              </a:rPr>
              <a:t> </a:t>
            </a:r>
            <a:r>
              <a:rPr lang="en-CA" sz="3822" dirty="0">
                <a:solidFill>
                  <a:srgbClr val="252525"/>
                </a:solidFill>
                <a:latin typeface="Calibri Light"/>
                <a:cs typeface="Calibri Light"/>
              </a:rPr>
              <a:t>seventeenth</a:t>
            </a:r>
            <a:r>
              <a:rPr sz="3822" spc="116" dirty="0">
                <a:solidFill>
                  <a:srgbClr val="252525"/>
                </a:solidFill>
                <a:latin typeface="Calibri Light"/>
                <a:cs typeface="Calibri Light"/>
              </a:rPr>
              <a:t> </a:t>
            </a:r>
            <a:r>
              <a:rPr sz="3822" dirty="0">
                <a:solidFill>
                  <a:srgbClr val="252525"/>
                </a:solidFill>
                <a:latin typeface="Calibri Light"/>
                <a:cs typeface="Calibri Light"/>
              </a:rPr>
              <a:t>result</a:t>
            </a:r>
            <a:r>
              <a:rPr sz="3822" spc="320" dirty="0">
                <a:solidFill>
                  <a:srgbClr val="252525"/>
                </a:solidFill>
                <a:latin typeface="Calibri Light"/>
                <a:cs typeface="Calibri Light"/>
              </a:rPr>
              <a:t> </a:t>
            </a:r>
            <a:r>
              <a:rPr sz="3822" dirty="0">
                <a:solidFill>
                  <a:srgbClr val="252525"/>
                </a:solidFill>
                <a:latin typeface="Calibri Light"/>
                <a:cs typeface="Calibri Light"/>
              </a:rPr>
              <a:t>is</a:t>
            </a:r>
            <a:r>
              <a:rPr sz="3822" spc="89" dirty="0">
                <a:solidFill>
                  <a:srgbClr val="252525"/>
                </a:solidFill>
                <a:latin typeface="Calibri Light"/>
                <a:cs typeface="Calibri Light"/>
              </a:rPr>
              <a:t> </a:t>
            </a:r>
            <a:r>
              <a:rPr sz="3822" dirty="0">
                <a:solidFill>
                  <a:srgbClr val="252525"/>
                </a:solidFill>
                <a:latin typeface="Calibri Light"/>
                <a:cs typeface="Calibri Light"/>
              </a:rPr>
              <a:t>the</a:t>
            </a:r>
            <a:r>
              <a:rPr sz="3822" spc="71" dirty="0">
                <a:solidFill>
                  <a:srgbClr val="252525"/>
                </a:solidFill>
                <a:latin typeface="Calibri Light"/>
                <a:cs typeface="Calibri Light"/>
              </a:rPr>
              <a:t> </a:t>
            </a:r>
            <a:r>
              <a:rPr sz="3822" dirty="0">
                <a:solidFill>
                  <a:srgbClr val="252525"/>
                </a:solidFill>
                <a:latin typeface="Calibri Light"/>
                <a:cs typeface="Calibri Light"/>
              </a:rPr>
              <a:t>number</a:t>
            </a:r>
            <a:r>
              <a:rPr sz="3822" spc="267" dirty="0">
                <a:solidFill>
                  <a:srgbClr val="252525"/>
                </a:solidFill>
                <a:latin typeface="Calibri Light"/>
                <a:cs typeface="Calibri Light"/>
              </a:rPr>
              <a:t> </a:t>
            </a:r>
            <a:r>
              <a:rPr lang="en-CA" sz="3822" dirty="0">
                <a:solidFill>
                  <a:srgbClr val="252525"/>
                </a:solidFill>
                <a:latin typeface="Calibri Light"/>
                <a:cs typeface="Calibri Light"/>
              </a:rPr>
              <a:t>34</a:t>
            </a:r>
            <a:r>
              <a:rPr sz="3822" dirty="0">
                <a:solidFill>
                  <a:srgbClr val="252525"/>
                </a:solidFill>
                <a:latin typeface="Calibri Light"/>
                <a:cs typeface="Calibri Light"/>
              </a:rPr>
              <a:t>.</a:t>
            </a:r>
            <a:r>
              <a:rPr sz="3822" spc="107" dirty="0">
                <a:solidFill>
                  <a:srgbClr val="252525"/>
                </a:solidFill>
                <a:latin typeface="Calibri Light"/>
                <a:cs typeface="Calibri Light"/>
              </a:rPr>
              <a:t> </a:t>
            </a:r>
            <a:r>
              <a:rPr sz="3822" dirty="0">
                <a:solidFill>
                  <a:srgbClr val="252525"/>
                </a:solidFill>
                <a:latin typeface="Calibri Light"/>
                <a:cs typeface="Calibri Light"/>
              </a:rPr>
              <a:t>If</a:t>
            </a:r>
            <a:r>
              <a:rPr sz="3822" spc="9" dirty="0">
                <a:solidFill>
                  <a:srgbClr val="252525"/>
                </a:solidFill>
                <a:latin typeface="Calibri Light"/>
                <a:cs typeface="Calibri Light"/>
              </a:rPr>
              <a:t> </a:t>
            </a:r>
            <a:r>
              <a:rPr sz="3822" spc="-44" dirty="0">
                <a:solidFill>
                  <a:srgbClr val="252525"/>
                </a:solidFill>
                <a:latin typeface="Calibri Light"/>
                <a:cs typeface="Calibri Light"/>
              </a:rPr>
              <a:t>you </a:t>
            </a:r>
            <a:r>
              <a:rPr sz="3822" dirty="0">
                <a:solidFill>
                  <a:srgbClr val="252525"/>
                </a:solidFill>
                <a:latin typeface="Calibri Light"/>
                <a:cs typeface="Calibri Light"/>
              </a:rPr>
              <a:t>count</a:t>
            </a:r>
            <a:r>
              <a:rPr sz="3822" spc="107" dirty="0">
                <a:solidFill>
                  <a:srgbClr val="252525"/>
                </a:solidFill>
                <a:latin typeface="Calibri Light"/>
                <a:cs typeface="Calibri Light"/>
              </a:rPr>
              <a:t> </a:t>
            </a:r>
            <a:r>
              <a:rPr sz="3822" dirty="0">
                <a:solidFill>
                  <a:srgbClr val="252525"/>
                </a:solidFill>
                <a:latin typeface="Calibri Light"/>
                <a:cs typeface="Calibri Light"/>
              </a:rPr>
              <a:t>the</a:t>
            </a:r>
            <a:r>
              <a:rPr sz="3822" spc="18" dirty="0">
                <a:solidFill>
                  <a:srgbClr val="252525"/>
                </a:solidFill>
                <a:latin typeface="Calibri Light"/>
                <a:cs typeface="Calibri Light"/>
              </a:rPr>
              <a:t> </a:t>
            </a:r>
            <a:r>
              <a:rPr sz="3822" dirty="0">
                <a:solidFill>
                  <a:srgbClr val="252525"/>
                </a:solidFill>
                <a:latin typeface="Calibri Light"/>
                <a:cs typeface="Calibri Light"/>
              </a:rPr>
              <a:t>numbers</a:t>
            </a:r>
            <a:r>
              <a:rPr sz="3822" spc="311" dirty="0">
                <a:solidFill>
                  <a:srgbClr val="252525"/>
                </a:solidFill>
                <a:latin typeface="Calibri Light"/>
                <a:cs typeface="Calibri Light"/>
              </a:rPr>
              <a:t> </a:t>
            </a:r>
            <a:r>
              <a:rPr sz="3822" dirty="0">
                <a:solidFill>
                  <a:srgbClr val="252525"/>
                </a:solidFill>
                <a:latin typeface="Calibri Light"/>
                <a:cs typeface="Calibri Light"/>
              </a:rPr>
              <a:t>in</a:t>
            </a:r>
            <a:r>
              <a:rPr sz="3822" spc="62" dirty="0">
                <a:solidFill>
                  <a:srgbClr val="252525"/>
                </a:solidFill>
                <a:latin typeface="Calibri Light"/>
                <a:cs typeface="Calibri Light"/>
              </a:rPr>
              <a:t> </a:t>
            </a:r>
            <a:r>
              <a:rPr sz="3822" dirty="0">
                <a:solidFill>
                  <a:srgbClr val="252525"/>
                </a:solidFill>
                <a:latin typeface="Calibri Light"/>
                <a:cs typeface="Calibri Light"/>
              </a:rPr>
              <a:t>the</a:t>
            </a:r>
            <a:r>
              <a:rPr sz="3822" spc="9" dirty="0">
                <a:solidFill>
                  <a:srgbClr val="252525"/>
                </a:solidFill>
                <a:latin typeface="Calibri Light"/>
                <a:cs typeface="Calibri Light"/>
              </a:rPr>
              <a:t> </a:t>
            </a:r>
            <a:r>
              <a:rPr sz="3822" dirty="0">
                <a:solidFill>
                  <a:srgbClr val="252525"/>
                </a:solidFill>
                <a:latin typeface="Calibri Light"/>
                <a:cs typeface="Calibri Light"/>
              </a:rPr>
              <a:t>first</a:t>
            </a:r>
            <a:r>
              <a:rPr sz="3822" spc="124" dirty="0">
                <a:solidFill>
                  <a:srgbClr val="252525"/>
                </a:solidFill>
                <a:latin typeface="Calibri Light"/>
                <a:cs typeface="Calibri Light"/>
              </a:rPr>
              <a:t> </a:t>
            </a:r>
            <a:r>
              <a:rPr sz="3822" dirty="0">
                <a:solidFill>
                  <a:srgbClr val="252525"/>
                </a:solidFill>
                <a:latin typeface="Calibri Light"/>
                <a:cs typeface="Calibri Light"/>
              </a:rPr>
              <a:t>line,</a:t>
            </a:r>
            <a:r>
              <a:rPr sz="3822" spc="329" dirty="0">
                <a:solidFill>
                  <a:srgbClr val="252525"/>
                </a:solidFill>
                <a:latin typeface="Calibri Light"/>
                <a:cs typeface="Calibri Light"/>
              </a:rPr>
              <a:t> </a:t>
            </a:r>
            <a:r>
              <a:rPr sz="3822" dirty="0">
                <a:solidFill>
                  <a:srgbClr val="252525"/>
                </a:solidFill>
                <a:latin typeface="Calibri Light"/>
                <a:cs typeface="Calibri Light"/>
              </a:rPr>
              <a:t>there</a:t>
            </a:r>
            <a:r>
              <a:rPr sz="3822" spc="27" dirty="0">
                <a:solidFill>
                  <a:srgbClr val="252525"/>
                </a:solidFill>
                <a:latin typeface="Calibri Light"/>
                <a:cs typeface="Calibri Light"/>
              </a:rPr>
              <a:t> </a:t>
            </a:r>
            <a:r>
              <a:rPr sz="3822" dirty="0">
                <a:solidFill>
                  <a:srgbClr val="252525"/>
                </a:solidFill>
                <a:latin typeface="Calibri Light"/>
                <a:cs typeface="Calibri Light"/>
              </a:rPr>
              <a:t>should</a:t>
            </a:r>
            <a:r>
              <a:rPr sz="3822" spc="196" dirty="0">
                <a:solidFill>
                  <a:srgbClr val="252525"/>
                </a:solidFill>
                <a:latin typeface="Calibri Light"/>
                <a:cs typeface="Calibri Light"/>
              </a:rPr>
              <a:t> </a:t>
            </a:r>
            <a:r>
              <a:rPr sz="3822" dirty="0">
                <a:solidFill>
                  <a:srgbClr val="252525"/>
                </a:solidFill>
                <a:latin typeface="Calibri Light"/>
                <a:cs typeface="Calibri Light"/>
              </a:rPr>
              <a:t>be</a:t>
            </a:r>
            <a:r>
              <a:rPr sz="3822" spc="151" dirty="0">
                <a:solidFill>
                  <a:srgbClr val="252525"/>
                </a:solidFill>
                <a:latin typeface="Calibri Light"/>
                <a:cs typeface="Calibri Light"/>
              </a:rPr>
              <a:t> </a:t>
            </a:r>
            <a:r>
              <a:rPr lang="en-CA" sz="3822" dirty="0">
                <a:solidFill>
                  <a:srgbClr val="252525"/>
                </a:solidFill>
                <a:latin typeface="Calibri Light"/>
                <a:cs typeface="Calibri Light"/>
              </a:rPr>
              <a:t>16</a:t>
            </a:r>
            <a:r>
              <a:rPr sz="3822" spc="-116" dirty="0">
                <a:solidFill>
                  <a:srgbClr val="252525"/>
                </a:solidFill>
                <a:latin typeface="Calibri Light"/>
                <a:cs typeface="Calibri Light"/>
              </a:rPr>
              <a:t> </a:t>
            </a:r>
            <a:r>
              <a:rPr sz="3822" dirty="0">
                <a:solidFill>
                  <a:srgbClr val="252525"/>
                </a:solidFill>
                <a:latin typeface="Calibri Light"/>
                <a:cs typeface="Calibri Light"/>
              </a:rPr>
              <a:t>–</a:t>
            </a:r>
            <a:r>
              <a:rPr sz="3822" spc="9" dirty="0">
                <a:solidFill>
                  <a:srgbClr val="252525"/>
                </a:solidFill>
                <a:latin typeface="Calibri Light"/>
                <a:cs typeface="Calibri Light"/>
              </a:rPr>
              <a:t> </a:t>
            </a:r>
            <a:r>
              <a:rPr sz="3822" dirty="0">
                <a:solidFill>
                  <a:srgbClr val="252525"/>
                </a:solidFill>
                <a:latin typeface="Calibri Light"/>
                <a:cs typeface="Calibri Light"/>
              </a:rPr>
              <a:t>results</a:t>
            </a:r>
            <a:r>
              <a:rPr sz="3822" spc="169" dirty="0">
                <a:solidFill>
                  <a:srgbClr val="252525"/>
                </a:solidFill>
                <a:latin typeface="Calibri Light"/>
                <a:cs typeface="Calibri Light"/>
              </a:rPr>
              <a:t> </a:t>
            </a:r>
            <a:r>
              <a:rPr sz="3822" dirty="0">
                <a:solidFill>
                  <a:srgbClr val="252525"/>
                </a:solidFill>
                <a:latin typeface="Calibri Light"/>
                <a:cs typeface="Calibri Light"/>
              </a:rPr>
              <a:t>1</a:t>
            </a:r>
            <a:r>
              <a:rPr sz="3822" spc="89" dirty="0">
                <a:solidFill>
                  <a:srgbClr val="252525"/>
                </a:solidFill>
                <a:latin typeface="Calibri Light"/>
                <a:cs typeface="Calibri Light"/>
              </a:rPr>
              <a:t> </a:t>
            </a:r>
            <a:r>
              <a:rPr sz="3822" dirty="0">
                <a:solidFill>
                  <a:srgbClr val="252525"/>
                </a:solidFill>
                <a:latin typeface="Calibri Light"/>
                <a:cs typeface="Calibri Light"/>
              </a:rPr>
              <a:t>through</a:t>
            </a:r>
            <a:r>
              <a:rPr sz="3822" spc="53" dirty="0">
                <a:solidFill>
                  <a:srgbClr val="252525"/>
                </a:solidFill>
                <a:latin typeface="Calibri Light"/>
                <a:cs typeface="Calibri Light"/>
              </a:rPr>
              <a:t> </a:t>
            </a:r>
            <a:r>
              <a:rPr lang="en-CA" sz="3822" spc="-44" dirty="0">
                <a:solidFill>
                  <a:srgbClr val="252525"/>
                </a:solidFill>
                <a:latin typeface="Calibri Light"/>
                <a:cs typeface="Calibri Light"/>
              </a:rPr>
              <a:t>16</a:t>
            </a:r>
            <a:r>
              <a:rPr sz="3822" spc="-44" dirty="0">
                <a:solidFill>
                  <a:srgbClr val="252525"/>
                </a:solidFill>
                <a:latin typeface="Calibri Light"/>
                <a:cs typeface="Calibri Light"/>
              </a:rPr>
              <a:t>.</a:t>
            </a:r>
            <a:endParaRPr sz="3822" dirty="0">
              <a:latin typeface="Calibri Light"/>
              <a:cs typeface="Calibri Light"/>
            </a:endParaRPr>
          </a:p>
          <a:p>
            <a:pPr marL="22577" marR="69988">
              <a:lnSpc>
                <a:spcPct val="75700"/>
              </a:lnSpc>
              <a:spcBef>
                <a:spcPts val="2400"/>
              </a:spcBef>
            </a:pPr>
            <a:r>
              <a:rPr sz="3822" dirty="0">
                <a:solidFill>
                  <a:srgbClr val="252525"/>
                </a:solidFill>
                <a:latin typeface="Calibri Light"/>
                <a:cs typeface="Calibri Light"/>
              </a:rPr>
              <a:t>The</a:t>
            </a:r>
            <a:r>
              <a:rPr sz="3822" spc="80" dirty="0">
                <a:solidFill>
                  <a:srgbClr val="252525"/>
                </a:solidFill>
                <a:latin typeface="Calibri Light"/>
                <a:cs typeface="Calibri Light"/>
              </a:rPr>
              <a:t> </a:t>
            </a:r>
            <a:r>
              <a:rPr sz="3822" dirty="0">
                <a:solidFill>
                  <a:srgbClr val="252525"/>
                </a:solidFill>
                <a:latin typeface="Calibri Light"/>
                <a:cs typeface="Calibri Light"/>
              </a:rPr>
              <a:t>second</a:t>
            </a:r>
            <a:r>
              <a:rPr sz="3822" spc="391" dirty="0">
                <a:solidFill>
                  <a:srgbClr val="252525"/>
                </a:solidFill>
                <a:latin typeface="Calibri Light"/>
                <a:cs typeface="Calibri Light"/>
              </a:rPr>
              <a:t> </a:t>
            </a:r>
            <a:r>
              <a:rPr sz="3822" dirty="0">
                <a:solidFill>
                  <a:srgbClr val="252525"/>
                </a:solidFill>
                <a:latin typeface="Calibri Light"/>
                <a:cs typeface="Calibri Light"/>
              </a:rPr>
              <a:t>new</a:t>
            </a:r>
            <a:r>
              <a:rPr sz="3822" spc="240" dirty="0">
                <a:solidFill>
                  <a:srgbClr val="252525"/>
                </a:solidFill>
                <a:latin typeface="Calibri Light"/>
                <a:cs typeface="Calibri Light"/>
              </a:rPr>
              <a:t> </a:t>
            </a:r>
            <a:r>
              <a:rPr sz="3822" dirty="0">
                <a:solidFill>
                  <a:srgbClr val="252525"/>
                </a:solidFill>
                <a:latin typeface="Calibri Light"/>
                <a:cs typeface="Calibri Light"/>
              </a:rPr>
              <a:t>thing</a:t>
            </a:r>
            <a:r>
              <a:rPr sz="3822" spc="169" dirty="0">
                <a:solidFill>
                  <a:srgbClr val="252525"/>
                </a:solidFill>
                <a:latin typeface="Calibri Light"/>
                <a:cs typeface="Calibri Light"/>
              </a:rPr>
              <a:t> </a:t>
            </a:r>
            <a:r>
              <a:rPr sz="3822" dirty="0">
                <a:solidFill>
                  <a:srgbClr val="252525"/>
                </a:solidFill>
                <a:latin typeface="Calibri Light"/>
                <a:cs typeface="Calibri Light"/>
              </a:rPr>
              <a:t>here</a:t>
            </a:r>
            <a:r>
              <a:rPr sz="3822" spc="89" dirty="0">
                <a:solidFill>
                  <a:srgbClr val="252525"/>
                </a:solidFill>
                <a:latin typeface="Calibri Light"/>
                <a:cs typeface="Calibri Light"/>
              </a:rPr>
              <a:t> </a:t>
            </a:r>
            <a:r>
              <a:rPr sz="3822" dirty="0">
                <a:solidFill>
                  <a:srgbClr val="252525"/>
                </a:solidFill>
                <a:latin typeface="Calibri Light"/>
                <a:cs typeface="Calibri Light"/>
              </a:rPr>
              <a:t>that</a:t>
            </a:r>
            <a:r>
              <a:rPr sz="3822" spc="53" dirty="0">
                <a:solidFill>
                  <a:srgbClr val="252525"/>
                </a:solidFill>
                <a:latin typeface="Calibri Light"/>
                <a:cs typeface="Calibri Light"/>
              </a:rPr>
              <a:t> </a:t>
            </a:r>
            <a:r>
              <a:rPr sz="3822" dirty="0">
                <a:solidFill>
                  <a:srgbClr val="252525"/>
                </a:solidFill>
                <a:latin typeface="Calibri Light"/>
                <a:cs typeface="Calibri Light"/>
              </a:rPr>
              <a:t>you</a:t>
            </a:r>
            <a:r>
              <a:rPr sz="3822" spc="124" dirty="0">
                <a:solidFill>
                  <a:srgbClr val="252525"/>
                </a:solidFill>
                <a:latin typeface="Calibri Light"/>
                <a:cs typeface="Calibri Light"/>
              </a:rPr>
              <a:t> </a:t>
            </a:r>
            <a:r>
              <a:rPr sz="3822" dirty="0">
                <a:solidFill>
                  <a:srgbClr val="252525"/>
                </a:solidFill>
                <a:latin typeface="Calibri Light"/>
                <a:cs typeface="Calibri Light"/>
              </a:rPr>
              <a:t>may</a:t>
            </a:r>
            <a:r>
              <a:rPr sz="3822" spc="151" dirty="0">
                <a:solidFill>
                  <a:srgbClr val="252525"/>
                </a:solidFill>
                <a:latin typeface="Calibri Light"/>
                <a:cs typeface="Calibri Light"/>
              </a:rPr>
              <a:t> </a:t>
            </a:r>
            <a:r>
              <a:rPr sz="3822" dirty="0">
                <a:solidFill>
                  <a:srgbClr val="252525"/>
                </a:solidFill>
                <a:latin typeface="Calibri Light"/>
                <a:cs typeface="Calibri Light"/>
              </a:rPr>
              <a:t>have</a:t>
            </a:r>
            <a:r>
              <a:rPr sz="3822" spc="-62" dirty="0">
                <a:solidFill>
                  <a:srgbClr val="252525"/>
                </a:solidFill>
                <a:latin typeface="Calibri Light"/>
                <a:cs typeface="Calibri Light"/>
              </a:rPr>
              <a:t> </a:t>
            </a:r>
            <a:r>
              <a:rPr sz="3822" dirty="0">
                <a:solidFill>
                  <a:srgbClr val="252525"/>
                </a:solidFill>
                <a:latin typeface="Calibri Light"/>
                <a:cs typeface="Calibri Light"/>
              </a:rPr>
              <a:t>noticed</a:t>
            </a:r>
            <a:r>
              <a:rPr sz="3822" spc="258" dirty="0">
                <a:solidFill>
                  <a:srgbClr val="252525"/>
                </a:solidFill>
                <a:latin typeface="Calibri Light"/>
                <a:cs typeface="Calibri Light"/>
              </a:rPr>
              <a:t> </a:t>
            </a:r>
            <a:r>
              <a:rPr sz="3822" dirty="0">
                <a:solidFill>
                  <a:srgbClr val="252525"/>
                </a:solidFill>
                <a:latin typeface="Calibri Light"/>
                <a:cs typeface="Calibri Light"/>
              </a:rPr>
              <a:t>is</a:t>
            </a:r>
            <a:r>
              <a:rPr sz="3822" spc="249" dirty="0">
                <a:solidFill>
                  <a:srgbClr val="252525"/>
                </a:solidFill>
                <a:latin typeface="Calibri Light"/>
                <a:cs typeface="Calibri Light"/>
              </a:rPr>
              <a:t> </a:t>
            </a:r>
            <a:r>
              <a:rPr sz="3822" dirty="0">
                <a:solidFill>
                  <a:srgbClr val="252525"/>
                </a:solidFill>
                <a:latin typeface="Calibri Light"/>
                <a:cs typeface="Calibri Light"/>
              </a:rPr>
              <a:t>our</a:t>
            </a:r>
            <a:r>
              <a:rPr sz="3822" spc="124" dirty="0">
                <a:solidFill>
                  <a:srgbClr val="252525"/>
                </a:solidFill>
                <a:latin typeface="Calibri Light"/>
                <a:cs typeface="Calibri Light"/>
              </a:rPr>
              <a:t> </a:t>
            </a:r>
            <a:r>
              <a:rPr sz="3822" dirty="0">
                <a:solidFill>
                  <a:srgbClr val="252525"/>
                </a:solidFill>
                <a:latin typeface="Calibri Light"/>
                <a:cs typeface="Calibri Light"/>
              </a:rPr>
              <a:t>use</a:t>
            </a:r>
            <a:r>
              <a:rPr sz="3822" spc="222" dirty="0">
                <a:solidFill>
                  <a:srgbClr val="252525"/>
                </a:solidFill>
                <a:latin typeface="Calibri Light"/>
                <a:cs typeface="Calibri Light"/>
              </a:rPr>
              <a:t> </a:t>
            </a:r>
            <a:r>
              <a:rPr sz="3822" dirty="0">
                <a:solidFill>
                  <a:srgbClr val="252525"/>
                </a:solidFill>
                <a:latin typeface="Calibri Light"/>
                <a:cs typeface="Calibri Light"/>
              </a:rPr>
              <a:t>of</a:t>
            </a:r>
            <a:r>
              <a:rPr sz="3822" spc="178" dirty="0">
                <a:solidFill>
                  <a:srgbClr val="252525"/>
                </a:solidFill>
                <a:latin typeface="Calibri Light"/>
                <a:cs typeface="Calibri Light"/>
              </a:rPr>
              <a:t> </a:t>
            </a:r>
            <a:r>
              <a:rPr sz="3822" dirty="0">
                <a:solidFill>
                  <a:srgbClr val="252525"/>
                </a:solidFill>
                <a:latin typeface="Calibri Light"/>
                <a:cs typeface="Calibri Light"/>
              </a:rPr>
              <a:t>a</a:t>
            </a:r>
            <a:r>
              <a:rPr sz="3822" spc="-89" dirty="0">
                <a:solidFill>
                  <a:srgbClr val="252525"/>
                </a:solidFill>
                <a:latin typeface="Calibri Light"/>
                <a:cs typeface="Calibri Light"/>
              </a:rPr>
              <a:t> </a:t>
            </a:r>
            <a:r>
              <a:rPr sz="3822" dirty="0">
                <a:solidFill>
                  <a:srgbClr val="252525"/>
                </a:solidFill>
                <a:latin typeface="Calibri Light"/>
                <a:cs typeface="Calibri Light"/>
              </a:rPr>
              <a:t>function.</a:t>
            </a:r>
            <a:r>
              <a:rPr sz="3822" spc="-311" dirty="0">
                <a:solidFill>
                  <a:srgbClr val="252525"/>
                </a:solidFill>
                <a:latin typeface="Calibri Light"/>
                <a:cs typeface="Calibri Light"/>
              </a:rPr>
              <a:t> </a:t>
            </a:r>
            <a:r>
              <a:rPr sz="3822" dirty="0">
                <a:solidFill>
                  <a:srgbClr val="252525"/>
                </a:solidFill>
                <a:latin typeface="Calibri Light"/>
                <a:cs typeface="Calibri Light"/>
              </a:rPr>
              <a:t>Functions</a:t>
            </a:r>
            <a:r>
              <a:rPr sz="3822" spc="382" dirty="0">
                <a:solidFill>
                  <a:srgbClr val="252525"/>
                </a:solidFill>
                <a:latin typeface="Calibri Light"/>
                <a:cs typeface="Calibri Light"/>
              </a:rPr>
              <a:t> </a:t>
            </a:r>
            <a:r>
              <a:rPr sz="3822" spc="-44" dirty="0">
                <a:solidFill>
                  <a:srgbClr val="252525"/>
                </a:solidFill>
                <a:latin typeface="Calibri Light"/>
                <a:cs typeface="Calibri Light"/>
              </a:rPr>
              <a:t>are </a:t>
            </a:r>
            <a:r>
              <a:rPr sz="3822" dirty="0">
                <a:solidFill>
                  <a:srgbClr val="252525"/>
                </a:solidFill>
                <a:latin typeface="Calibri Light"/>
                <a:cs typeface="Calibri Light"/>
              </a:rPr>
              <a:t>a</a:t>
            </a:r>
            <a:r>
              <a:rPr sz="3822" spc="9" dirty="0">
                <a:solidFill>
                  <a:srgbClr val="252525"/>
                </a:solidFill>
                <a:latin typeface="Calibri Light"/>
                <a:cs typeface="Calibri Light"/>
              </a:rPr>
              <a:t> </a:t>
            </a:r>
            <a:r>
              <a:rPr sz="3822" spc="116" dirty="0">
                <a:solidFill>
                  <a:srgbClr val="252525"/>
                </a:solidFill>
                <a:latin typeface="Calibri Light"/>
                <a:cs typeface="Calibri Light"/>
              </a:rPr>
              <a:t>BIG</a:t>
            </a:r>
            <a:r>
              <a:rPr sz="3822" spc="-71" dirty="0">
                <a:solidFill>
                  <a:srgbClr val="252525"/>
                </a:solidFill>
                <a:latin typeface="Calibri Light"/>
                <a:cs typeface="Calibri Light"/>
              </a:rPr>
              <a:t> </a:t>
            </a:r>
            <a:r>
              <a:rPr sz="3822" dirty="0">
                <a:solidFill>
                  <a:srgbClr val="252525"/>
                </a:solidFill>
                <a:latin typeface="Calibri Light"/>
                <a:cs typeface="Calibri Light"/>
              </a:rPr>
              <a:t>DEAL</a:t>
            </a:r>
            <a:r>
              <a:rPr sz="3822" spc="-302" dirty="0">
                <a:solidFill>
                  <a:srgbClr val="252525"/>
                </a:solidFill>
                <a:latin typeface="Calibri Light"/>
                <a:cs typeface="Calibri Light"/>
              </a:rPr>
              <a:t> </a:t>
            </a:r>
            <a:r>
              <a:rPr sz="3822" dirty="0">
                <a:solidFill>
                  <a:srgbClr val="252525"/>
                </a:solidFill>
                <a:latin typeface="Calibri Light"/>
                <a:cs typeface="Calibri Light"/>
              </a:rPr>
              <a:t>in</a:t>
            </a:r>
            <a:r>
              <a:rPr sz="3822" spc="116" dirty="0">
                <a:solidFill>
                  <a:srgbClr val="252525"/>
                </a:solidFill>
                <a:latin typeface="Calibri Light"/>
                <a:cs typeface="Calibri Light"/>
              </a:rPr>
              <a:t> </a:t>
            </a:r>
            <a:r>
              <a:rPr sz="3822" dirty="0">
                <a:solidFill>
                  <a:srgbClr val="252525"/>
                </a:solidFill>
                <a:latin typeface="Calibri Light"/>
                <a:cs typeface="Calibri Light"/>
              </a:rPr>
              <a:t>R.</a:t>
            </a:r>
            <a:r>
              <a:rPr sz="3822" spc="116" dirty="0">
                <a:solidFill>
                  <a:srgbClr val="252525"/>
                </a:solidFill>
                <a:latin typeface="Calibri Light"/>
                <a:cs typeface="Calibri Light"/>
              </a:rPr>
              <a:t> </a:t>
            </a:r>
            <a:r>
              <a:rPr sz="3822" dirty="0">
                <a:solidFill>
                  <a:srgbClr val="252525"/>
                </a:solidFill>
                <a:latin typeface="Calibri Light"/>
                <a:cs typeface="Calibri Light"/>
              </a:rPr>
              <a:t>So</a:t>
            </a:r>
            <a:r>
              <a:rPr sz="3822" spc="240" dirty="0">
                <a:solidFill>
                  <a:srgbClr val="252525"/>
                </a:solidFill>
                <a:latin typeface="Calibri Light"/>
                <a:cs typeface="Calibri Light"/>
              </a:rPr>
              <a:t> </a:t>
            </a:r>
            <a:r>
              <a:rPr sz="3822" dirty="0">
                <a:solidFill>
                  <a:srgbClr val="252525"/>
                </a:solidFill>
                <a:latin typeface="Calibri Light"/>
                <a:cs typeface="Calibri Light"/>
              </a:rPr>
              <a:t>much</a:t>
            </a:r>
            <a:r>
              <a:rPr sz="3822" spc="107" dirty="0">
                <a:solidFill>
                  <a:srgbClr val="252525"/>
                </a:solidFill>
                <a:latin typeface="Calibri Light"/>
                <a:cs typeface="Calibri Light"/>
              </a:rPr>
              <a:t> </a:t>
            </a:r>
            <a:r>
              <a:rPr sz="3822" dirty="0">
                <a:solidFill>
                  <a:srgbClr val="252525"/>
                </a:solidFill>
                <a:latin typeface="Calibri Light"/>
                <a:cs typeface="Calibri Light"/>
              </a:rPr>
              <a:t>so</a:t>
            </a:r>
            <a:r>
              <a:rPr sz="3822" spc="240" dirty="0">
                <a:solidFill>
                  <a:srgbClr val="252525"/>
                </a:solidFill>
                <a:latin typeface="Calibri Light"/>
                <a:cs typeface="Calibri Light"/>
              </a:rPr>
              <a:t> </a:t>
            </a:r>
            <a:r>
              <a:rPr sz="3822" dirty="0">
                <a:solidFill>
                  <a:srgbClr val="252525"/>
                </a:solidFill>
                <a:latin typeface="Calibri Light"/>
                <a:cs typeface="Calibri Light"/>
              </a:rPr>
              <a:t>that</a:t>
            </a:r>
            <a:r>
              <a:rPr sz="3822" spc="-98" dirty="0">
                <a:solidFill>
                  <a:srgbClr val="252525"/>
                </a:solidFill>
                <a:latin typeface="Calibri Light"/>
                <a:cs typeface="Calibri Light"/>
              </a:rPr>
              <a:t> </a:t>
            </a:r>
            <a:r>
              <a:rPr sz="3822" dirty="0">
                <a:solidFill>
                  <a:srgbClr val="252525"/>
                </a:solidFill>
                <a:latin typeface="Calibri Light"/>
                <a:cs typeface="Calibri Light"/>
              </a:rPr>
              <a:t>R</a:t>
            </a:r>
            <a:r>
              <a:rPr sz="3822" spc="203" dirty="0">
                <a:solidFill>
                  <a:srgbClr val="252525"/>
                </a:solidFill>
                <a:latin typeface="Calibri Light"/>
                <a:cs typeface="Calibri Light"/>
              </a:rPr>
              <a:t> </a:t>
            </a:r>
            <a:r>
              <a:rPr sz="3822" dirty="0">
                <a:solidFill>
                  <a:srgbClr val="252525"/>
                </a:solidFill>
                <a:latin typeface="Calibri Light"/>
                <a:cs typeface="Calibri Light"/>
              </a:rPr>
              <a:t>is</a:t>
            </a:r>
            <a:r>
              <a:rPr sz="3822" spc="80" dirty="0">
                <a:solidFill>
                  <a:srgbClr val="252525"/>
                </a:solidFill>
                <a:latin typeface="Calibri Light"/>
                <a:cs typeface="Calibri Light"/>
              </a:rPr>
              <a:t> </a:t>
            </a:r>
            <a:r>
              <a:rPr sz="3822" dirty="0">
                <a:solidFill>
                  <a:srgbClr val="252525"/>
                </a:solidFill>
                <a:latin typeface="Calibri Light"/>
                <a:cs typeface="Calibri Light"/>
              </a:rPr>
              <a:t>called</a:t>
            </a:r>
            <a:r>
              <a:rPr sz="3822" spc="240" dirty="0">
                <a:solidFill>
                  <a:srgbClr val="252525"/>
                </a:solidFill>
                <a:latin typeface="Calibri Light"/>
                <a:cs typeface="Calibri Light"/>
              </a:rPr>
              <a:t> </a:t>
            </a:r>
            <a:r>
              <a:rPr sz="3822" dirty="0">
                <a:solidFill>
                  <a:srgbClr val="252525"/>
                </a:solidFill>
                <a:latin typeface="Calibri Light"/>
                <a:cs typeface="Calibri Light"/>
              </a:rPr>
              <a:t>a</a:t>
            </a:r>
            <a:r>
              <a:rPr sz="3822" spc="98" dirty="0">
                <a:solidFill>
                  <a:srgbClr val="252525"/>
                </a:solidFill>
                <a:latin typeface="Calibri Light"/>
                <a:cs typeface="Calibri Light"/>
              </a:rPr>
              <a:t> </a:t>
            </a:r>
            <a:r>
              <a:rPr sz="3822" i="1" dirty="0">
                <a:solidFill>
                  <a:srgbClr val="252525"/>
                </a:solidFill>
                <a:latin typeface="Calibri Light"/>
                <a:cs typeface="Calibri Light"/>
              </a:rPr>
              <a:t>functional</a:t>
            </a:r>
            <a:r>
              <a:rPr sz="3822" i="1" spc="53" dirty="0">
                <a:solidFill>
                  <a:srgbClr val="252525"/>
                </a:solidFill>
                <a:latin typeface="Calibri Light"/>
                <a:cs typeface="Calibri Light"/>
              </a:rPr>
              <a:t> </a:t>
            </a:r>
            <a:r>
              <a:rPr sz="3822" i="1" spc="-18" dirty="0">
                <a:solidFill>
                  <a:srgbClr val="252525"/>
                </a:solidFill>
                <a:latin typeface="Calibri Light"/>
                <a:cs typeface="Calibri Light"/>
              </a:rPr>
              <a:t>language</a:t>
            </a:r>
            <a:r>
              <a:rPr sz="3822" spc="-18" dirty="0">
                <a:solidFill>
                  <a:srgbClr val="252525"/>
                </a:solidFill>
                <a:latin typeface="Calibri Light"/>
                <a:cs typeface="Calibri Light"/>
              </a:rPr>
              <a:t>.</a:t>
            </a:r>
            <a:endParaRPr sz="3822" dirty="0">
              <a:latin typeface="Calibri Light"/>
              <a:cs typeface="Calibri Light"/>
            </a:endParaRPr>
          </a:p>
        </p:txBody>
      </p:sp>
      <p:pic>
        <p:nvPicPr>
          <p:cNvPr id="6" name="Picture 5">
            <a:extLst>
              <a:ext uri="{FF2B5EF4-FFF2-40B4-BE49-F238E27FC236}">
                <a16:creationId xmlns:a16="http://schemas.microsoft.com/office/drawing/2014/main" id="{E8315854-F308-C312-B40D-AC5FF28E8C6A}"/>
              </a:ext>
            </a:extLst>
          </p:cNvPr>
          <p:cNvPicPr>
            <a:picLocks noChangeAspect="1"/>
          </p:cNvPicPr>
          <p:nvPr/>
        </p:nvPicPr>
        <p:blipFill>
          <a:blip r:embed="rId2"/>
          <a:stretch>
            <a:fillRect/>
          </a:stretch>
        </p:blipFill>
        <p:spPr>
          <a:xfrm>
            <a:off x="3067347" y="2190479"/>
            <a:ext cx="15539441" cy="4755604"/>
          </a:xfrm>
          <a:prstGeom prst="rect">
            <a:avLst/>
          </a:prstGeom>
        </p:spPr>
      </p:pic>
      <p:grpSp>
        <p:nvGrpSpPr>
          <p:cNvPr id="7" name="object 5">
            <a:extLst>
              <a:ext uri="{FF2B5EF4-FFF2-40B4-BE49-F238E27FC236}">
                <a16:creationId xmlns:a16="http://schemas.microsoft.com/office/drawing/2014/main" id="{19B194A6-C33F-9733-5679-1814C28272F0}"/>
              </a:ext>
            </a:extLst>
          </p:cNvPr>
          <p:cNvGrpSpPr/>
          <p:nvPr/>
        </p:nvGrpSpPr>
        <p:grpSpPr>
          <a:xfrm>
            <a:off x="16862484" y="427576"/>
            <a:ext cx="4823624" cy="1309479"/>
            <a:chOff x="9485376" y="303275"/>
            <a:chExt cx="2713355" cy="736600"/>
          </a:xfrm>
          <a:solidFill>
            <a:srgbClr val="EB9B0B"/>
          </a:solidFill>
        </p:grpSpPr>
        <p:sp>
          <p:nvSpPr>
            <p:cNvPr id="8" name="object 6">
              <a:extLst>
                <a:ext uri="{FF2B5EF4-FFF2-40B4-BE49-F238E27FC236}">
                  <a16:creationId xmlns:a16="http://schemas.microsoft.com/office/drawing/2014/main" id="{01846FC8-2D59-59B0-F635-EA67BDDBCA3B}"/>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9" name="object 7">
              <a:extLst>
                <a:ext uri="{FF2B5EF4-FFF2-40B4-BE49-F238E27FC236}">
                  <a16:creationId xmlns:a16="http://schemas.microsoft.com/office/drawing/2014/main" id="{27E95D24-BA91-6EDE-8EAD-B4DCB1031652}"/>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10" name="object 8">
              <a:extLst>
                <a:ext uri="{FF2B5EF4-FFF2-40B4-BE49-F238E27FC236}">
                  <a16:creationId xmlns:a16="http://schemas.microsoft.com/office/drawing/2014/main" id="{C636313C-31F4-C347-E9D0-3A4F350148A2}"/>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11" name="object 9">
            <a:extLst>
              <a:ext uri="{FF2B5EF4-FFF2-40B4-BE49-F238E27FC236}">
                <a16:creationId xmlns:a16="http://schemas.microsoft.com/office/drawing/2014/main" id="{BD38A525-C30A-744F-77D4-C2C5FE7322E1}"/>
              </a:ext>
            </a:extLst>
          </p:cNvPr>
          <p:cNvSpPr txBox="1">
            <a:spLocks/>
          </p:cNvSpPr>
          <p:nvPr/>
        </p:nvSpPr>
        <p:spPr>
          <a:xfrm>
            <a:off x="16628269" y="565634"/>
            <a:ext cx="4665551" cy="1008823"/>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1136741">
              <a:spcBef>
                <a:spcPts val="187"/>
              </a:spcBef>
            </a:pPr>
            <a:r>
              <a:rPr lang="en-CA" sz="6400" spc="-18">
                <a:solidFill>
                  <a:srgbClr val="FFFFFF"/>
                </a:solidFill>
                <a:latin typeface="Aptos Black" panose="020B0004020202020204" pitchFamily="34" charset="0"/>
              </a:rPr>
              <a:t>console</a:t>
            </a:r>
            <a:endParaRPr lang="en-CA" sz="6400" dirty="0">
              <a:latin typeface="Aptos Black" panose="020B00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309479" y="3007396"/>
            <a:ext cx="18138190" cy="1253904"/>
          </a:xfrm>
          <a:prstGeom prst="rect">
            <a:avLst/>
          </a:prstGeom>
        </p:spPr>
        <p:txBody>
          <a:bodyPr vert="horz" wrap="square" lIns="0" tIns="22577" rIns="0" bIns="0" rtlCol="0">
            <a:spAutoFit/>
          </a:bodyPr>
          <a:lstStyle/>
          <a:p>
            <a:pPr marL="22577">
              <a:lnSpc>
                <a:spcPts val="4764"/>
              </a:lnSpc>
              <a:spcBef>
                <a:spcPts val="178"/>
              </a:spcBef>
            </a:pPr>
            <a:r>
              <a:rPr sz="4266" dirty="0">
                <a:solidFill>
                  <a:srgbClr val="252525"/>
                </a:solidFill>
                <a:latin typeface="Calibri Light"/>
                <a:cs typeface="Calibri Light"/>
              </a:rPr>
              <a:t>The</a:t>
            </a:r>
            <a:r>
              <a:rPr sz="4266" spc="71" dirty="0">
                <a:solidFill>
                  <a:srgbClr val="252525"/>
                </a:solidFill>
                <a:latin typeface="Calibri Light"/>
                <a:cs typeface="Calibri Light"/>
              </a:rPr>
              <a:t> </a:t>
            </a:r>
            <a:r>
              <a:rPr sz="4266" spc="-36" dirty="0">
                <a:solidFill>
                  <a:srgbClr val="252525"/>
                </a:solidFill>
                <a:latin typeface="Calibri Light"/>
                <a:cs typeface="Calibri Light"/>
              </a:rPr>
              <a:t>Environment</a:t>
            </a:r>
            <a:r>
              <a:rPr sz="4266" spc="-284" dirty="0">
                <a:solidFill>
                  <a:srgbClr val="252525"/>
                </a:solidFill>
                <a:latin typeface="Calibri Light"/>
                <a:cs typeface="Calibri Light"/>
              </a:rPr>
              <a:t> </a:t>
            </a:r>
            <a:r>
              <a:rPr sz="4266" dirty="0">
                <a:solidFill>
                  <a:srgbClr val="252525"/>
                </a:solidFill>
                <a:latin typeface="Calibri Light"/>
                <a:cs typeface="Calibri Light"/>
              </a:rPr>
              <a:t>pane</a:t>
            </a:r>
            <a:r>
              <a:rPr sz="4266" spc="-53" dirty="0">
                <a:solidFill>
                  <a:srgbClr val="252525"/>
                </a:solidFill>
                <a:latin typeface="Calibri Light"/>
                <a:cs typeface="Calibri Light"/>
              </a:rPr>
              <a:t> </a:t>
            </a:r>
            <a:r>
              <a:rPr sz="4266" dirty="0">
                <a:solidFill>
                  <a:srgbClr val="252525"/>
                </a:solidFill>
                <a:latin typeface="Calibri Light"/>
                <a:cs typeface="Calibri Light"/>
              </a:rPr>
              <a:t>shows</a:t>
            </a:r>
            <a:r>
              <a:rPr sz="4266" spc="27" dirty="0">
                <a:solidFill>
                  <a:srgbClr val="252525"/>
                </a:solidFill>
                <a:latin typeface="Calibri Light"/>
                <a:cs typeface="Calibri Light"/>
              </a:rPr>
              <a:t> </a:t>
            </a:r>
            <a:r>
              <a:rPr sz="4266" dirty="0">
                <a:solidFill>
                  <a:srgbClr val="252525"/>
                </a:solidFill>
                <a:latin typeface="Calibri Light"/>
                <a:cs typeface="Calibri Light"/>
              </a:rPr>
              <a:t>you</a:t>
            </a:r>
            <a:r>
              <a:rPr sz="4266" spc="-27" dirty="0">
                <a:solidFill>
                  <a:srgbClr val="252525"/>
                </a:solidFill>
                <a:latin typeface="Calibri Light"/>
                <a:cs typeface="Calibri Light"/>
              </a:rPr>
              <a:t> </a:t>
            </a:r>
            <a:r>
              <a:rPr sz="4266" dirty="0">
                <a:solidFill>
                  <a:srgbClr val="252525"/>
                </a:solidFill>
                <a:latin typeface="Calibri Light"/>
                <a:cs typeface="Calibri Light"/>
              </a:rPr>
              <a:t>all</a:t>
            </a:r>
            <a:r>
              <a:rPr sz="4266" spc="203" dirty="0">
                <a:solidFill>
                  <a:srgbClr val="252525"/>
                </a:solidFill>
                <a:latin typeface="Calibri Light"/>
                <a:cs typeface="Calibri Light"/>
              </a:rPr>
              <a:t> </a:t>
            </a:r>
            <a:r>
              <a:rPr sz="4266" dirty="0">
                <a:solidFill>
                  <a:srgbClr val="252525"/>
                </a:solidFill>
                <a:latin typeface="Calibri Light"/>
                <a:cs typeface="Calibri Light"/>
              </a:rPr>
              <a:t>the</a:t>
            </a:r>
            <a:r>
              <a:rPr sz="4266" spc="-89" dirty="0">
                <a:solidFill>
                  <a:srgbClr val="252525"/>
                </a:solidFill>
                <a:latin typeface="Calibri Light"/>
                <a:cs typeface="Calibri Light"/>
              </a:rPr>
              <a:t> </a:t>
            </a:r>
            <a:r>
              <a:rPr sz="4266" dirty="0">
                <a:solidFill>
                  <a:srgbClr val="252525"/>
                </a:solidFill>
                <a:latin typeface="Calibri Light"/>
                <a:cs typeface="Calibri Light"/>
              </a:rPr>
              <a:t>objects</a:t>
            </a:r>
            <a:r>
              <a:rPr lang="en-CA" sz="4266" dirty="0">
                <a:solidFill>
                  <a:srgbClr val="252525"/>
                </a:solidFill>
                <a:latin typeface="Calibri Light"/>
                <a:cs typeface="Calibri Light"/>
              </a:rPr>
              <a:t> </a:t>
            </a:r>
            <a:r>
              <a:rPr sz="4266" dirty="0">
                <a:solidFill>
                  <a:srgbClr val="252525"/>
                </a:solidFill>
                <a:latin typeface="Calibri Light"/>
                <a:cs typeface="Calibri Light"/>
              </a:rPr>
              <a:t>that</a:t>
            </a:r>
            <a:r>
              <a:rPr sz="4266" spc="-36" dirty="0">
                <a:solidFill>
                  <a:srgbClr val="252525"/>
                </a:solidFill>
                <a:latin typeface="Calibri Light"/>
                <a:cs typeface="Calibri Light"/>
              </a:rPr>
              <a:t> </a:t>
            </a:r>
            <a:r>
              <a:rPr sz="4266" dirty="0">
                <a:solidFill>
                  <a:srgbClr val="252525"/>
                </a:solidFill>
                <a:latin typeface="Calibri Light"/>
                <a:cs typeface="Calibri Light"/>
              </a:rPr>
              <a:t>R</a:t>
            </a:r>
            <a:r>
              <a:rPr sz="4266" spc="53" dirty="0">
                <a:solidFill>
                  <a:srgbClr val="252525"/>
                </a:solidFill>
                <a:latin typeface="Calibri Light"/>
                <a:cs typeface="Calibri Light"/>
              </a:rPr>
              <a:t> </a:t>
            </a:r>
            <a:r>
              <a:rPr sz="4266" dirty="0">
                <a:solidFill>
                  <a:srgbClr val="252525"/>
                </a:solidFill>
                <a:latin typeface="Calibri Light"/>
                <a:cs typeface="Calibri Light"/>
              </a:rPr>
              <a:t>can</a:t>
            </a:r>
            <a:r>
              <a:rPr sz="4266" spc="-53" dirty="0">
                <a:solidFill>
                  <a:srgbClr val="252525"/>
                </a:solidFill>
                <a:latin typeface="Calibri Light"/>
                <a:cs typeface="Calibri Light"/>
              </a:rPr>
              <a:t> </a:t>
            </a:r>
            <a:r>
              <a:rPr sz="4266" dirty="0">
                <a:solidFill>
                  <a:srgbClr val="252525"/>
                </a:solidFill>
                <a:latin typeface="Calibri Light"/>
                <a:cs typeface="Calibri Light"/>
              </a:rPr>
              <a:t>currently</a:t>
            </a:r>
            <a:r>
              <a:rPr sz="4266" spc="-267" dirty="0">
                <a:solidFill>
                  <a:srgbClr val="252525"/>
                </a:solidFill>
                <a:latin typeface="Calibri Light"/>
                <a:cs typeface="Calibri Light"/>
              </a:rPr>
              <a:t> </a:t>
            </a:r>
            <a:r>
              <a:rPr sz="4266" dirty="0">
                <a:solidFill>
                  <a:srgbClr val="252525"/>
                </a:solidFill>
                <a:latin typeface="Calibri Light"/>
                <a:cs typeface="Calibri Light"/>
              </a:rPr>
              <a:t>use</a:t>
            </a:r>
            <a:r>
              <a:rPr sz="4266" spc="89" dirty="0">
                <a:solidFill>
                  <a:srgbClr val="252525"/>
                </a:solidFill>
                <a:latin typeface="Calibri Light"/>
                <a:cs typeface="Calibri Light"/>
              </a:rPr>
              <a:t> </a:t>
            </a:r>
            <a:r>
              <a:rPr sz="4266" dirty="0">
                <a:solidFill>
                  <a:srgbClr val="252525"/>
                </a:solidFill>
                <a:latin typeface="Calibri Light"/>
                <a:cs typeface="Calibri Light"/>
              </a:rPr>
              <a:t>for</a:t>
            </a:r>
            <a:r>
              <a:rPr sz="4266" spc="-80" dirty="0">
                <a:solidFill>
                  <a:srgbClr val="252525"/>
                </a:solidFill>
                <a:latin typeface="Calibri Light"/>
                <a:cs typeface="Calibri Light"/>
              </a:rPr>
              <a:t> </a:t>
            </a:r>
            <a:r>
              <a:rPr sz="4266" spc="-36" dirty="0">
                <a:solidFill>
                  <a:srgbClr val="252525"/>
                </a:solidFill>
                <a:latin typeface="Calibri Light"/>
                <a:cs typeface="Calibri Light"/>
              </a:rPr>
              <a:t>data</a:t>
            </a:r>
            <a:endParaRPr sz="4266" dirty="0">
              <a:latin typeface="Calibri Light"/>
              <a:cs typeface="Calibri Light"/>
            </a:endParaRPr>
          </a:p>
          <a:p>
            <a:pPr marL="22577">
              <a:lnSpc>
                <a:spcPts val="4764"/>
              </a:lnSpc>
            </a:pPr>
            <a:r>
              <a:rPr sz="4266" dirty="0">
                <a:solidFill>
                  <a:srgbClr val="252525"/>
                </a:solidFill>
                <a:latin typeface="Calibri Light"/>
                <a:cs typeface="Calibri Light"/>
              </a:rPr>
              <a:t>management</a:t>
            </a:r>
            <a:r>
              <a:rPr sz="4266" spc="-89" dirty="0">
                <a:solidFill>
                  <a:srgbClr val="252525"/>
                </a:solidFill>
                <a:latin typeface="Calibri Light"/>
                <a:cs typeface="Calibri Light"/>
              </a:rPr>
              <a:t> </a:t>
            </a:r>
            <a:r>
              <a:rPr sz="4266" dirty="0">
                <a:solidFill>
                  <a:srgbClr val="252525"/>
                </a:solidFill>
                <a:latin typeface="Calibri Light"/>
                <a:cs typeface="Calibri Light"/>
              </a:rPr>
              <a:t>or </a:t>
            </a:r>
            <a:r>
              <a:rPr sz="4266" spc="-18" dirty="0">
                <a:solidFill>
                  <a:srgbClr val="252525"/>
                </a:solidFill>
                <a:latin typeface="Calibri Light"/>
                <a:cs typeface="Calibri Light"/>
              </a:rPr>
              <a:t>analysis.</a:t>
            </a:r>
            <a:endParaRPr sz="4266" dirty="0">
              <a:latin typeface="Calibri Light"/>
              <a:cs typeface="Calibri Light"/>
            </a:endParaRPr>
          </a:p>
        </p:txBody>
      </p:sp>
      <p:sp>
        <p:nvSpPr>
          <p:cNvPr id="8" name="object 8"/>
          <p:cNvSpPr txBox="1">
            <a:spLocks noGrp="1"/>
          </p:cNvSpPr>
          <p:nvPr>
            <p:ph type="title"/>
          </p:nvPr>
        </p:nvSpPr>
        <p:spPr>
          <a:xfrm>
            <a:off x="16851195" y="651518"/>
            <a:ext cx="4823624" cy="1008823"/>
          </a:xfrm>
          <a:prstGeom prst="rect">
            <a:avLst/>
          </a:prstGeom>
        </p:spPr>
        <p:txBody>
          <a:bodyPr vert="horz" wrap="square" lIns="0" tIns="23706" rIns="0" bIns="0" rtlCol="0">
            <a:spAutoFit/>
          </a:bodyPr>
          <a:lstStyle/>
          <a:p>
            <a:pPr marL="342038">
              <a:spcBef>
                <a:spcPts val="187"/>
              </a:spcBef>
            </a:pPr>
            <a:r>
              <a:rPr sz="6400" spc="-18" dirty="0">
                <a:solidFill>
                  <a:srgbClr val="FFFFFF"/>
                </a:solidFill>
              </a:rPr>
              <a:t>environment</a:t>
            </a:r>
            <a:endParaRPr sz="6400"/>
          </a:p>
        </p:txBody>
      </p:sp>
      <p:pic>
        <p:nvPicPr>
          <p:cNvPr id="11" name="Picture 10">
            <a:extLst>
              <a:ext uri="{FF2B5EF4-FFF2-40B4-BE49-F238E27FC236}">
                <a16:creationId xmlns:a16="http://schemas.microsoft.com/office/drawing/2014/main" id="{499870AF-7AFD-BF45-0661-016D631B13F0}"/>
              </a:ext>
            </a:extLst>
          </p:cNvPr>
          <p:cNvPicPr>
            <a:picLocks noChangeAspect="1"/>
          </p:cNvPicPr>
          <p:nvPr/>
        </p:nvPicPr>
        <p:blipFill>
          <a:blip r:embed="rId2"/>
          <a:stretch>
            <a:fillRect/>
          </a:stretch>
        </p:blipFill>
        <p:spPr>
          <a:xfrm>
            <a:off x="3944055" y="4653988"/>
            <a:ext cx="12923809" cy="6980952"/>
          </a:xfrm>
          <a:prstGeom prst="rect">
            <a:avLst/>
          </a:prstGeom>
        </p:spPr>
      </p:pic>
      <p:sp>
        <p:nvSpPr>
          <p:cNvPr id="12" name="object 2">
            <a:extLst>
              <a:ext uri="{FF2B5EF4-FFF2-40B4-BE49-F238E27FC236}">
                <a16:creationId xmlns:a16="http://schemas.microsoft.com/office/drawing/2014/main" id="{72873EB5-C8B1-F922-7910-DE4535D5FF57}"/>
              </a:ext>
            </a:extLst>
          </p:cNvPr>
          <p:cNvSpPr txBox="1"/>
          <p:nvPr/>
        </p:nvSpPr>
        <p:spPr>
          <a:xfrm>
            <a:off x="1309479" y="1314749"/>
            <a:ext cx="14845654" cy="1501265"/>
          </a:xfrm>
          <a:prstGeom prst="rect">
            <a:avLst/>
          </a:prstGeom>
        </p:spPr>
        <p:txBody>
          <a:bodyPr vert="horz" wrap="square" lIns="0" tIns="23706" rIns="0" bIns="0" rtlCol="0">
            <a:spAutoFit/>
          </a:bodyPr>
          <a:lstStyle/>
          <a:p>
            <a:pPr marL="22577">
              <a:spcBef>
                <a:spcPts val="187"/>
              </a:spcBef>
            </a:pPr>
            <a:r>
              <a:rPr sz="9600" spc="-276" dirty="0">
                <a:solidFill>
                  <a:srgbClr val="50B4C7"/>
                </a:solidFill>
                <a:latin typeface="Aptos Black" panose="020B0004020202020204" pitchFamily="34" charset="0"/>
                <a:cs typeface="Calibri Light"/>
              </a:rPr>
              <a:t>Navigating </a:t>
            </a:r>
            <a:r>
              <a:rPr sz="9600" spc="-196" dirty="0">
                <a:solidFill>
                  <a:srgbClr val="50B4C7"/>
                </a:solidFill>
                <a:latin typeface="Aptos Black" panose="020B0004020202020204" pitchFamily="34" charset="0"/>
                <a:cs typeface="Calibri Light"/>
              </a:rPr>
              <a:t>the</a:t>
            </a:r>
            <a:r>
              <a:rPr sz="9600" spc="-391" dirty="0">
                <a:solidFill>
                  <a:srgbClr val="50B4C7"/>
                </a:solidFill>
                <a:latin typeface="Aptos Black" panose="020B0004020202020204" pitchFamily="34" charset="0"/>
                <a:cs typeface="Calibri Light"/>
              </a:rPr>
              <a:t> </a:t>
            </a:r>
            <a:r>
              <a:rPr sz="9600" spc="-249" dirty="0">
                <a:solidFill>
                  <a:srgbClr val="50B4C7"/>
                </a:solidFill>
                <a:latin typeface="Aptos Black" panose="020B0004020202020204" pitchFamily="34" charset="0"/>
                <a:cs typeface="Calibri Light"/>
              </a:rPr>
              <a:t>interface</a:t>
            </a:r>
            <a:endParaRPr sz="9600" dirty="0">
              <a:latin typeface="Aptos Black" panose="020B0004020202020204" pitchFamily="34" charset="0"/>
              <a:cs typeface="Calibri Light"/>
            </a:endParaRPr>
          </a:p>
        </p:txBody>
      </p:sp>
      <p:sp>
        <p:nvSpPr>
          <p:cNvPr id="13" name="Oval 12">
            <a:extLst>
              <a:ext uri="{FF2B5EF4-FFF2-40B4-BE49-F238E27FC236}">
                <a16:creationId xmlns:a16="http://schemas.microsoft.com/office/drawing/2014/main" id="{3B1A8555-A308-B9C9-7E35-BA1A6E7DC354}"/>
              </a:ext>
            </a:extLst>
          </p:cNvPr>
          <p:cNvSpPr/>
          <p:nvPr/>
        </p:nvSpPr>
        <p:spPr>
          <a:xfrm>
            <a:off x="3826669" y="10877251"/>
            <a:ext cx="1219200" cy="685800"/>
          </a:xfrm>
          <a:prstGeom prst="ellipse">
            <a:avLst/>
          </a:prstGeom>
          <a:noFill/>
          <a:ln w="76200">
            <a:solidFill>
              <a:srgbClr val="EB9B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Oval 13">
            <a:extLst>
              <a:ext uri="{FF2B5EF4-FFF2-40B4-BE49-F238E27FC236}">
                <a16:creationId xmlns:a16="http://schemas.microsoft.com/office/drawing/2014/main" id="{955AC10B-FBD8-EF7F-91CF-8651D1EA2498}"/>
              </a:ext>
            </a:extLst>
          </p:cNvPr>
          <p:cNvSpPr/>
          <p:nvPr/>
        </p:nvSpPr>
        <p:spPr>
          <a:xfrm>
            <a:off x="11522869" y="6096000"/>
            <a:ext cx="2362200" cy="685800"/>
          </a:xfrm>
          <a:prstGeom prst="ellipse">
            <a:avLst/>
          </a:prstGeom>
          <a:noFill/>
          <a:ln w="76200">
            <a:solidFill>
              <a:srgbClr val="EB9B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grpSp>
        <p:nvGrpSpPr>
          <p:cNvPr id="15" name="object 5">
            <a:extLst>
              <a:ext uri="{FF2B5EF4-FFF2-40B4-BE49-F238E27FC236}">
                <a16:creationId xmlns:a16="http://schemas.microsoft.com/office/drawing/2014/main" id="{26B06F22-068B-981A-981C-4F70A549CF63}"/>
              </a:ext>
            </a:extLst>
          </p:cNvPr>
          <p:cNvGrpSpPr/>
          <p:nvPr/>
        </p:nvGrpSpPr>
        <p:grpSpPr>
          <a:xfrm>
            <a:off x="16862484" y="427576"/>
            <a:ext cx="4823624" cy="1309479"/>
            <a:chOff x="9485376" y="303275"/>
            <a:chExt cx="2713355" cy="736600"/>
          </a:xfrm>
          <a:solidFill>
            <a:srgbClr val="EB9B0B"/>
          </a:solidFill>
        </p:grpSpPr>
        <p:sp>
          <p:nvSpPr>
            <p:cNvPr id="16" name="object 6">
              <a:extLst>
                <a:ext uri="{FF2B5EF4-FFF2-40B4-BE49-F238E27FC236}">
                  <a16:creationId xmlns:a16="http://schemas.microsoft.com/office/drawing/2014/main" id="{FE5E6670-6FA2-8CC5-189D-E93B407A193E}"/>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17" name="object 7">
              <a:extLst>
                <a:ext uri="{FF2B5EF4-FFF2-40B4-BE49-F238E27FC236}">
                  <a16:creationId xmlns:a16="http://schemas.microsoft.com/office/drawing/2014/main" id="{6EB9157A-649E-DE5B-01E5-96698ACB5E54}"/>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18" name="object 8">
              <a:extLst>
                <a:ext uri="{FF2B5EF4-FFF2-40B4-BE49-F238E27FC236}">
                  <a16:creationId xmlns:a16="http://schemas.microsoft.com/office/drawing/2014/main" id="{A4E5C472-B36B-B951-E605-69E5AFA3B0A4}"/>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19" name="object 9">
            <a:extLst>
              <a:ext uri="{FF2B5EF4-FFF2-40B4-BE49-F238E27FC236}">
                <a16:creationId xmlns:a16="http://schemas.microsoft.com/office/drawing/2014/main" id="{B190C375-E69A-95BC-F835-C39656C994BC}"/>
              </a:ext>
            </a:extLst>
          </p:cNvPr>
          <p:cNvSpPr txBox="1">
            <a:spLocks/>
          </p:cNvSpPr>
          <p:nvPr/>
        </p:nvSpPr>
        <p:spPr>
          <a:xfrm>
            <a:off x="16291671" y="701015"/>
            <a:ext cx="5116109" cy="762601"/>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1136741">
              <a:spcBef>
                <a:spcPts val="187"/>
              </a:spcBef>
            </a:pPr>
            <a:r>
              <a:rPr lang="en-CA" sz="4800" spc="-18" dirty="0">
                <a:solidFill>
                  <a:srgbClr val="FFFFFF"/>
                </a:solidFill>
                <a:latin typeface="Aptos Black" panose="020B0004020202020204" pitchFamily="34" charset="0"/>
              </a:rPr>
              <a:t>environment</a:t>
            </a:r>
            <a:endParaRPr lang="en-CA" sz="4800" dirty="0">
              <a:latin typeface="Aptos Black" panose="020B00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0E70F-2FFC-A480-2919-511AC4DF75C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C57E368-CA79-9F91-09E3-3D0E6AC9A2FC}"/>
              </a:ext>
            </a:extLst>
          </p:cNvPr>
          <p:cNvSpPr txBox="1"/>
          <p:nvPr/>
        </p:nvSpPr>
        <p:spPr>
          <a:xfrm>
            <a:off x="1309479" y="1314749"/>
            <a:ext cx="14845654" cy="1501265"/>
          </a:xfrm>
          <a:prstGeom prst="rect">
            <a:avLst/>
          </a:prstGeom>
        </p:spPr>
        <p:txBody>
          <a:bodyPr vert="horz" wrap="square" lIns="0" tIns="23706" rIns="0" bIns="0" rtlCol="0">
            <a:spAutoFit/>
          </a:bodyPr>
          <a:lstStyle/>
          <a:p>
            <a:pPr marL="22577">
              <a:spcBef>
                <a:spcPts val="187"/>
              </a:spcBef>
            </a:pPr>
            <a:r>
              <a:rPr sz="9600" spc="-276" dirty="0">
                <a:solidFill>
                  <a:srgbClr val="50B4C7"/>
                </a:solidFill>
                <a:latin typeface="Aptos Black" panose="020B0004020202020204" pitchFamily="34" charset="0"/>
                <a:cs typeface="Calibri Light"/>
              </a:rPr>
              <a:t>Navigating </a:t>
            </a:r>
            <a:r>
              <a:rPr sz="9600" spc="-196" dirty="0">
                <a:solidFill>
                  <a:srgbClr val="50B4C7"/>
                </a:solidFill>
                <a:latin typeface="Aptos Black" panose="020B0004020202020204" pitchFamily="34" charset="0"/>
                <a:cs typeface="Calibri Light"/>
              </a:rPr>
              <a:t>the</a:t>
            </a:r>
            <a:r>
              <a:rPr sz="9600" spc="-391" dirty="0">
                <a:solidFill>
                  <a:srgbClr val="50B4C7"/>
                </a:solidFill>
                <a:latin typeface="Aptos Black" panose="020B0004020202020204" pitchFamily="34" charset="0"/>
                <a:cs typeface="Calibri Light"/>
              </a:rPr>
              <a:t> </a:t>
            </a:r>
            <a:r>
              <a:rPr sz="9600" spc="-249" dirty="0">
                <a:solidFill>
                  <a:srgbClr val="50B4C7"/>
                </a:solidFill>
                <a:latin typeface="Aptos Black" panose="020B0004020202020204" pitchFamily="34" charset="0"/>
                <a:cs typeface="Calibri Light"/>
              </a:rPr>
              <a:t>interface</a:t>
            </a:r>
            <a:endParaRPr sz="9600" dirty="0">
              <a:latin typeface="Aptos Black" panose="020B0004020202020204" pitchFamily="34" charset="0"/>
              <a:cs typeface="Calibri Light"/>
            </a:endParaRPr>
          </a:p>
        </p:txBody>
      </p:sp>
      <p:grpSp>
        <p:nvGrpSpPr>
          <p:cNvPr id="5" name="object 5">
            <a:extLst>
              <a:ext uri="{FF2B5EF4-FFF2-40B4-BE49-F238E27FC236}">
                <a16:creationId xmlns:a16="http://schemas.microsoft.com/office/drawing/2014/main" id="{C3450DD8-EB87-28C2-DDDB-63E651B59122}"/>
              </a:ext>
            </a:extLst>
          </p:cNvPr>
          <p:cNvGrpSpPr/>
          <p:nvPr/>
        </p:nvGrpSpPr>
        <p:grpSpPr>
          <a:xfrm>
            <a:off x="16862484" y="427576"/>
            <a:ext cx="4823624" cy="1309479"/>
            <a:chOff x="9485376" y="303275"/>
            <a:chExt cx="2713355" cy="736600"/>
          </a:xfrm>
          <a:solidFill>
            <a:srgbClr val="EB9B0B"/>
          </a:solidFill>
        </p:grpSpPr>
        <p:sp>
          <p:nvSpPr>
            <p:cNvPr id="6" name="object 6">
              <a:extLst>
                <a:ext uri="{FF2B5EF4-FFF2-40B4-BE49-F238E27FC236}">
                  <a16:creationId xmlns:a16="http://schemas.microsoft.com/office/drawing/2014/main" id="{DF247E2C-A067-BE45-ED77-343FB81BE5C7}"/>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7" name="object 7">
              <a:extLst>
                <a:ext uri="{FF2B5EF4-FFF2-40B4-BE49-F238E27FC236}">
                  <a16:creationId xmlns:a16="http://schemas.microsoft.com/office/drawing/2014/main" id="{4C10823F-B061-B81A-46C9-47EF2E72ED25}"/>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8" name="object 8">
              <a:extLst>
                <a:ext uri="{FF2B5EF4-FFF2-40B4-BE49-F238E27FC236}">
                  <a16:creationId xmlns:a16="http://schemas.microsoft.com/office/drawing/2014/main" id="{2112A021-B909-514F-F76E-93D06C6513EF}"/>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9" name="object 9">
            <a:extLst>
              <a:ext uri="{FF2B5EF4-FFF2-40B4-BE49-F238E27FC236}">
                <a16:creationId xmlns:a16="http://schemas.microsoft.com/office/drawing/2014/main" id="{BC852EA4-F632-5530-143A-08DF8B7A48BF}"/>
              </a:ext>
            </a:extLst>
          </p:cNvPr>
          <p:cNvSpPr txBox="1">
            <a:spLocks noGrp="1"/>
          </p:cNvSpPr>
          <p:nvPr>
            <p:ph type="title"/>
          </p:nvPr>
        </p:nvSpPr>
        <p:spPr>
          <a:xfrm>
            <a:off x="16941520" y="572260"/>
            <a:ext cx="4665551" cy="1008823"/>
          </a:xfrm>
          <a:prstGeom prst="rect">
            <a:avLst/>
          </a:prstGeom>
        </p:spPr>
        <p:txBody>
          <a:bodyPr vert="horz" wrap="square" lIns="0" tIns="23706" rIns="0" bIns="0" rtlCol="0">
            <a:spAutoFit/>
          </a:bodyPr>
          <a:lstStyle/>
          <a:p>
            <a:pPr marL="1136741">
              <a:spcBef>
                <a:spcPts val="187"/>
              </a:spcBef>
            </a:pPr>
            <a:r>
              <a:rPr lang="en-CA" sz="6400" spc="-18" dirty="0">
                <a:solidFill>
                  <a:srgbClr val="FFFFFF"/>
                </a:solidFill>
                <a:latin typeface="Aptos Black" panose="020B0004020202020204" pitchFamily="34" charset="0"/>
              </a:rPr>
              <a:t>script</a:t>
            </a:r>
            <a:endParaRPr sz="6400" dirty="0">
              <a:latin typeface="Aptos Black" panose="020B0004020202020204" pitchFamily="34" charset="0"/>
            </a:endParaRPr>
          </a:p>
        </p:txBody>
      </p:sp>
      <p:sp>
        <p:nvSpPr>
          <p:cNvPr id="3" name="object 4">
            <a:extLst>
              <a:ext uri="{FF2B5EF4-FFF2-40B4-BE49-F238E27FC236}">
                <a16:creationId xmlns:a16="http://schemas.microsoft.com/office/drawing/2014/main" id="{8578EDE3-C335-F25B-CAB0-15A357FFA653}"/>
              </a:ext>
            </a:extLst>
          </p:cNvPr>
          <p:cNvSpPr txBox="1"/>
          <p:nvPr/>
        </p:nvSpPr>
        <p:spPr>
          <a:xfrm>
            <a:off x="1309479" y="3012668"/>
            <a:ext cx="18500004" cy="4606380"/>
          </a:xfrm>
          <a:prstGeom prst="rect">
            <a:avLst/>
          </a:prstGeom>
        </p:spPr>
        <p:txBody>
          <a:bodyPr vert="horz" wrap="square" lIns="0" tIns="117402" rIns="0" bIns="0" rtlCol="0">
            <a:spAutoFit/>
          </a:bodyPr>
          <a:lstStyle/>
          <a:p>
            <a:pPr marL="22577" marR="9031">
              <a:lnSpc>
                <a:spcPct val="85400"/>
              </a:lnSpc>
              <a:spcBef>
                <a:spcPts val="924"/>
              </a:spcBef>
            </a:pPr>
            <a:r>
              <a:rPr lang="en-CA" sz="4266" dirty="0">
                <a:solidFill>
                  <a:srgbClr val="333333"/>
                </a:solidFill>
                <a:latin typeface="Calibri Light"/>
                <a:cs typeface="Calibri Light"/>
              </a:rPr>
              <a:t>To run code from a script there are a couple options:</a:t>
            </a:r>
          </a:p>
          <a:p>
            <a:pPr marL="765527" marR="9031" indent="-742950">
              <a:lnSpc>
                <a:spcPct val="85400"/>
              </a:lnSpc>
              <a:spcBef>
                <a:spcPts val="924"/>
              </a:spcBef>
              <a:buAutoNum type="arabicPeriod"/>
            </a:pPr>
            <a:r>
              <a:rPr lang="en-CA" sz="4266" dirty="0">
                <a:solidFill>
                  <a:srgbClr val="333333"/>
                </a:solidFill>
                <a:latin typeface="Calibri Light"/>
                <a:cs typeface="Calibri Light"/>
              </a:rPr>
              <a:t>Click “Run” button</a:t>
            </a:r>
          </a:p>
          <a:p>
            <a:pPr marL="765527" marR="9031" indent="-742950">
              <a:lnSpc>
                <a:spcPct val="85400"/>
              </a:lnSpc>
              <a:spcBef>
                <a:spcPts val="924"/>
              </a:spcBef>
              <a:buAutoNum type="arabicPeriod"/>
            </a:pPr>
            <a:r>
              <a:rPr lang="en-CA" sz="4266" dirty="0">
                <a:solidFill>
                  <a:srgbClr val="333333"/>
                </a:solidFill>
                <a:latin typeface="Calibri Light"/>
                <a:cs typeface="Calibri Light"/>
              </a:rPr>
              <a:t>Hit “Ctrl” + “Enter”</a:t>
            </a:r>
          </a:p>
          <a:p>
            <a:pPr marL="22577" marR="9031">
              <a:lnSpc>
                <a:spcPct val="85400"/>
              </a:lnSpc>
              <a:spcBef>
                <a:spcPts val="924"/>
              </a:spcBef>
            </a:pPr>
            <a:endParaRPr lang="en-CA" sz="4266" dirty="0">
              <a:solidFill>
                <a:srgbClr val="333333"/>
              </a:solidFill>
              <a:latin typeface="Calibri Light"/>
              <a:cs typeface="Calibri Light"/>
            </a:endParaRPr>
          </a:p>
          <a:p>
            <a:pPr marL="22577" marR="9031">
              <a:lnSpc>
                <a:spcPct val="85400"/>
              </a:lnSpc>
              <a:spcBef>
                <a:spcPts val="924"/>
              </a:spcBef>
            </a:pPr>
            <a:r>
              <a:rPr lang="en-CA" sz="4266" dirty="0">
                <a:solidFill>
                  <a:srgbClr val="333333"/>
                </a:solidFill>
                <a:latin typeface="Calibri Light"/>
                <a:cs typeface="Calibri Light"/>
              </a:rPr>
              <a:t>Clicking the run button (or hitting Ctrl + Enter) will run the current line of code where the cursor is. </a:t>
            </a:r>
          </a:p>
          <a:p>
            <a:pPr marL="22577" marR="9031">
              <a:lnSpc>
                <a:spcPct val="85400"/>
              </a:lnSpc>
              <a:spcBef>
                <a:spcPts val="924"/>
              </a:spcBef>
            </a:pPr>
            <a:r>
              <a:rPr lang="en-CA" sz="4266" dirty="0">
                <a:solidFill>
                  <a:srgbClr val="333333"/>
                </a:solidFill>
                <a:latin typeface="Calibri Light"/>
                <a:cs typeface="Calibri Light"/>
              </a:rPr>
              <a:t>If you highlight multiple lines you can run them all</a:t>
            </a:r>
            <a:endParaRPr sz="4266" dirty="0">
              <a:latin typeface="Calibri Light"/>
              <a:cs typeface="Calibri Light"/>
            </a:endParaRPr>
          </a:p>
        </p:txBody>
      </p:sp>
      <p:pic>
        <p:nvPicPr>
          <p:cNvPr id="10" name="Picture 9">
            <a:extLst>
              <a:ext uri="{FF2B5EF4-FFF2-40B4-BE49-F238E27FC236}">
                <a16:creationId xmlns:a16="http://schemas.microsoft.com/office/drawing/2014/main" id="{CF2EE3CE-95D5-87AA-4D10-06D4D1E619D9}"/>
              </a:ext>
            </a:extLst>
          </p:cNvPr>
          <p:cNvPicPr>
            <a:picLocks noChangeAspect="1"/>
          </p:cNvPicPr>
          <p:nvPr/>
        </p:nvPicPr>
        <p:blipFill>
          <a:blip r:embed="rId2"/>
          <a:stretch>
            <a:fillRect/>
          </a:stretch>
        </p:blipFill>
        <p:spPr>
          <a:xfrm>
            <a:off x="4563061" y="8001000"/>
            <a:ext cx="11992840" cy="3810000"/>
          </a:xfrm>
          <a:prstGeom prst="rect">
            <a:avLst/>
          </a:prstGeom>
        </p:spPr>
      </p:pic>
    </p:spTree>
    <p:extLst>
      <p:ext uri="{BB962C8B-B14F-4D97-AF65-F5344CB8AC3E}">
        <p14:creationId xmlns:p14="http://schemas.microsoft.com/office/powerpoint/2010/main" val="1821198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1065" y="108417"/>
            <a:ext cx="33875049" cy="2678765"/>
          </a:xfrm>
          <a:prstGeom prst="rect">
            <a:avLst/>
          </a:prstGeom>
        </p:spPr>
        <p:txBody>
          <a:bodyPr vert="horz" wrap="square" lIns="0" tIns="1189854" rIns="0" bIns="0" rtlCol="0">
            <a:spAutoFit/>
          </a:bodyPr>
          <a:lstStyle/>
          <a:p>
            <a:pPr marL="22577">
              <a:spcBef>
                <a:spcPts val="187"/>
              </a:spcBef>
            </a:pPr>
            <a:r>
              <a:rPr spc="-276" dirty="0">
                <a:solidFill>
                  <a:srgbClr val="50B4C7"/>
                </a:solidFill>
                <a:latin typeface="Aptos Black" panose="020B0004020202020204" pitchFamily="34" charset="0"/>
              </a:rPr>
              <a:t>Working</a:t>
            </a:r>
            <a:r>
              <a:rPr spc="-258" dirty="0">
                <a:solidFill>
                  <a:srgbClr val="50B4C7"/>
                </a:solidFill>
                <a:latin typeface="Aptos Black" panose="020B0004020202020204" pitchFamily="34" charset="0"/>
              </a:rPr>
              <a:t> </a:t>
            </a:r>
            <a:r>
              <a:rPr spc="-240" dirty="0">
                <a:solidFill>
                  <a:srgbClr val="50B4C7"/>
                </a:solidFill>
                <a:latin typeface="Aptos Black" panose="020B0004020202020204" pitchFamily="34" charset="0"/>
              </a:rPr>
              <a:t>director</a:t>
            </a:r>
            <a:r>
              <a:rPr lang="en-CA" spc="-240" dirty="0">
                <a:solidFill>
                  <a:srgbClr val="50B4C7"/>
                </a:solidFill>
                <a:latin typeface="Aptos Black" panose="020B0004020202020204" pitchFamily="34" charset="0"/>
              </a:rPr>
              <a:t>y</a:t>
            </a:r>
            <a:endParaRPr spc="-240" dirty="0">
              <a:solidFill>
                <a:srgbClr val="50B4C7"/>
              </a:solidFill>
              <a:latin typeface="Aptos Black" panose="020B0004020202020204" pitchFamily="34" charset="0"/>
            </a:endParaRPr>
          </a:p>
        </p:txBody>
      </p:sp>
      <p:pic>
        <p:nvPicPr>
          <p:cNvPr id="3" name="object 3"/>
          <p:cNvPicPr/>
          <p:nvPr/>
        </p:nvPicPr>
        <p:blipFill>
          <a:blip r:embed="rId2" cstate="print"/>
          <a:stretch>
            <a:fillRect/>
          </a:stretch>
        </p:blipFill>
        <p:spPr>
          <a:xfrm>
            <a:off x="10887872" y="6977010"/>
            <a:ext cx="6485308" cy="1168371"/>
          </a:xfrm>
          <a:prstGeom prst="rect">
            <a:avLst/>
          </a:prstGeom>
        </p:spPr>
      </p:pic>
      <p:sp>
        <p:nvSpPr>
          <p:cNvPr id="4" name="object 4"/>
          <p:cNvSpPr txBox="1"/>
          <p:nvPr/>
        </p:nvSpPr>
        <p:spPr>
          <a:xfrm>
            <a:off x="1481065" y="3352800"/>
            <a:ext cx="18120482" cy="2913353"/>
          </a:xfrm>
          <a:prstGeom prst="rect">
            <a:avLst/>
          </a:prstGeom>
        </p:spPr>
        <p:txBody>
          <a:bodyPr vert="horz" wrap="square" lIns="0" tIns="117402" rIns="0" bIns="0" rtlCol="0">
            <a:spAutoFit/>
          </a:bodyPr>
          <a:lstStyle/>
          <a:p>
            <a:pPr marL="22577" marR="9031">
              <a:lnSpc>
                <a:spcPct val="85400"/>
              </a:lnSpc>
              <a:spcBef>
                <a:spcPts val="924"/>
              </a:spcBef>
            </a:pPr>
            <a:r>
              <a:rPr sz="4266" dirty="0">
                <a:solidFill>
                  <a:srgbClr val="333333"/>
                </a:solidFill>
                <a:latin typeface="Calibri Light"/>
                <a:cs typeface="Calibri Light"/>
              </a:rPr>
              <a:t>The</a:t>
            </a:r>
            <a:r>
              <a:rPr sz="4266" spc="9" dirty="0">
                <a:solidFill>
                  <a:srgbClr val="333333"/>
                </a:solidFill>
                <a:latin typeface="Calibri Light"/>
                <a:cs typeface="Calibri Light"/>
              </a:rPr>
              <a:t> </a:t>
            </a:r>
            <a:r>
              <a:rPr sz="4266" dirty="0">
                <a:solidFill>
                  <a:srgbClr val="333333"/>
                </a:solidFill>
                <a:latin typeface="Calibri Light"/>
                <a:cs typeface="Calibri Light"/>
              </a:rPr>
              <a:t>working</a:t>
            </a:r>
            <a:r>
              <a:rPr sz="4266" spc="-267" dirty="0">
                <a:solidFill>
                  <a:srgbClr val="333333"/>
                </a:solidFill>
                <a:latin typeface="Calibri Light"/>
                <a:cs typeface="Calibri Light"/>
              </a:rPr>
              <a:t> </a:t>
            </a:r>
            <a:r>
              <a:rPr sz="4266" spc="-18" dirty="0">
                <a:solidFill>
                  <a:srgbClr val="333333"/>
                </a:solidFill>
                <a:latin typeface="Calibri Light"/>
                <a:cs typeface="Calibri Light"/>
              </a:rPr>
              <a:t>directory</a:t>
            </a:r>
            <a:r>
              <a:rPr sz="4266" spc="-471" dirty="0">
                <a:solidFill>
                  <a:srgbClr val="333333"/>
                </a:solidFill>
                <a:latin typeface="Calibri Light"/>
                <a:cs typeface="Calibri Light"/>
              </a:rPr>
              <a:t> </a:t>
            </a:r>
            <a:r>
              <a:rPr sz="4266" dirty="0">
                <a:solidFill>
                  <a:srgbClr val="333333"/>
                </a:solidFill>
                <a:latin typeface="Calibri Light"/>
                <a:cs typeface="Calibri Light"/>
              </a:rPr>
              <a:t>is</a:t>
            </a:r>
            <a:r>
              <a:rPr sz="4266" spc="-53" dirty="0">
                <a:solidFill>
                  <a:srgbClr val="333333"/>
                </a:solidFill>
                <a:latin typeface="Calibri Light"/>
                <a:cs typeface="Calibri Light"/>
              </a:rPr>
              <a:t> </a:t>
            </a:r>
            <a:r>
              <a:rPr sz="4266" dirty="0">
                <a:solidFill>
                  <a:srgbClr val="333333"/>
                </a:solidFill>
                <a:latin typeface="Calibri Light"/>
                <a:cs typeface="Calibri Light"/>
              </a:rPr>
              <a:t>the</a:t>
            </a:r>
            <a:r>
              <a:rPr sz="4266" spc="27" dirty="0">
                <a:solidFill>
                  <a:srgbClr val="333333"/>
                </a:solidFill>
                <a:latin typeface="Calibri Light"/>
                <a:cs typeface="Calibri Light"/>
              </a:rPr>
              <a:t> </a:t>
            </a:r>
            <a:r>
              <a:rPr sz="4266" dirty="0">
                <a:solidFill>
                  <a:srgbClr val="333333"/>
                </a:solidFill>
                <a:latin typeface="Calibri Light"/>
                <a:cs typeface="Calibri Light"/>
              </a:rPr>
              <a:t>default</a:t>
            </a:r>
            <a:r>
              <a:rPr sz="4266" spc="-222" dirty="0">
                <a:solidFill>
                  <a:srgbClr val="333333"/>
                </a:solidFill>
                <a:latin typeface="Calibri Light"/>
                <a:cs typeface="Calibri Light"/>
              </a:rPr>
              <a:t> </a:t>
            </a:r>
            <a:r>
              <a:rPr sz="4266" dirty="0">
                <a:solidFill>
                  <a:srgbClr val="333333"/>
                </a:solidFill>
                <a:latin typeface="Calibri Light"/>
                <a:cs typeface="Calibri Light"/>
              </a:rPr>
              <a:t>location</a:t>
            </a:r>
            <a:r>
              <a:rPr sz="4266" spc="-222" dirty="0">
                <a:solidFill>
                  <a:srgbClr val="333333"/>
                </a:solidFill>
                <a:latin typeface="Calibri Light"/>
                <a:cs typeface="Calibri Light"/>
              </a:rPr>
              <a:t> </a:t>
            </a:r>
            <a:r>
              <a:rPr sz="4266" dirty="0">
                <a:solidFill>
                  <a:srgbClr val="333333"/>
                </a:solidFill>
                <a:latin typeface="Calibri Light"/>
                <a:cs typeface="Calibri Light"/>
              </a:rPr>
              <a:t>where</a:t>
            </a:r>
            <a:r>
              <a:rPr sz="4266" spc="-116" dirty="0">
                <a:solidFill>
                  <a:srgbClr val="333333"/>
                </a:solidFill>
                <a:latin typeface="Calibri Light"/>
                <a:cs typeface="Calibri Light"/>
              </a:rPr>
              <a:t> </a:t>
            </a:r>
            <a:r>
              <a:rPr sz="4266" dirty="0">
                <a:solidFill>
                  <a:srgbClr val="333333"/>
                </a:solidFill>
                <a:latin typeface="Calibri Light"/>
                <a:cs typeface="Calibri Light"/>
              </a:rPr>
              <a:t>R will</a:t>
            </a:r>
            <a:r>
              <a:rPr sz="4266" spc="116" dirty="0">
                <a:solidFill>
                  <a:srgbClr val="333333"/>
                </a:solidFill>
                <a:latin typeface="Calibri Light"/>
                <a:cs typeface="Calibri Light"/>
              </a:rPr>
              <a:t> </a:t>
            </a:r>
            <a:r>
              <a:rPr sz="4266" dirty="0">
                <a:solidFill>
                  <a:srgbClr val="333333"/>
                </a:solidFill>
                <a:latin typeface="Calibri Light"/>
                <a:cs typeface="Calibri Light"/>
              </a:rPr>
              <a:t>look</a:t>
            </a:r>
            <a:r>
              <a:rPr sz="4266" spc="-160" dirty="0">
                <a:solidFill>
                  <a:srgbClr val="333333"/>
                </a:solidFill>
                <a:latin typeface="Calibri Light"/>
                <a:cs typeface="Calibri Light"/>
              </a:rPr>
              <a:t> </a:t>
            </a:r>
            <a:r>
              <a:rPr sz="4266" dirty="0">
                <a:solidFill>
                  <a:srgbClr val="333333"/>
                </a:solidFill>
                <a:latin typeface="Calibri Light"/>
                <a:cs typeface="Calibri Light"/>
              </a:rPr>
              <a:t>for files</a:t>
            </a:r>
            <a:r>
              <a:rPr sz="4266" spc="-27" dirty="0">
                <a:solidFill>
                  <a:srgbClr val="333333"/>
                </a:solidFill>
                <a:latin typeface="Calibri Light"/>
                <a:cs typeface="Calibri Light"/>
              </a:rPr>
              <a:t> </a:t>
            </a:r>
            <a:r>
              <a:rPr sz="4266" dirty="0">
                <a:solidFill>
                  <a:srgbClr val="333333"/>
                </a:solidFill>
                <a:latin typeface="Calibri Light"/>
                <a:cs typeface="Calibri Light"/>
              </a:rPr>
              <a:t>you</a:t>
            </a:r>
            <a:r>
              <a:rPr sz="4266" spc="-98" dirty="0">
                <a:solidFill>
                  <a:srgbClr val="333333"/>
                </a:solidFill>
                <a:latin typeface="Calibri Light"/>
                <a:cs typeface="Calibri Light"/>
              </a:rPr>
              <a:t> </a:t>
            </a:r>
            <a:r>
              <a:rPr sz="4266" dirty="0">
                <a:solidFill>
                  <a:srgbClr val="333333"/>
                </a:solidFill>
                <a:latin typeface="Calibri Light"/>
                <a:cs typeface="Calibri Light"/>
              </a:rPr>
              <a:t>want</a:t>
            </a:r>
            <a:r>
              <a:rPr sz="4266" spc="-80" dirty="0">
                <a:solidFill>
                  <a:srgbClr val="333333"/>
                </a:solidFill>
                <a:latin typeface="Calibri Light"/>
                <a:cs typeface="Calibri Light"/>
              </a:rPr>
              <a:t> </a:t>
            </a:r>
            <a:r>
              <a:rPr sz="4266" spc="-44" dirty="0">
                <a:solidFill>
                  <a:srgbClr val="333333"/>
                </a:solidFill>
                <a:latin typeface="Calibri Light"/>
                <a:cs typeface="Calibri Light"/>
              </a:rPr>
              <a:t>to </a:t>
            </a:r>
            <a:r>
              <a:rPr sz="4266" dirty="0">
                <a:solidFill>
                  <a:srgbClr val="333333"/>
                </a:solidFill>
                <a:latin typeface="Calibri Light"/>
                <a:cs typeface="Calibri Light"/>
              </a:rPr>
              <a:t>load</a:t>
            </a:r>
            <a:r>
              <a:rPr sz="4266" spc="-160" dirty="0">
                <a:solidFill>
                  <a:srgbClr val="333333"/>
                </a:solidFill>
                <a:latin typeface="Calibri Light"/>
                <a:cs typeface="Calibri Light"/>
              </a:rPr>
              <a:t> </a:t>
            </a:r>
            <a:r>
              <a:rPr sz="4266" dirty="0">
                <a:solidFill>
                  <a:srgbClr val="333333"/>
                </a:solidFill>
                <a:latin typeface="Calibri Light"/>
                <a:cs typeface="Calibri Light"/>
              </a:rPr>
              <a:t>and</a:t>
            </a:r>
            <a:r>
              <a:rPr sz="4266" spc="18" dirty="0">
                <a:solidFill>
                  <a:srgbClr val="333333"/>
                </a:solidFill>
                <a:latin typeface="Calibri Light"/>
                <a:cs typeface="Calibri Light"/>
              </a:rPr>
              <a:t> </a:t>
            </a:r>
            <a:r>
              <a:rPr sz="4266" dirty="0">
                <a:solidFill>
                  <a:srgbClr val="333333"/>
                </a:solidFill>
                <a:latin typeface="Calibri Light"/>
                <a:cs typeface="Calibri Light"/>
              </a:rPr>
              <a:t>where</a:t>
            </a:r>
            <a:r>
              <a:rPr sz="4266" spc="-160" dirty="0">
                <a:solidFill>
                  <a:srgbClr val="333333"/>
                </a:solidFill>
                <a:latin typeface="Calibri Light"/>
                <a:cs typeface="Calibri Light"/>
              </a:rPr>
              <a:t> </a:t>
            </a:r>
            <a:r>
              <a:rPr sz="4266" dirty="0">
                <a:solidFill>
                  <a:srgbClr val="333333"/>
                </a:solidFill>
                <a:latin typeface="Calibri Light"/>
                <a:cs typeface="Calibri Light"/>
              </a:rPr>
              <a:t>it</a:t>
            </a:r>
            <a:r>
              <a:rPr sz="4266" spc="9" dirty="0">
                <a:solidFill>
                  <a:srgbClr val="333333"/>
                </a:solidFill>
                <a:latin typeface="Calibri Light"/>
                <a:cs typeface="Calibri Light"/>
              </a:rPr>
              <a:t> </a:t>
            </a:r>
            <a:r>
              <a:rPr sz="4266" dirty="0">
                <a:solidFill>
                  <a:srgbClr val="333333"/>
                </a:solidFill>
                <a:latin typeface="Calibri Light"/>
                <a:cs typeface="Calibri Light"/>
              </a:rPr>
              <a:t>will</a:t>
            </a:r>
            <a:r>
              <a:rPr sz="4266" spc="80" dirty="0">
                <a:solidFill>
                  <a:srgbClr val="333333"/>
                </a:solidFill>
                <a:latin typeface="Calibri Light"/>
                <a:cs typeface="Calibri Light"/>
              </a:rPr>
              <a:t> </a:t>
            </a:r>
            <a:r>
              <a:rPr sz="4266" dirty="0">
                <a:solidFill>
                  <a:srgbClr val="333333"/>
                </a:solidFill>
                <a:latin typeface="Calibri Light"/>
                <a:cs typeface="Calibri Light"/>
              </a:rPr>
              <a:t>put</a:t>
            </a:r>
            <a:r>
              <a:rPr sz="4266" spc="-116" dirty="0">
                <a:solidFill>
                  <a:srgbClr val="333333"/>
                </a:solidFill>
                <a:latin typeface="Calibri Light"/>
                <a:cs typeface="Calibri Light"/>
              </a:rPr>
              <a:t> </a:t>
            </a:r>
            <a:r>
              <a:rPr sz="4266" dirty="0">
                <a:solidFill>
                  <a:srgbClr val="333333"/>
                </a:solidFill>
                <a:latin typeface="Calibri Light"/>
                <a:cs typeface="Calibri Light"/>
              </a:rPr>
              <a:t>any</a:t>
            </a:r>
            <a:r>
              <a:rPr sz="4266" spc="-53" dirty="0">
                <a:solidFill>
                  <a:srgbClr val="333333"/>
                </a:solidFill>
                <a:latin typeface="Calibri Light"/>
                <a:cs typeface="Calibri Light"/>
              </a:rPr>
              <a:t> </a:t>
            </a:r>
            <a:r>
              <a:rPr sz="4266" dirty="0">
                <a:solidFill>
                  <a:srgbClr val="333333"/>
                </a:solidFill>
                <a:latin typeface="Calibri Light"/>
                <a:cs typeface="Calibri Light"/>
              </a:rPr>
              <a:t>files</a:t>
            </a:r>
            <a:r>
              <a:rPr sz="4266" spc="-36" dirty="0">
                <a:solidFill>
                  <a:srgbClr val="333333"/>
                </a:solidFill>
                <a:latin typeface="Calibri Light"/>
                <a:cs typeface="Calibri Light"/>
              </a:rPr>
              <a:t> </a:t>
            </a:r>
            <a:r>
              <a:rPr sz="4266" dirty="0">
                <a:solidFill>
                  <a:srgbClr val="333333"/>
                </a:solidFill>
                <a:latin typeface="Calibri Light"/>
                <a:cs typeface="Calibri Light"/>
              </a:rPr>
              <a:t>you</a:t>
            </a:r>
            <a:r>
              <a:rPr sz="4266" spc="-124" dirty="0">
                <a:solidFill>
                  <a:srgbClr val="333333"/>
                </a:solidFill>
                <a:latin typeface="Calibri Light"/>
                <a:cs typeface="Calibri Light"/>
              </a:rPr>
              <a:t> </a:t>
            </a:r>
            <a:r>
              <a:rPr sz="4266" dirty="0">
                <a:solidFill>
                  <a:srgbClr val="333333"/>
                </a:solidFill>
                <a:latin typeface="Calibri Light"/>
                <a:cs typeface="Calibri Light"/>
              </a:rPr>
              <a:t>save.</a:t>
            </a:r>
            <a:r>
              <a:rPr sz="4266" spc="-18" dirty="0">
                <a:solidFill>
                  <a:srgbClr val="333333"/>
                </a:solidFill>
                <a:latin typeface="Calibri Light"/>
                <a:cs typeface="Calibri Light"/>
              </a:rPr>
              <a:t> </a:t>
            </a:r>
            <a:r>
              <a:rPr sz="4266" dirty="0">
                <a:solidFill>
                  <a:srgbClr val="333333"/>
                </a:solidFill>
                <a:latin typeface="Calibri Light"/>
                <a:cs typeface="Calibri Light"/>
              </a:rPr>
              <a:t>You can</a:t>
            </a:r>
            <a:r>
              <a:rPr sz="4266" spc="-133" dirty="0">
                <a:solidFill>
                  <a:srgbClr val="333333"/>
                </a:solidFill>
                <a:latin typeface="Calibri Light"/>
                <a:cs typeface="Calibri Light"/>
              </a:rPr>
              <a:t> </a:t>
            </a:r>
            <a:r>
              <a:rPr sz="4266" dirty="0">
                <a:solidFill>
                  <a:srgbClr val="333333"/>
                </a:solidFill>
                <a:latin typeface="Calibri Light"/>
                <a:cs typeface="Calibri Light"/>
              </a:rPr>
              <a:t>check</a:t>
            </a:r>
            <a:r>
              <a:rPr sz="4266" spc="-178" dirty="0">
                <a:solidFill>
                  <a:srgbClr val="333333"/>
                </a:solidFill>
                <a:latin typeface="Calibri Light"/>
                <a:cs typeface="Calibri Light"/>
              </a:rPr>
              <a:t> </a:t>
            </a:r>
            <a:r>
              <a:rPr sz="4266" dirty="0">
                <a:solidFill>
                  <a:srgbClr val="333333"/>
                </a:solidFill>
                <a:latin typeface="Calibri Light"/>
                <a:cs typeface="Calibri Light"/>
              </a:rPr>
              <a:t>the</a:t>
            </a:r>
            <a:r>
              <a:rPr sz="4266" spc="-160" dirty="0">
                <a:solidFill>
                  <a:srgbClr val="333333"/>
                </a:solidFill>
                <a:latin typeface="Calibri Light"/>
                <a:cs typeface="Calibri Light"/>
              </a:rPr>
              <a:t> </a:t>
            </a:r>
            <a:r>
              <a:rPr sz="4266" dirty="0">
                <a:solidFill>
                  <a:srgbClr val="333333"/>
                </a:solidFill>
                <a:latin typeface="Calibri Light"/>
                <a:cs typeface="Calibri Light"/>
              </a:rPr>
              <a:t>file path</a:t>
            </a:r>
            <a:r>
              <a:rPr sz="4266" spc="-258" dirty="0">
                <a:solidFill>
                  <a:srgbClr val="333333"/>
                </a:solidFill>
                <a:latin typeface="Calibri Light"/>
                <a:cs typeface="Calibri Light"/>
              </a:rPr>
              <a:t> </a:t>
            </a:r>
            <a:r>
              <a:rPr sz="4266" dirty="0">
                <a:solidFill>
                  <a:srgbClr val="333333"/>
                </a:solidFill>
                <a:latin typeface="Calibri Light"/>
                <a:cs typeface="Calibri Light"/>
              </a:rPr>
              <a:t>of</a:t>
            </a:r>
            <a:r>
              <a:rPr sz="4266" spc="18" dirty="0">
                <a:solidFill>
                  <a:srgbClr val="333333"/>
                </a:solidFill>
                <a:latin typeface="Calibri Light"/>
                <a:cs typeface="Calibri Light"/>
              </a:rPr>
              <a:t> </a:t>
            </a:r>
            <a:r>
              <a:rPr sz="4266" spc="-36" dirty="0">
                <a:solidFill>
                  <a:srgbClr val="333333"/>
                </a:solidFill>
                <a:latin typeface="Calibri Light"/>
                <a:cs typeface="Calibri Light"/>
              </a:rPr>
              <a:t>your </a:t>
            </a:r>
            <a:r>
              <a:rPr sz="4266" dirty="0">
                <a:solidFill>
                  <a:srgbClr val="333333"/>
                </a:solidFill>
                <a:latin typeface="Calibri Light"/>
                <a:cs typeface="Calibri Light"/>
              </a:rPr>
              <a:t>working directory</a:t>
            </a:r>
            <a:r>
              <a:rPr sz="4266" spc="-302" dirty="0">
                <a:solidFill>
                  <a:srgbClr val="333333"/>
                </a:solidFill>
                <a:latin typeface="Calibri Light"/>
                <a:cs typeface="Calibri Light"/>
              </a:rPr>
              <a:t> </a:t>
            </a:r>
            <a:r>
              <a:rPr sz="4266" dirty="0">
                <a:solidFill>
                  <a:srgbClr val="333333"/>
                </a:solidFill>
                <a:latin typeface="Calibri Light"/>
                <a:cs typeface="Calibri Light"/>
              </a:rPr>
              <a:t>by</a:t>
            </a:r>
            <a:r>
              <a:rPr sz="4266" spc="-27" dirty="0">
                <a:solidFill>
                  <a:srgbClr val="333333"/>
                </a:solidFill>
                <a:latin typeface="Calibri Light"/>
                <a:cs typeface="Calibri Light"/>
              </a:rPr>
              <a:t> </a:t>
            </a:r>
            <a:r>
              <a:rPr sz="4266" dirty="0">
                <a:solidFill>
                  <a:srgbClr val="333333"/>
                </a:solidFill>
                <a:latin typeface="Calibri Light"/>
                <a:cs typeface="Calibri Light"/>
              </a:rPr>
              <a:t>looking</a:t>
            </a:r>
            <a:r>
              <a:rPr sz="4266" spc="-142" dirty="0">
                <a:solidFill>
                  <a:srgbClr val="333333"/>
                </a:solidFill>
                <a:latin typeface="Calibri Light"/>
                <a:cs typeface="Calibri Light"/>
              </a:rPr>
              <a:t> </a:t>
            </a:r>
            <a:r>
              <a:rPr sz="4266" dirty="0">
                <a:solidFill>
                  <a:srgbClr val="333333"/>
                </a:solidFill>
                <a:latin typeface="Calibri Light"/>
                <a:cs typeface="Calibri Light"/>
              </a:rPr>
              <a:t>at</a:t>
            </a:r>
            <a:r>
              <a:rPr sz="4266" spc="-18" dirty="0">
                <a:solidFill>
                  <a:srgbClr val="333333"/>
                </a:solidFill>
                <a:latin typeface="Calibri Light"/>
                <a:cs typeface="Calibri Light"/>
              </a:rPr>
              <a:t> </a:t>
            </a:r>
            <a:r>
              <a:rPr sz="4266" dirty="0">
                <a:solidFill>
                  <a:srgbClr val="333333"/>
                </a:solidFill>
                <a:latin typeface="Calibri Light"/>
                <a:cs typeface="Calibri Light"/>
              </a:rPr>
              <a:t>bar</a:t>
            </a:r>
            <a:r>
              <a:rPr sz="4266" spc="-9" dirty="0">
                <a:solidFill>
                  <a:srgbClr val="333333"/>
                </a:solidFill>
                <a:latin typeface="Calibri Light"/>
                <a:cs typeface="Calibri Light"/>
              </a:rPr>
              <a:t> </a:t>
            </a:r>
            <a:r>
              <a:rPr sz="4266" dirty="0">
                <a:solidFill>
                  <a:srgbClr val="333333"/>
                </a:solidFill>
                <a:latin typeface="Calibri Light"/>
                <a:cs typeface="Calibri Light"/>
              </a:rPr>
              <a:t>at</a:t>
            </a:r>
            <a:r>
              <a:rPr sz="4266" spc="-71" dirty="0">
                <a:solidFill>
                  <a:srgbClr val="333333"/>
                </a:solidFill>
                <a:latin typeface="Calibri Light"/>
                <a:cs typeface="Calibri Light"/>
              </a:rPr>
              <a:t> </a:t>
            </a:r>
            <a:r>
              <a:rPr sz="4266" dirty="0">
                <a:solidFill>
                  <a:srgbClr val="333333"/>
                </a:solidFill>
                <a:latin typeface="Calibri Light"/>
                <a:cs typeface="Calibri Light"/>
              </a:rPr>
              <a:t>the</a:t>
            </a:r>
            <a:r>
              <a:rPr sz="4266" spc="36" dirty="0">
                <a:solidFill>
                  <a:srgbClr val="333333"/>
                </a:solidFill>
                <a:latin typeface="Calibri Light"/>
                <a:cs typeface="Calibri Light"/>
              </a:rPr>
              <a:t> </a:t>
            </a:r>
            <a:r>
              <a:rPr sz="4266" dirty="0">
                <a:solidFill>
                  <a:srgbClr val="333333"/>
                </a:solidFill>
                <a:latin typeface="Calibri Light"/>
                <a:cs typeface="Calibri Light"/>
              </a:rPr>
              <a:t>top</a:t>
            </a:r>
            <a:r>
              <a:rPr sz="4266" spc="-231" dirty="0">
                <a:solidFill>
                  <a:srgbClr val="333333"/>
                </a:solidFill>
                <a:latin typeface="Calibri Light"/>
                <a:cs typeface="Calibri Light"/>
              </a:rPr>
              <a:t> </a:t>
            </a:r>
            <a:r>
              <a:rPr sz="4266" dirty="0">
                <a:solidFill>
                  <a:srgbClr val="333333"/>
                </a:solidFill>
                <a:latin typeface="Calibri Light"/>
                <a:cs typeface="Calibri Light"/>
              </a:rPr>
              <a:t>of</a:t>
            </a:r>
            <a:r>
              <a:rPr sz="4266" spc="62" dirty="0">
                <a:solidFill>
                  <a:srgbClr val="333333"/>
                </a:solidFill>
                <a:latin typeface="Calibri Light"/>
                <a:cs typeface="Calibri Light"/>
              </a:rPr>
              <a:t> </a:t>
            </a:r>
            <a:r>
              <a:rPr sz="4266" dirty="0">
                <a:solidFill>
                  <a:srgbClr val="333333"/>
                </a:solidFill>
                <a:latin typeface="Calibri Light"/>
                <a:cs typeface="Calibri Light"/>
              </a:rPr>
              <a:t>the</a:t>
            </a:r>
            <a:r>
              <a:rPr sz="4266" spc="-133" dirty="0">
                <a:solidFill>
                  <a:srgbClr val="333333"/>
                </a:solidFill>
                <a:latin typeface="Calibri Light"/>
                <a:cs typeface="Calibri Light"/>
              </a:rPr>
              <a:t> </a:t>
            </a:r>
            <a:r>
              <a:rPr sz="4266" dirty="0">
                <a:solidFill>
                  <a:srgbClr val="333333"/>
                </a:solidFill>
                <a:latin typeface="Calibri Light"/>
                <a:cs typeface="Calibri Light"/>
              </a:rPr>
              <a:t>Console</a:t>
            </a:r>
            <a:r>
              <a:rPr sz="4266" spc="-133" dirty="0">
                <a:solidFill>
                  <a:srgbClr val="333333"/>
                </a:solidFill>
                <a:latin typeface="Calibri Light"/>
                <a:cs typeface="Calibri Light"/>
              </a:rPr>
              <a:t> </a:t>
            </a:r>
            <a:r>
              <a:rPr sz="4266" dirty="0">
                <a:solidFill>
                  <a:srgbClr val="333333"/>
                </a:solidFill>
                <a:latin typeface="Calibri Light"/>
                <a:cs typeface="Calibri Light"/>
              </a:rPr>
              <a:t>pane.</a:t>
            </a:r>
            <a:r>
              <a:rPr sz="4266" spc="-71" dirty="0">
                <a:solidFill>
                  <a:srgbClr val="333333"/>
                </a:solidFill>
                <a:latin typeface="Calibri Light"/>
                <a:cs typeface="Calibri Light"/>
              </a:rPr>
              <a:t> </a:t>
            </a:r>
            <a:r>
              <a:rPr sz="4266" dirty="0">
                <a:solidFill>
                  <a:srgbClr val="252525"/>
                </a:solidFill>
                <a:latin typeface="Calibri Light"/>
                <a:cs typeface="Calibri Light"/>
              </a:rPr>
              <a:t>You</a:t>
            </a:r>
            <a:r>
              <a:rPr sz="4266" spc="44" dirty="0">
                <a:solidFill>
                  <a:srgbClr val="252525"/>
                </a:solidFill>
                <a:latin typeface="Calibri Light"/>
                <a:cs typeface="Calibri Light"/>
              </a:rPr>
              <a:t> </a:t>
            </a:r>
            <a:r>
              <a:rPr sz="4266" dirty="0">
                <a:solidFill>
                  <a:srgbClr val="252525"/>
                </a:solidFill>
                <a:latin typeface="Calibri Light"/>
                <a:cs typeface="Calibri Light"/>
              </a:rPr>
              <a:t>can</a:t>
            </a:r>
            <a:r>
              <a:rPr sz="4266" spc="-116" dirty="0">
                <a:solidFill>
                  <a:srgbClr val="252525"/>
                </a:solidFill>
                <a:latin typeface="Calibri Light"/>
                <a:cs typeface="Calibri Light"/>
              </a:rPr>
              <a:t> </a:t>
            </a:r>
            <a:r>
              <a:rPr sz="4266" dirty="0">
                <a:solidFill>
                  <a:srgbClr val="252525"/>
                </a:solidFill>
                <a:latin typeface="Calibri Light"/>
                <a:cs typeface="Calibri Light"/>
              </a:rPr>
              <a:t>also</a:t>
            </a:r>
            <a:r>
              <a:rPr sz="4266" spc="36" dirty="0">
                <a:solidFill>
                  <a:srgbClr val="252525"/>
                </a:solidFill>
                <a:latin typeface="Calibri Light"/>
                <a:cs typeface="Calibri Light"/>
              </a:rPr>
              <a:t> </a:t>
            </a:r>
            <a:r>
              <a:rPr sz="4266" spc="-44" dirty="0">
                <a:solidFill>
                  <a:srgbClr val="252525"/>
                </a:solidFill>
                <a:latin typeface="Calibri Light"/>
                <a:cs typeface="Calibri Light"/>
              </a:rPr>
              <a:t>use </a:t>
            </a:r>
            <a:r>
              <a:rPr sz="4266" dirty="0">
                <a:solidFill>
                  <a:srgbClr val="252525"/>
                </a:solidFill>
                <a:latin typeface="Calibri Light"/>
                <a:cs typeface="Calibri Light"/>
              </a:rPr>
              <a:t>the</a:t>
            </a:r>
            <a:r>
              <a:rPr sz="4266" spc="-44" dirty="0">
                <a:solidFill>
                  <a:srgbClr val="252525"/>
                </a:solidFill>
                <a:latin typeface="Calibri Light"/>
                <a:cs typeface="Calibri Light"/>
              </a:rPr>
              <a:t> </a:t>
            </a:r>
            <a:r>
              <a:rPr sz="4266" dirty="0">
                <a:solidFill>
                  <a:srgbClr val="252525"/>
                </a:solidFill>
                <a:latin typeface="Consolas"/>
                <a:cs typeface="Consolas"/>
              </a:rPr>
              <a:t>getwd()</a:t>
            </a:r>
            <a:r>
              <a:rPr sz="4266" spc="-1545" dirty="0">
                <a:solidFill>
                  <a:srgbClr val="252525"/>
                </a:solidFill>
                <a:latin typeface="Consolas"/>
                <a:cs typeface="Consolas"/>
              </a:rPr>
              <a:t> </a:t>
            </a:r>
            <a:r>
              <a:rPr sz="4266" dirty="0">
                <a:solidFill>
                  <a:srgbClr val="252525"/>
                </a:solidFill>
                <a:latin typeface="Calibri Light"/>
                <a:cs typeface="Calibri Light"/>
              </a:rPr>
              <a:t>function</a:t>
            </a:r>
            <a:r>
              <a:rPr sz="4266" spc="-302" dirty="0">
                <a:solidFill>
                  <a:srgbClr val="252525"/>
                </a:solidFill>
                <a:latin typeface="Calibri Light"/>
                <a:cs typeface="Calibri Light"/>
              </a:rPr>
              <a:t> </a:t>
            </a:r>
            <a:r>
              <a:rPr sz="4266" dirty="0">
                <a:solidFill>
                  <a:srgbClr val="252525"/>
                </a:solidFill>
                <a:latin typeface="Calibri Light"/>
                <a:cs typeface="Calibri Light"/>
              </a:rPr>
              <a:t>in</a:t>
            </a:r>
            <a:r>
              <a:rPr sz="4266" spc="116" dirty="0">
                <a:solidFill>
                  <a:srgbClr val="252525"/>
                </a:solidFill>
                <a:latin typeface="Calibri Light"/>
                <a:cs typeface="Calibri Light"/>
              </a:rPr>
              <a:t> </a:t>
            </a:r>
            <a:r>
              <a:rPr sz="4266" dirty="0">
                <a:solidFill>
                  <a:srgbClr val="252525"/>
                </a:solidFill>
                <a:latin typeface="Calibri Light"/>
                <a:cs typeface="Calibri Light"/>
              </a:rPr>
              <a:t>the</a:t>
            </a:r>
            <a:r>
              <a:rPr sz="4266" spc="-36" dirty="0">
                <a:solidFill>
                  <a:srgbClr val="252525"/>
                </a:solidFill>
                <a:latin typeface="Calibri Light"/>
                <a:cs typeface="Calibri Light"/>
              </a:rPr>
              <a:t> </a:t>
            </a:r>
            <a:r>
              <a:rPr sz="4266" dirty="0">
                <a:solidFill>
                  <a:srgbClr val="252525"/>
                </a:solidFill>
                <a:latin typeface="Calibri Light"/>
                <a:cs typeface="Calibri Light"/>
              </a:rPr>
              <a:t>Console</a:t>
            </a:r>
            <a:r>
              <a:rPr sz="4266" spc="107" dirty="0">
                <a:solidFill>
                  <a:srgbClr val="252525"/>
                </a:solidFill>
                <a:latin typeface="Calibri Light"/>
                <a:cs typeface="Calibri Light"/>
              </a:rPr>
              <a:t> </a:t>
            </a:r>
            <a:r>
              <a:rPr sz="4266" dirty="0">
                <a:solidFill>
                  <a:srgbClr val="252525"/>
                </a:solidFill>
                <a:latin typeface="Calibri Light"/>
                <a:cs typeface="Calibri Light"/>
              </a:rPr>
              <a:t>which</a:t>
            </a:r>
            <a:r>
              <a:rPr sz="4266" spc="-18" dirty="0">
                <a:solidFill>
                  <a:srgbClr val="252525"/>
                </a:solidFill>
                <a:latin typeface="Calibri Light"/>
                <a:cs typeface="Calibri Light"/>
              </a:rPr>
              <a:t> </a:t>
            </a:r>
            <a:r>
              <a:rPr sz="4266" dirty="0">
                <a:solidFill>
                  <a:srgbClr val="252525"/>
                </a:solidFill>
                <a:latin typeface="Calibri Light"/>
                <a:cs typeface="Calibri Light"/>
              </a:rPr>
              <a:t>returns</a:t>
            </a:r>
            <a:r>
              <a:rPr sz="4266" spc="-124" dirty="0">
                <a:solidFill>
                  <a:srgbClr val="252525"/>
                </a:solidFill>
                <a:latin typeface="Calibri Light"/>
                <a:cs typeface="Calibri Light"/>
              </a:rPr>
              <a:t> </a:t>
            </a:r>
            <a:r>
              <a:rPr sz="4266" dirty="0">
                <a:solidFill>
                  <a:srgbClr val="252525"/>
                </a:solidFill>
                <a:latin typeface="Calibri Light"/>
                <a:cs typeface="Calibri Light"/>
              </a:rPr>
              <a:t>the</a:t>
            </a:r>
            <a:r>
              <a:rPr sz="4266" spc="-36" dirty="0">
                <a:solidFill>
                  <a:srgbClr val="252525"/>
                </a:solidFill>
                <a:latin typeface="Calibri Light"/>
                <a:cs typeface="Calibri Light"/>
              </a:rPr>
              <a:t> </a:t>
            </a:r>
            <a:r>
              <a:rPr sz="4266" dirty="0">
                <a:solidFill>
                  <a:srgbClr val="252525"/>
                </a:solidFill>
                <a:latin typeface="Calibri Light"/>
                <a:cs typeface="Calibri Light"/>
              </a:rPr>
              <a:t>file</a:t>
            </a:r>
            <a:r>
              <a:rPr sz="4266" spc="116" dirty="0">
                <a:solidFill>
                  <a:srgbClr val="252525"/>
                </a:solidFill>
                <a:latin typeface="Calibri Light"/>
                <a:cs typeface="Calibri Light"/>
              </a:rPr>
              <a:t> </a:t>
            </a:r>
            <a:r>
              <a:rPr sz="4266" dirty="0">
                <a:solidFill>
                  <a:srgbClr val="252525"/>
                </a:solidFill>
                <a:latin typeface="Calibri Light"/>
                <a:cs typeface="Calibri Light"/>
              </a:rPr>
              <a:t>path</a:t>
            </a:r>
            <a:r>
              <a:rPr sz="4266" spc="-169" dirty="0">
                <a:solidFill>
                  <a:srgbClr val="252525"/>
                </a:solidFill>
                <a:latin typeface="Calibri Light"/>
                <a:cs typeface="Calibri Light"/>
              </a:rPr>
              <a:t> </a:t>
            </a:r>
            <a:r>
              <a:rPr sz="4266" dirty="0">
                <a:solidFill>
                  <a:srgbClr val="252525"/>
                </a:solidFill>
                <a:latin typeface="Calibri Light"/>
                <a:cs typeface="Calibri Light"/>
              </a:rPr>
              <a:t>of</a:t>
            </a:r>
            <a:r>
              <a:rPr sz="4266" spc="151" dirty="0">
                <a:solidFill>
                  <a:srgbClr val="252525"/>
                </a:solidFill>
                <a:latin typeface="Calibri Light"/>
                <a:cs typeface="Calibri Light"/>
              </a:rPr>
              <a:t> </a:t>
            </a:r>
            <a:r>
              <a:rPr sz="4266" dirty="0">
                <a:solidFill>
                  <a:srgbClr val="252525"/>
                </a:solidFill>
                <a:latin typeface="Calibri Light"/>
                <a:cs typeface="Calibri Light"/>
              </a:rPr>
              <a:t>the</a:t>
            </a:r>
            <a:r>
              <a:rPr sz="4266" spc="-36" dirty="0">
                <a:solidFill>
                  <a:srgbClr val="252525"/>
                </a:solidFill>
                <a:latin typeface="Calibri Light"/>
                <a:cs typeface="Calibri Light"/>
              </a:rPr>
              <a:t> </a:t>
            </a:r>
            <a:r>
              <a:rPr sz="4266" spc="-18" dirty="0">
                <a:solidFill>
                  <a:srgbClr val="252525"/>
                </a:solidFill>
                <a:latin typeface="Calibri Light"/>
                <a:cs typeface="Calibri Light"/>
              </a:rPr>
              <a:t>current </a:t>
            </a:r>
            <a:r>
              <a:rPr sz="4266" dirty="0">
                <a:solidFill>
                  <a:srgbClr val="252525"/>
                </a:solidFill>
                <a:latin typeface="Calibri Light"/>
                <a:cs typeface="Calibri Light"/>
              </a:rPr>
              <a:t>working</a:t>
            </a:r>
            <a:r>
              <a:rPr sz="4266" spc="-53" dirty="0">
                <a:solidFill>
                  <a:srgbClr val="252525"/>
                </a:solidFill>
                <a:latin typeface="Calibri Light"/>
                <a:cs typeface="Calibri Light"/>
              </a:rPr>
              <a:t> </a:t>
            </a:r>
            <a:r>
              <a:rPr sz="4266" spc="-18" dirty="0">
                <a:solidFill>
                  <a:srgbClr val="252525"/>
                </a:solidFill>
                <a:latin typeface="Calibri Light"/>
                <a:cs typeface="Calibri Light"/>
              </a:rPr>
              <a:t>directory</a:t>
            </a:r>
            <a:endParaRPr sz="4266" dirty="0">
              <a:latin typeface="Calibri Light"/>
              <a:cs typeface="Calibri Light"/>
            </a:endParaRPr>
          </a:p>
        </p:txBody>
      </p:sp>
      <p:sp>
        <p:nvSpPr>
          <p:cNvPr id="5" name="object 5"/>
          <p:cNvSpPr txBox="1"/>
          <p:nvPr/>
        </p:nvSpPr>
        <p:spPr>
          <a:xfrm>
            <a:off x="1481065" y="8965497"/>
            <a:ext cx="18199502" cy="1249257"/>
          </a:xfrm>
          <a:prstGeom prst="rect">
            <a:avLst/>
          </a:prstGeom>
        </p:spPr>
        <p:txBody>
          <a:bodyPr vert="horz" wrap="square" lIns="0" tIns="116273" rIns="0" bIns="0" rtlCol="0">
            <a:spAutoFit/>
          </a:bodyPr>
          <a:lstStyle/>
          <a:p>
            <a:pPr marL="22577" marR="9031">
              <a:lnSpc>
                <a:spcPts val="4409"/>
              </a:lnSpc>
              <a:spcBef>
                <a:spcPts val="916"/>
              </a:spcBef>
            </a:pPr>
            <a:r>
              <a:rPr sz="4266" dirty="0">
                <a:solidFill>
                  <a:srgbClr val="252525"/>
                </a:solidFill>
                <a:latin typeface="Calibri Light"/>
                <a:cs typeface="Calibri Light"/>
              </a:rPr>
              <a:t>If</a:t>
            </a:r>
            <a:r>
              <a:rPr sz="4266" spc="-62" dirty="0">
                <a:solidFill>
                  <a:srgbClr val="252525"/>
                </a:solidFill>
                <a:latin typeface="Calibri Light"/>
                <a:cs typeface="Calibri Light"/>
              </a:rPr>
              <a:t> </a:t>
            </a:r>
            <a:r>
              <a:rPr sz="4266" dirty="0">
                <a:solidFill>
                  <a:srgbClr val="252525"/>
                </a:solidFill>
                <a:latin typeface="Calibri Light"/>
                <a:cs typeface="Calibri Light"/>
              </a:rPr>
              <a:t>you</a:t>
            </a:r>
            <a:r>
              <a:rPr sz="4266" spc="98" dirty="0">
                <a:solidFill>
                  <a:srgbClr val="252525"/>
                </a:solidFill>
                <a:latin typeface="Calibri Light"/>
                <a:cs typeface="Calibri Light"/>
              </a:rPr>
              <a:t> </a:t>
            </a:r>
            <a:r>
              <a:rPr sz="4266" dirty="0">
                <a:solidFill>
                  <a:srgbClr val="252525"/>
                </a:solidFill>
                <a:latin typeface="Calibri Light"/>
                <a:cs typeface="Calibri Light"/>
              </a:rPr>
              <a:t>want,</a:t>
            </a:r>
            <a:r>
              <a:rPr sz="4266" spc="-80" dirty="0">
                <a:solidFill>
                  <a:srgbClr val="252525"/>
                </a:solidFill>
                <a:latin typeface="Calibri Light"/>
                <a:cs typeface="Calibri Light"/>
              </a:rPr>
              <a:t> </a:t>
            </a:r>
            <a:r>
              <a:rPr sz="4266" dirty="0">
                <a:solidFill>
                  <a:srgbClr val="252525"/>
                </a:solidFill>
                <a:latin typeface="Calibri Light"/>
                <a:cs typeface="Calibri Light"/>
              </a:rPr>
              <a:t>you</a:t>
            </a:r>
            <a:r>
              <a:rPr sz="4266" spc="-53" dirty="0">
                <a:solidFill>
                  <a:srgbClr val="252525"/>
                </a:solidFill>
                <a:latin typeface="Calibri Light"/>
                <a:cs typeface="Calibri Light"/>
              </a:rPr>
              <a:t> </a:t>
            </a:r>
            <a:r>
              <a:rPr sz="4266" dirty="0">
                <a:solidFill>
                  <a:srgbClr val="252525"/>
                </a:solidFill>
                <a:latin typeface="Calibri Light"/>
                <a:cs typeface="Calibri Light"/>
              </a:rPr>
              <a:t>can</a:t>
            </a:r>
            <a:r>
              <a:rPr sz="4266" spc="-62" dirty="0">
                <a:solidFill>
                  <a:srgbClr val="252525"/>
                </a:solidFill>
                <a:latin typeface="Calibri Light"/>
                <a:cs typeface="Calibri Light"/>
              </a:rPr>
              <a:t> </a:t>
            </a:r>
            <a:r>
              <a:rPr sz="4266" dirty="0">
                <a:solidFill>
                  <a:srgbClr val="252525"/>
                </a:solidFill>
                <a:latin typeface="Calibri Light"/>
                <a:cs typeface="Calibri Light"/>
              </a:rPr>
              <a:t>set</a:t>
            </a:r>
            <a:r>
              <a:rPr sz="4266" spc="107" dirty="0">
                <a:solidFill>
                  <a:srgbClr val="252525"/>
                </a:solidFill>
                <a:latin typeface="Calibri Light"/>
                <a:cs typeface="Calibri Light"/>
              </a:rPr>
              <a:t> </a:t>
            </a:r>
            <a:r>
              <a:rPr sz="4266" dirty="0">
                <a:solidFill>
                  <a:srgbClr val="252525"/>
                </a:solidFill>
                <a:latin typeface="Calibri Light"/>
                <a:cs typeface="Calibri Light"/>
              </a:rPr>
              <a:t>your</a:t>
            </a:r>
            <a:r>
              <a:rPr sz="4266" spc="-98" dirty="0">
                <a:solidFill>
                  <a:srgbClr val="252525"/>
                </a:solidFill>
                <a:latin typeface="Calibri Light"/>
                <a:cs typeface="Calibri Light"/>
              </a:rPr>
              <a:t> </a:t>
            </a:r>
            <a:r>
              <a:rPr sz="4266" dirty="0">
                <a:solidFill>
                  <a:srgbClr val="252525"/>
                </a:solidFill>
                <a:latin typeface="Calibri Light"/>
                <a:cs typeface="Calibri Light"/>
              </a:rPr>
              <a:t>working</a:t>
            </a:r>
            <a:r>
              <a:rPr sz="4266" spc="44" dirty="0">
                <a:solidFill>
                  <a:srgbClr val="252525"/>
                </a:solidFill>
                <a:latin typeface="Calibri Light"/>
                <a:cs typeface="Calibri Light"/>
              </a:rPr>
              <a:t> </a:t>
            </a:r>
            <a:r>
              <a:rPr sz="4266" dirty="0">
                <a:solidFill>
                  <a:srgbClr val="252525"/>
                </a:solidFill>
                <a:latin typeface="Calibri Light"/>
                <a:cs typeface="Calibri Light"/>
              </a:rPr>
              <a:t>directory</a:t>
            </a:r>
            <a:r>
              <a:rPr sz="4266" spc="-276" dirty="0">
                <a:solidFill>
                  <a:srgbClr val="252525"/>
                </a:solidFill>
                <a:latin typeface="Calibri Light"/>
                <a:cs typeface="Calibri Light"/>
              </a:rPr>
              <a:t> </a:t>
            </a:r>
            <a:r>
              <a:rPr sz="4266" dirty="0">
                <a:solidFill>
                  <a:srgbClr val="252525"/>
                </a:solidFill>
                <a:latin typeface="Calibri Light"/>
                <a:cs typeface="Calibri Light"/>
              </a:rPr>
              <a:t>using</a:t>
            </a:r>
            <a:r>
              <a:rPr sz="4266" spc="44" dirty="0">
                <a:solidFill>
                  <a:srgbClr val="252525"/>
                </a:solidFill>
                <a:latin typeface="Calibri Light"/>
                <a:cs typeface="Calibri Light"/>
              </a:rPr>
              <a:t> </a:t>
            </a:r>
            <a:r>
              <a:rPr sz="4266" dirty="0">
                <a:solidFill>
                  <a:srgbClr val="252525"/>
                </a:solidFill>
                <a:latin typeface="Calibri Light"/>
                <a:cs typeface="Calibri Light"/>
              </a:rPr>
              <a:t>the</a:t>
            </a:r>
            <a:r>
              <a:rPr sz="4266" spc="-9" dirty="0">
                <a:solidFill>
                  <a:srgbClr val="252525"/>
                </a:solidFill>
                <a:latin typeface="Calibri Light"/>
                <a:cs typeface="Calibri Light"/>
              </a:rPr>
              <a:t> </a:t>
            </a:r>
            <a:r>
              <a:rPr sz="4266" dirty="0">
                <a:solidFill>
                  <a:srgbClr val="252525"/>
                </a:solidFill>
                <a:latin typeface="Consolas"/>
                <a:cs typeface="Consolas"/>
              </a:rPr>
              <a:t>setwd()</a:t>
            </a:r>
            <a:r>
              <a:rPr sz="4266" spc="-1573" dirty="0">
                <a:solidFill>
                  <a:srgbClr val="252525"/>
                </a:solidFill>
                <a:latin typeface="Consolas"/>
                <a:cs typeface="Consolas"/>
              </a:rPr>
              <a:t> </a:t>
            </a:r>
            <a:r>
              <a:rPr sz="4266" dirty="0">
                <a:solidFill>
                  <a:srgbClr val="252525"/>
                </a:solidFill>
                <a:latin typeface="Calibri Light"/>
                <a:cs typeface="Calibri Light"/>
              </a:rPr>
              <a:t>function</a:t>
            </a:r>
            <a:r>
              <a:rPr sz="4266" spc="-347" dirty="0">
                <a:solidFill>
                  <a:srgbClr val="252525"/>
                </a:solidFill>
                <a:latin typeface="Calibri Light"/>
                <a:cs typeface="Calibri Light"/>
              </a:rPr>
              <a:t> </a:t>
            </a:r>
            <a:r>
              <a:rPr sz="4266" dirty="0">
                <a:solidFill>
                  <a:srgbClr val="252525"/>
                </a:solidFill>
                <a:latin typeface="Calibri Light"/>
                <a:cs typeface="Calibri Light"/>
              </a:rPr>
              <a:t>at</a:t>
            </a:r>
            <a:r>
              <a:rPr sz="4266" spc="-44" dirty="0">
                <a:solidFill>
                  <a:srgbClr val="252525"/>
                </a:solidFill>
                <a:latin typeface="Calibri Light"/>
                <a:cs typeface="Calibri Light"/>
              </a:rPr>
              <a:t> the </a:t>
            </a:r>
            <a:r>
              <a:rPr sz="4266" dirty="0">
                <a:solidFill>
                  <a:srgbClr val="252525"/>
                </a:solidFill>
                <a:latin typeface="Calibri Light"/>
                <a:cs typeface="Calibri Light"/>
              </a:rPr>
              <a:t>start</a:t>
            </a:r>
            <a:r>
              <a:rPr sz="4266" spc="-71" dirty="0">
                <a:solidFill>
                  <a:srgbClr val="252525"/>
                </a:solidFill>
                <a:latin typeface="Calibri Light"/>
                <a:cs typeface="Calibri Light"/>
              </a:rPr>
              <a:t> </a:t>
            </a:r>
            <a:r>
              <a:rPr sz="4266" dirty="0">
                <a:solidFill>
                  <a:srgbClr val="252525"/>
                </a:solidFill>
                <a:latin typeface="Calibri Light"/>
                <a:cs typeface="Calibri Light"/>
              </a:rPr>
              <a:t>of</a:t>
            </a:r>
            <a:r>
              <a:rPr sz="4266" spc="-71" dirty="0">
                <a:solidFill>
                  <a:srgbClr val="252525"/>
                </a:solidFill>
                <a:latin typeface="Calibri Light"/>
                <a:cs typeface="Calibri Light"/>
              </a:rPr>
              <a:t> </a:t>
            </a:r>
            <a:r>
              <a:rPr sz="4266" dirty="0">
                <a:solidFill>
                  <a:srgbClr val="252525"/>
                </a:solidFill>
                <a:latin typeface="Calibri Light"/>
                <a:cs typeface="Calibri Light"/>
              </a:rPr>
              <a:t>every</a:t>
            </a:r>
            <a:r>
              <a:rPr sz="4266" spc="-9" dirty="0">
                <a:solidFill>
                  <a:srgbClr val="252525"/>
                </a:solidFill>
                <a:latin typeface="Calibri Light"/>
                <a:cs typeface="Calibri Light"/>
              </a:rPr>
              <a:t> </a:t>
            </a:r>
            <a:r>
              <a:rPr sz="4266" dirty="0">
                <a:solidFill>
                  <a:srgbClr val="252525"/>
                </a:solidFill>
                <a:latin typeface="Calibri Light"/>
                <a:cs typeface="Calibri Light"/>
              </a:rPr>
              <a:t>R</a:t>
            </a:r>
            <a:r>
              <a:rPr sz="4266" spc="18" dirty="0">
                <a:solidFill>
                  <a:srgbClr val="252525"/>
                </a:solidFill>
                <a:latin typeface="Calibri Light"/>
                <a:cs typeface="Calibri Light"/>
              </a:rPr>
              <a:t> </a:t>
            </a:r>
            <a:r>
              <a:rPr sz="4266" dirty="0">
                <a:solidFill>
                  <a:srgbClr val="252525"/>
                </a:solidFill>
                <a:latin typeface="Calibri Light"/>
                <a:cs typeface="Calibri Light"/>
              </a:rPr>
              <a:t>script.</a:t>
            </a:r>
            <a:r>
              <a:rPr sz="4266" spc="-107" dirty="0">
                <a:solidFill>
                  <a:srgbClr val="252525"/>
                </a:solidFill>
                <a:latin typeface="Calibri Light"/>
                <a:cs typeface="Calibri Light"/>
              </a:rPr>
              <a:t> </a:t>
            </a:r>
            <a:r>
              <a:rPr sz="4266" dirty="0">
                <a:solidFill>
                  <a:srgbClr val="252525"/>
                </a:solidFill>
                <a:latin typeface="Calibri Light"/>
                <a:cs typeface="Calibri Light"/>
              </a:rPr>
              <a:t>Or</a:t>
            </a:r>
            <a:r>
              <a:rPr sz="4266" spc="18" dirty="0">
                <a:solidFill>
                  <a:srgbClr val="252525"/>
                </a:solidFill>
                <a:latin typeface="Calibri Light"/>
                <a:cs typeface="Calibri Light"/>
              </a:rPr>
              <a:t> </a:t>
            </a:r>
            <a:r>
              <a:rPr sz="4266" dirty="0">
                <a:solidFill>
                  <a:srgbClr val="252525"/>
                </a:solidFill>
                <a:latin typeface="Calibri Light"/>
                <a:cs typeface="Calibri Light"/>
              </a:rPr>
              <a:t>you</a:t>
            </a:r>
            <a:r>
              <a:rPr sz="4266" spc="-71" dirty="0">
                <a:solidFill>
                  <a:srgbClr val="252525"/>
                </a:solidFill>
                <a:latin typeface="Calibri Light"/>
                <a:cs typeface="Calibri Light"/>
              </a:rPr>
              <a:t> </a:t>
            </a:r>
            <a:r>
              <a:rPr sz="4266" dirty="0">
                <a:solidFill>
                  <a:srgbClr val="252525"/>
                </a:solidFill>
                <a:latin typeface="Calibri Light"/>
                <a:cs typeface="Calibri Light"/>
              </a:rPr>
              <a:t>can</a:t>
            </a:r>
            <a:r>
              <a:rPr sz="4266" spc="-89" dirty="0">
                <a:solidFill>
                  <a:srgbClr val="252525"/>
                </a:solidFill>
                <a:latin typeface="Calibri Light"/>
                <a:cs typeface="Calibri Light"/>
              </a:rPr>
              <a:t> </a:t>
            </a:r>
            <a:r>
              <a:rPr sz="4266" dirty="0">
                <a:solidFill>
                  <a:srgbClr val="252525"/>
                </a:solidFill>
                <a:latin typeface="Calibri Light"/>
                <a:cs typeface="Calibri Light"/>
              </a:rPr>
              <a:t>specify the</a:t>
            </a:r>
            <a:r>
              <a:rPr sz="4266" spc="-18" dirty="0">
                <a:solidFill>
                  <a:srgbClr val="252525"/>
                </a:solidFill>
                <a:latin typeface="Calibri Light"/>
                <a:cs typeface="Calibri Light"/>
              </a:rPr>
              <a:t> </a:t>
            </a:r>
            <a:r>
              <a:rPr sz="4266" dirty="0">
                <a:solidFill>
                  <a:srgbClr val="252525"/>
                </a:solidFill>
                <a:latin typeface="Calibri Light"/>
                <a:cs typeface="Calibri Light"/>
              </a:rPr>
              <a:t>filepath</a:t>
            </a:r>
            <a:r>
              <a:rPr sz="4266" spc="-222" dirty="0">
                <a:solidFill>
                  <a:srgbClr val="252525"/>
                </a:solidFill>
                <a:latin typeface="Calibri Light"/>
                <a:cs typeface="Calibri Light"/>
              </a:rPr>
              <a:t> </a:t>
            </a:r>
            <a:r>
              <a:rPr sz="4266" dirty="0">
                <a:solidFill>
                  <a:srgbClr val="252525"/>
                </a:solidFill>
                <a:latin typeface="Calibri Light"/>
                <a:cs typeface="Calibri Light"/>
              </a:rPr>
              <a:t>when</a:t>
            </a:r>
            <a:r>
              <a:rPr sz="4266" spc="62" dirty="0">
                <a:solidFill>
                  <a:srgbClr val="252525"/>
                </a:solidFill>
                <a:latin typeface="Calibri Light"/>
                <a:cs typeface="Calibri Light"/>
              </a:rPr>
              <a:t> </a:t>
            </a:r>
            <a:r>
              <a:rPr sz="4266" dirty="0">
                <a:solidFill>
                  <a:srgbClr val="252525"/>
                </a:solidFill>
                <a:latin typeface="Calibri Light"/>
                <a:cs typeface="Calibri Light"/>
              </a:rPr>
              <a:t>you</a:t>
            </a:r>
            <a:r>
              <a:rPr sz="4266" spc="-71" dirty="0">
                <a:solidFill>
                  <a:srgbClr val="252525"/>
                </a:solidFill>
                <a:latin typeface="Calibri Light"/>
                <a:cs typeface="Calibri Light"/>
              </a:rPr>
              <a:t> </a:t>
            </a:r>
            <a:r>
              <a:rPr sz="4266" dirty="0">
                <a:solidFill>
                  <a:srgbClr val="252525"/>
                </a:solidFill>
                <a:latin typeface="Calibri Light"/>
                <a:cs typeface="Calibri Light"/>
              </a:rPr>
              <a:t>import/export</a:t>
            </a:r>
            <a:r>
              <a:rPr sz="4266" spc="-347" dirty="0">
                <a:solidFill>
                  <a:srgbClr val="252525"/>
                </a:solidFill>
                <a:latin typeface="Calibri Light"/>
                <a:cs typeface="Calibri Light"/>
              </a:rPr>
              <a:t> </a:t>
            </a:r>
            <a:r>
              <a:rPr sz="4266" spc="-18" dirty="0">
                <a:solidFill>
                  <a:srgbClr val="252525"/>
                </a:solidFill>
                <a:latin typeface="Calibri Light"/>
                <a:cs typeface="Calibri Light"/>
              </a:rPr>
              <a:t>data.</a:t>
            </a:r>
            <a:endParaRPr sz="4266" dirty="0">
              <a:latin typeface="Calibri Light"/>
              <a:cs typeface="Calibri Light"/>
            </a:endParaRPr>
          </a:p>
        </p:txBody>
      </p:sp>
      <p:pic>
        <p:nvPicPr>
          <p:cNvPr id="6" name="object 6"/>
          <p:cNvPicPr/>
          <p:nvPr/>
        </p:nvPicPr>
        <p:blipFill>
          <a:blip r:embed="rId3" cstate="print"/>
          <a:stretch>
            <a:fillRect/>
          </a:stretch>
        </p:blipFill>
        <p:spPr>
          <a:xfrm>
            <a:off x="3640578" y="6909274"/>
            <a:ext cx="6637705" cy="128690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9E3F108D-6A73-25AB-66C9-9891139AD75E}"/>
              </a:ext>
            </a:extLst>
          </p:cNvPr>
          <p:cNvSpPr txBox="1">
            <a:spLocks noGrp="1"/>
          </p:cNvSpPr>
          <p:nvPr>
            <p:ph type="title"/>
          </p:nvPr>
        </p:nvSpPr>
        <p:spPr>
          <a:xfrm>
            <a:off x="1481065" y="108417"/>
            <a:ext cx="33875049" cy="2678765"/>
          </a:xfrm>
          <a:prstGeom prst="rect">
            <a:avLst/>
          </a:prstGeom>
        </p:spPr>
        <p:txBody>
          <a:bodyPr vert="horz" wrap="square" lIns="0" tIns="1189854" rIns="0" bIns="0" rtlCol="0">
            <a:spAutoFit/>
          </a:bodyPr>
          <a:lstStyle/>
          <a:p>
            <a:pPr marL="22577">
              <a:spcBef>
                <a:spcPts val="187"/>
              </a:spcBef>
            </a:pPr>
            <a:r>
              <a:rPr lang="en-CA" spc="-276" dirty="0">
                <a:solidFill>
                  <a:srgbClr val="50B4C7"/>
                </a:solidFill>
                <a:latin typeface="Aptos Black" panose="020B0004020202020204" pitchFamily="34" charset="0"/>
              </a:rPr>
              <a:t>R projects</a:t>
            </a:r>
            <a:endParaRPr spc="-240" dirty="0">
              <a:solidFill>
                <a:srgbClr val="50B4C7"/>
              </a:solidFill>
              <a:latin typeface="Aptos Black" panose="020B0004020202020204" pitchFamily="34" charset="0"/>
            </a:endParaRPr>
          </a:p>
        </p:txBody>
      </p:sp>
      <p:sp>
        <p:nvSpPr>
          <p:cNvPr id="2" name="object 5">
            <a:extLst>
              <a:ext uri="{FF2B5EF4-FFF2-40B4-BE49-F238E27FC236}">
                <a16:creationId xmlns:a16="http://schemas.microsoft.com/office/drawing/2014/main" id="{1387398F-FF9E-822C-DF4E-75A90070237C}"/>
              </a:ext>
            </a:extLst>
          </p:cNvPr>
          <p:cNvSpPr txBox="1"/>
          <p:nvPr/>
        </p:nvSpPr>
        <p:spPr>
          <a:xfrm>
            <a:off x="1481065" y="3048000"/>
            <a:ext cx="18576204" cy="7815157"/>
          </a:xfrm>
          <a:prstGeom prst="rect">
            <a:avLst/>
          </a:prstGeom>
        </p:spPr>
        <p:txBody>
          <a:bodyPr vert="horz" wrap="square" lIns="0" tIns="116273" rIns="0" bIns="0" rtlCol="0">
            <a:spAutoFit/>
          </a:bodyPr>
          <a:lstStyle/>
          <a:p>
            <a:pPr marL="22577" marR="9031">
              <a:lnSpc>
                <a:spcPts val="4409"/>
              </a:lnSpc>
              <a:spcBef>
                <a:spcPts val="916"/>
              </a:spcBef>
            </a:pPr>
            <a:r>
              <a:rPr lang="en-CA" sz="4266" dirty="0">
                <a:solidFill>
                  <a:srgbClr val="252525"/>
                </a:solidFill>
                <a:latin typeface="Calibri Light"/>
                <a:cs typeface="Calibri Light"/>
              </a:rPr>
              <a:t>An R project enables your work to be bundled in a portable, self-contained folder. Within the project, all the relevant scripts, data files, figures/outputs, and history are stored in sub-folders and importantly – the </a:t>
            </a:r>
            <a:r>
              <a:rPr lang="en-CA" sz="4266" b="1" dirty="0">
                <a:solidFill>
                  <a:srgbClr val="252525"/>
                </a:solidFill>
                <a:latin typeface="Calibri Light"/>
                <a:cs typeface="Calibri Light"/>
              </a:rPr>
              <a:t>working directory </a:t>
            </a:r>
            <a:r>
              <a:rPr lang="en-CA" sz="4266" dirty="0">
                <a:solidFill>
                  <a:srgbClr val="252525"/>
                </a:solidFill>
                <a:latin typeface="Calibri Light"/>
                <a:cs typeface="Calibri Light"/>
              </a:rPr>
              <a:t>is the project’s root folder. </a:t>
            </a:r>
          </a:p>
          <a:p>
            <a:pPr marL="22577" marR="9031">
              <a:lnSpc>
                <a:spcPts val="4409"/>
              </a:lnSpc>
              <a:spcBef>
                <a:spcPts val="916"/>
              </a:spcBef>
            </a:pPr>
            <a:endParaRPr lang="en-CA" sz="4266" dirty="0">
              <a:solidFill>
                <a:srgbClr val="252525"/>
              </a:solidFill>
              <a:latin typeface="Calibri Light"/>
              <a:cs typeface="Calibri Light"/>
            </a:endParaRPr>
          </a:p>
          <a:p>
            <a:pPr marL="22577" marR="9031">
              <a:lnSpc>
                <a:spcPts val="4409"/>
              </a:lnSpc>
              <a:spcBef>
                <a:spcPts val="916"/>
              </a:spcBef>
            </a:pPr>
            <a:r>
              <a:rPr lang="en-CA" sz="4266" dirty="0">
                <a:solidFill>
                  <a:srgbClr val="252525"/>
                </a:solidFill>
                <a:latin typeface="Calibri Light"/>
                <a:cs typeface="Calibri Light"/>
              </a:rPr>
              <a:t>A common, efficient, and trouble-free way to use R is to combine there 3 elements:</a:t>
            </a:r>
          </a:p>
          <a:p>
            <a:pPr marL="22577" marR="9031">
              <a:lnSpc>
                <a:spcPts val="4409"/>
              </a:lnSpc>
              <a:spcBef>
                <a:spcPts val="916"/>
              </a:spcBef>
            </a:pPr>
            <a:r>
              <a:rPr lang="en-CA" sz="4266" dirty="0">
                <a:solidFill>
                  <a:srgbClr val="252525"/>
                </a:solidFill>
                <a:latin typeface="Calibri Light"/>
                <a:cs typeface="Calibri Light"/>
              </a:rPr>
              <a:t>1. An </a:t>
            </a:r>
            <a:r>
              <a:rPr lang="en-CA" sz="4266" b="1" dirty="0">
                <a:solidFill>
                  <a:srgbClr val="252525"/>
                </a:solidFill>
                <a:latin typeface="Calibri Light"/>
                <a:cs typeface="Calibri Light"/>
              </a:rPr>
              <a:t>R project</a:t>
            </a:r>
          </a:p>
          <a:p>
            <a:pPr marL="22577" marR="9031">
              <a:lnSpc>
                <a:spcPts val="4409"/>
              </a:lnSpc>
              <a:spcBef>
                <a:spcPts val="916"/>
              </a:spcBef>
            </a:pPr>
            <a:r>
              <a:rPr lang="en-CA" sz="4266" dirty="0">
                <a:solidFill>
                  <a:srgbClr val="252525"/>
                </a:solidFill>
                <a:latin typeface="Calibri Light"/>
                <a:cs typeface="Calibri Light"/>
              </a:rPr>
              <a:t>	- A self-contained working environment with folders for data, scripts, outputs…</a:t>
            </a:r>
          </a:p>
          <a:p>
            <a:pPr marL="22577" marR="9031">
              <a:lnSpc>
                <a:spcPts val="4409"/>
              </a:lnSpc>
              <a:spcBef>
                <a:spcPts val="916"/>
              </a:spcBef>
            </a:pPr>
            <a:r>
              <a:rPr lang="en-CA" sz="4266" dirty="0">
                <a:solidFill>
                  <a:srgbClr val="252525"/>
                </a:solidFill>
                <a:latin typeface="Calibri Light"/>
                <a:cs typeface="Calibri Light"/>
              </a:rPr>
              <a:t>2. The </a:t>
            </a:r>
            <a:r>
              <a:rPr lang="en-CA" sz="4266" b="1" dirty="0">
                <a:solidFill>
                  <a:srgbClr val="252525"/>
                </a:solidFill>
                <a:latin typeface="Calibri Light"/>
                <a:cs typeface="Calibri Light"/>
              </a:rPr>
              <a:t>here</a:t>
            </a:r>
            <a:r>
              <a:rPr lang="en-CA" sz="4266" dirty="0">
                <a:solidFill>
                  <a:srgbClr val="252525"/>
                </a:solidFill>
                <a:latin typeface="Calibri Light"/>
                <a:cs typeface="Calibri Light"/>
              </a:rPr>
              <a:t> package</a:t>
            </a:r>
          </a:p>
          <a:p>
            <a:pPr marL="22577" marR="9031">
              <a:lnSpc>
                <a:spcPts val="4409"/>
              </a:lnSpc>
              <a:spcBef>
                <a:spcPts val="916"/>
              </a:spcBef>
            </a:pPr>
            <a:r>
              <a:rPr lang="en-CA" sz="4266" dirty="0">
                <a:solidFill>
                  <a:srgbClr val="252525"/>
                </a:solidFill>
                <a:latin typeface="Calibri Light"/>
                <a:cs typeface="Calibri Light"/>
              </a:rPr>
              <a:t>	- </a:t>
            </a:r>
            <a:r>
              <a:rPr lang="en-CA" sz="4266" dirty="0" err="1">
                <a:solidFill>
                  <a:srgbClr val="252525"/>
                </a:solidFill>
                <a:latin typeface="Calibri Light"/>
                <a:cs typeface="Calibri Light"/>
              </a:rPr>
              <a:t>Filepaths</a:t>
            </a:r>
            <a:r>
              <a:rPr lang="en-CA" sz="4266" dirty="0">
                <a:solidFill>
                  <a:srgbClr val="252525"/>
                </a:solidFill>
                <a:latin typeface="Calibri Light"/>
                <a:cs typeface="Calibri Light"/>
              </a:rPr>
              <a:t> are written relative to the root folder of the R project</a:t>
            </a:r>
          </a:p>
          <a:p>
            <a:pPr marL="22577" marR="9031">
              <a:lnSpc>
                <a:spcPts val="4409"/>
              </a:lnSpc>
              <a:spcBef>
                <a:spcPts val="916"/>
              </a:spcBef>
            </a:pPr>
            <a:r>
              <a:rPr lang="en-CA" sz="4266" dirty="0">
                <a:solidFill>
                  <a:srgbClr val="252525"/>
                </a:solidFill>
                <a:latin typeface="Calibri Light"/>
                <a:cs typeface="Calibri Light"/>
              </a:rPr>
              <a:t>3. The </a:t>
            </a:r>
            <a:r>
              <a:rPr lang="en-CA" sz="4266" b="1" dirty="0" err="1">
                <a:solidFill>
                  <a:srgbClr val="252525"/>
                </a:solidFill>
                <a:latin typeface="Calibri Light"/>
                <a:cs typeface="Calibri Light"/>
              </a:rPr>
              <a:t>rio</a:t>
            </a:r>
            <a:r>
              <a:rPr lang="en-CA" sz="4266" dirty="0">
                <a:solidFill>
                  <a:srgbClr val="252525"/>
                </a:solidFill>
                <a:latin typeface="Calibri Light"/>
                <a:cs typeface="Calibri Light"/>
              </a:rPr>
              <a:t> package for importing/exporting</a:t>
            </a:r>
          </a:p>
          <a:p>
            <a:pPr marL="22577" marR="9031">
              <a:lnSpc>
                <a:spcPts val="4409"/>
              </a:lnSpc>
              <a:spcBef>
                <a:spcPts val="916"/>
              </a:spcBef>
            </a:pPr>
            <a:r>
              <a:rPr lang="en-CA" sz="4266" dirty="0">
                <a:solidFill>
                  <a:srgbClr val="252525"/>
                </a:solidFill>
                <a:latin typeface="Calibri Light"/>
                <a:cs typeface="Calibri Light"/>
              </a:rPr>
              <a:t>	- import() and export() handle any file type by its extension (e.g. .csv, .xlsx, .</a:t>
            </a:r>
            <a:r>
              <a:rPr lang="en-CA" sz="4266" dirty="0" err="1">
                <a:solidFill>
                  <a:srgbClr val="252525"/>
                </a:solidFill>
                <a:latin typeface="Calibri Light"/>
                <a:cs typeface="Calibri Light"/>
              </a:rPr>
              <a:t>png</a:t>
            </a:r>
            <a:r>
              <a:rPr lang="en-CA" sz="4266" dirty="0">
                <a:solidFill>
                  <a:srgbClr val="252525"/>
                </a:solidFill>
                <a:latin typeface="Calibri Light"/>
                <a:cs typeface="Calibri Light"/>
              </a:rPr>
              <a:t>)</a:t>
            </a:r>
          </a:p>
        </p:txBody>
      </p:sp>
      <p:sp>
        <p:nvSpPr>
          <p:cNvPr id="3" name="object 6">
            <a:extLst>
              <a:ext uri="{FF2B5EF4-FFF2-40B4-BE49-F238E27FC236}">
                <a16:creationId xmlns:a16="http://schemas.microsoft.com/office/drawing/2014/main" id="{14CE251E-6172-3CF6-E344-22766CF3E9AC}"/>
              </a:ext>
            </a:extLst>
          </p:cNvPr>
          <p:cNvSpPr/>
          <p:nvPr/>
        </p:nvSpPr>
        <p:spPr>
          <a:xfrm>
            <a:off x="10456069" y="438865"/>
            <a:ext cx="11218752" cy="1286902"/>
          </a:xfrm>
          <a:custGeom>
            <a:avLst/>
            <a:gdLst/>
            <a:ahLst/>
            <a:cxnLst/>
            <a:rect l="l" t="t" r="r" b="b"/>
            <a:pathLst>
              <a:path w="2700654" h="723900">
                <a:moveTo>
                  <a:pt x="0" y="723900"/>
                </a:moveTo>
                <a:lnTo>
                  <a:pt x="2700274" y="723900"/>
                </a:lnTo>
                <a:lnTo>
                  <a:pt x="2700274" y="0"/>
                </a:lnTo>
                <a:lnTo>
                  <a:pt x="0" y="0"/>
                </a:lnTo>
                <a:lnTo>
                  <a:pt x="0" y="723900"/>
                </a:lnTo>
                <a:close/>
              </a:path>
            </a:pathLst>
          </a:custGeom>
          <a:solidFill>
            <a:srgbClr val="EB9B0B"/>
          </a:solidFill>
          <a:ln>
            <a:noFill/>
          </a:ln>
        </p:spPr>
        <p:txBody>
          <a:bodyPr wrap="square" lIns="0" tIns="0" rIns="0" bIns="0" rtlCol="0"/>
          <a:lstStyle/>
          <a:p>
            <a:endParaRPr dirty="0"/>
          </a:p>
        </p:txBody>
      </p:sp>
      <p:sp>
        <p:nvSpPr>
          <p:cNvPr id="4" name="object 5">
            <a:extLst>
              <a:ext uri="{FF2B5EF4-FFF2-40B4-BE49-F238E27FC236}">
                <a16:creationId xmlns:a16="http://schemas.microsoft.com/office/drawing/2014/main" id="{597D7BAF-C46E-0150-E143-B74D913F8F3A}"/>
              </a:ext>
            </a:extLst>
          </p:cNvPr>
          <p:cNvSpPr txBox="1"/>
          <p:nvPr/>
        </p:nvSpPr>
        <p:spPr>
          <a:xfrm>
            <a:off x="10837069" y="762799"/>
            <a:ext cx="10515600" cy="690514"/>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chemeClr val="bg1"/>
                </a:solidFill>
                <a:latin typeface="Aptos Black" panose="020B0004020202020204" pitchFamily="34" charset="0"/>
                <a:cs typeface="Calibri Light"/>
              </a:rPr>
              <a:t>DISCLAIMER</a:t>
            </a:r>
            <a:r>
              <a:rPr lang="en-CA" sz="4266" b="1" dirty="0">
                <a:solidFill>
                  <a:schemeClr val="bg1"/>
                </a:solidFill>
                <a:latin typeface="Calibri Light"/>
                <a:cs typeface="Calibri Light"/>
              </a:rPr>
              <a:t> – R projects may be deprecated  </a:t>
            </a:r>
          </a:p>
        </p:txBody>
      </p:sp>
    </p:spTree>
    <p:extLst>
      <p:ext uri="{BB962C8B-B14F-4D97-AF65-F5344CB8AC3E}">
        <p14:creationId xmlns:p14="http://schemas.microsoft.com/office/powerpoint/2010/main" val="2774439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3546336" y="298"/>
            <a:ext cx="8127802" cy="12191702"/>
          </a:xfrm>
          <a:custGeom>
            <a:avLst/>
            <a:gdLst/>
            <a:ahLst/>
            <a:cxnLst/>
            <a:rect l="l" t="t" r="r" b="b"/>
            <a:pathLst>
              <a:path w="4572000" h="6858000">
                <a:moveTo>
                  <a:pt x="4572000" y="0"/>
                </a:moveTo>
                <a:lnTo>
                  <a:pt x="0" y="0"/>
                </a:lnTo>
                <a:lnTo>
                  <a:pt x="0" y="6858000"/>
                </a:lnTo>
                <a:lnTo>
                  <a:pt x="4572000" y="6858000"/>
                </a:lnTo>
                <a:lnTo>
                  <a:pt x="4572000" y="0"/>
                </a:lnTo>
                <a:close/>
              </a:path>
            </a:pathLst>
          </a:custGeom>
          <a:solidFill>
            <a:srgbClr val="00BCC8"/>
          </a:solidFill>
        </p:spPr>
        <p:txBody>
          <a:bodyPr wrap="square" lIns="0" tIns="0" rIns="0" bIns="0" rtlCol="0"/>
          <a:lstStyle/>
          <a:p>
            <a:endParaRPr/>
          </a:p>
        </p:txBody>
      </p:sp>
      <p:sp>
        <p:nvSpPr>
          <p:cNvPr id="3" name="object 3"/>
          <p:cNvSpPr txBox="1">
            <a:spLocks noGrp="1"/>
          </p:cNvSpPr>
          <p:nvPr>
            <p:ph type="title"/>
          </p:nvPr>
        </p:nvSpPr>
        <p:spPr>
          <a:xfrm>
            <a:off x="14722158" y="2508480"/>
            <a:ext cx="5283071" cy="2586242"/>
          </a:xfrm>
          <a:prstGeom prst="rect">
            <a:avLst/>
          </a:prstGeom>
        </p:spPr>
        <p:txBody>
          <a:bodyPr vert="horz" wrap="square" lIns="0" tIns="292375" rIns="0" bIns="0" rtlCol="0">
            <a:spAutoFit/>
          </a:bodyPr>
          <a:lstStyle/>
          <a:p>
            <a:pPr marL="22577">
              <a:spcBef>
                <a:spcPts val="2302"/>
              </a:spcBef>
            </a:pPr>
            <a:r>
              <a:rPr sz="10666" spc="-151" dirty="0">
                <a:solidFill>
                  <a:srgbClr val="FFFFFF"/>
                </a:solidFill>
                <a:latin typeface="Aptos Black" panose="020B0004020202020204" pitchFamily="34" charset="0"/>
              </a:rPr>
              <a:t>Base</a:t>
            </a:r>
            <a:r>
              <a:rPr sz="10666" spc="-880" dirty="0">
                <a:solidFill>
                  <a:srgbClr val="FFFFFF"/>
                </a:solidFill>
                <a:latin typeface="Aptos Black" panose="020B0004020202020204" pitchFamily="34" charset="0"/>
              </a:rPr>
              <a:t> </a:t>
            </a:r>
            <a:r>
              <a:rPr sz="10666" spc="-89" dirty="0">
                <a:solidFill>
                  <a:srgbClr val="FFFFFF"/>
                </a:solidFill>
                <a:latin typeface="Aptos Black" panose="020B0004020202020204" pitchFamily="34" charset="0"/>
              </a:rPr>
              <a:t>R</a:t>
            </a:r>
            <a:endParaRPr sz="10666" dirty="0">
              <a:latin typeface="Aptos Black" panose="020B0004020202020204" pitchFamily="34" charset="0"/>
            </a:endParaRPr>
          </a:p>
          <a:p>
            <a:pPr marL="163682">
              <a:spcBef>
                <a:spcPts val="772"/>
              </a:spcBef>
            </a:pPr>
            <a:r>
              <a:rPr sz="3555" b="1" dirty="0">
                <a:solidFill>
                  <a:srgbClr val="FFFFFF"/>
                </a:solidFill>
              </a:rPr>
              <a:t>A</a:t>
            </a:r>
            <a:r>
              <a:rPr sz="3555" b="1" spc="-53" dirty="0">
                <a:solidFill>
                  <a:srgbClr val="FFFFFF"/>
                </a:solidFill>
              </a:rPr>
              <a:t> </a:t>
            </a:r>
            <a:r>
              <a:rPr sz="3555" b="1" dirty="0">
                <a:solidFill>
                  <a:srgbClr val="FFFFFF"/>
                </a:solidFill>
              </a:rPr>
              <a:t>few notes</a:t>
            </a:r>
            <a:r>
              <a:rPr sz="3555" b="1" spc="-71" dirty="0">
                <a:solidFill>
                  <a:srgbClr val="FFFFFF"/>
                </a:solidFill>
              </a:rPr>
              <a:t> </a:t>
            </a:r>
            <a:r>
              <a:rPr sz="3555" b="1" dirty="0">
                <a:solidFill>
                  <a:srgbClr val="FFFFFF"/>
                </a:solidFill>
              </a:rPr>
              <a:t>on</a:t>
            </a:r>
            <a:r>
              <a:rPr sz="3555" b="1" spc="-169" dirty="0">
                <a:solidFill>
                  <a:srgbClr val="FFFFFF"/>
                </a:solidFill>
              </a:rPr>
              <a:t> </a:t>
            </a:r>
            <a:r>
              <a:rPr sz="3555" b="1" dirty="0">
                <a:solidFill>
                  <a:srgbClr val="FFFFFF"/>
                </a:solidFill>
              </a:rPr>
              <a:t>R's</a:t>
            </a:r>
            <a:r>
              <a:rPr sz="3555" b="1" spc="-80" dirty="0">
                <a:solidFill>
                  <a:srgbClr val="FFFFFF"/>
                </a:solidFill>
              </a:rPr>
              <a:t> </a:t>
            </a:r>
            <a:r>
              <a:rPr sz="3555" b="1" spc="-18" dirty="0">
                <a:solidFill>
                  <a:srgbClr val="FFFFFF"/>
                </a:solidFill>
              </a:rPr>
              <a:t>language</a:t>
            </a:r>
            <a:endParaRPr sz="3555" b="1" dirty="0">
              <a:solidFill>
                <a:srgbClr val="FFFFFF"/>
              </a:solidFill>
            </a:endParaRPr>
          </a:p>
        </p:txBody>
      </p:sp>
      <p:pic>
        <p:nvPicPr>
          <p:cNvPr id="4" name="object 4"/>
          <p:cNvPicPr/>
          <p:nvPr/>
        </p:nvPicPr>
        <p:blipFill>
          <a:blip r:embed="rId2" cstate="print"/>
          <a:stretch>
            <a:fillRect/>
          </a:stretch>
        </p:blipFill>
        <p:spPr>
          <a:xfrm>
            <a:off x="372524" y="1270267"/>
            <a:ext cx="12767422" cy="95163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9E3C2-66EB-7E07-04E1-47FF8FE983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4675CB-C9FB-7FD0-C014-8929E73C5827}"/>
              </a:ext>
            </a:extLst>
          </p:cNvPr>
          <p:cNvSpPr txBox="1"/>
          <p:nvPr/>
        </p:nvSpPr>
        <p:spPr>
          <a:xfrm>
            <a:off x="1309479" y="1314749"/>
            <a:ext cx="14845654" cy="1501265"/>
          </a:xfrm>
          <a:prstGeom prst="rect">
            <a:avLst/>
          </a:prstGeom>
        </p:spPr>
        <p:txBody>
          <a:bodyPr vert="horz" wrap="square" lIns="0" tIns="23706" rIns="0" bIns="0" rtlCol="0">
            <a:spAutoFit/>
          </a:bodyPr>
          <a:lstStyle/>
          <a:p>
            <a:pPr marL="22577">
              <a:spcBef>
                <a:spcPts val="187"/>
              </a:spcBef>
            </a:pPr>
            <a:r>
              <a:rPr sz="9600" spc="-276" dirty="0">
                <a:solidFill>
                  <a:srgbClr val="50B4C7"/>
                </a:solidFill>
                <a:latin typeface="Aptos Black" panose="020B0004020202020204" pitchFamily="34" charset="0"/>
                <a:cs typeface="Calibri Light"/>
              </a:rPr>
              <a:t>Navigating </a:t>
            </a:r>
            <a:r>
              <a:rPr sz="9600" spc="-196" dirty="0">
                <a:solidFill>
                  <a:srgbClr val="50B4C7"/>
                </a:solidFill>
                <a:latin typeface="Aptos Black" panose="020B0004020202020204" pitchFamily="34" charset="0"/>
                <a:cs typeface="Calibri Light"/>
              </a:rPr>
              <a:t>the</a:t>
            </a:r>
            <a:r>
              <a:rPr sz="9600" spc="-391" dirty="0">
                <a:solidFill>
                  <a:srgbClr val="50B4C7"/>
                </a:solidFill>
                <a:latin typeface="Aptos Black" panose="020B0004020202020204" pitchFamily="34" charset="0"/>
                <a:cs typeface="Calibri Light"/>
              </a:rPr>
              <a:t> </a:t>
            </a:r>
            <a:r>
              <a:rPr sz="9600" spc="-249" dirty="0">
                <a:solidFill>
                  <a:srgbClr val="50B4C7"/>
                </a:solidFill>
                <a:latin typeface="Aptos Black" panose="020B0004020202020204" pitchFamily="34" charset="0"/>
                <a:cs typeface="Calibri Light"/>
              </a:rPr>
              <a:t>interface</a:t>
            </a:r>
            <a:endParaRPr sz="9600" dirty="0">
              <a:latin typeface="Aptos Black" panose="020B0004020202020204" pitchFamily="34" charset="0"/>
              <a:cs typeface="Calibri Light"/>
            </a:endParaRPr>
          </a:p>
        </p:txBody>
      </p:sp>
      <p:grpSp>
        <p:nvGrpSpPr>
          <p:cNvPr id="5" name="object 5">
            <a:extLst>
              <a:ext uri="{FF2B5EF4-FFF2-40B4-BE49-F238E27FC236}">
                <a16:creationId xmlns:a16="http://schemas.microsoft.com/office/drawing/2014/main" id="{343C0F77-94F3-F84F-6581-580E3727D627}"/>
              </a:ext>
            </a:extLst>
          </p:cNvPr>
          <p:cNvGrpSpPr/>
          <p:nvPr/>
        </p:nvGrpSpPr>
        <p:grpSpPr>
          <a:xfrm>
            <a:off x="16862484" y="427576"/>
            <a:ext cx="4823624" cy="1309479"/>
            <a:chOff x="9485376" y="303275"/>
            <a:chExt cx="2713355" cy="736600"/>
          </a:xfrm>
          <a:solidFill>
            <a:srgbClr val="EB9B0B"/>
          </a:solidFill>
        </p:grpSpPr>
        <p:sp>
          <p:nvSpPr>
            <p:cNvPr id="6" name="object 6">
              <a:extLst>
                <a:ext uri="{FF2B5EF4-FFF2-40B4-BE49-F238E27FC236}">
                  <a16:creationId xmlns:a16="http://schemas.microsoft.com/office/drawing/2014/main" id="{A6B7527B-B6EE-2EB5-41DF-67B1310E4131}"/>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7" name="object 7">
              <a:extLst>
                <a:ext uri="{FF2B5EF4-FFF2-40B4-BE49-F238E27FC236}">
                  <a16:creationId xmlns:a16="http://schemas.microsoft.com/office/drawing/2014/main" id="{FDC1D1B9-A038-F04C-AAEA-BE64447B4A9D}"/>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8" name="object 8">
              <a:extLst>
                <a:ext uri="{FF2B5EF4-FFF2-40B4-BE49-F238E27FC236}">
                  <a16:creationId xmlns:a16="http://schemas.microsoft.com/office/drawing/2014/main" id="{13C524A4-778E-64CB-98A5-741D9E36B12C}"/>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9" name="object 9">
            <a:extLst>
              <a:ext uri="{FF2B5EF4-FFF2-40B4-BE49-F238E27FC236}">
                <a16:creationId xmlns:a16="http://schemas.microsoft.com/office/drawing/2014/main" id="{80EFEFCC-ED69-3082-04A3-AEDD2743B779}"/>
              </a:ext>
            </a:extLst>
          </p:cNvPr>
          <p:cNvSpPr txBox="1">
            <a:spLocks noGrp="1"/>
          </p:cNvSpPr>
          <p:nvPr>
            <p:ph type="title"/>
          </p:nvPr>
        </p:nvSpPr>
        <p:spPr>
          <a:xfrm>
            <a:off x="16941520" y="572260"/>
            <a:ext cx="4665551" cy="1008823"/>
          </a:xfrm>
          <a:prstGeom prst="rect">
            <a:avLst/>
          </a:prstGeom>
        </p:spPr>
        <p:txBody>
          <a:bodyPr vert="horz" wrap="square" lIns="0" tIns="23706" rIns="0" bIns="0" rtlCol="0">
            <a:spAutoFit/>
          </a:bodyPr>
          <a:lstStyle/>
          <a:p>
            <a:pPr marL="1136741">
              <a:spcBef>
                <a:spcPts val="187"/>
              </a:spcBef>
            </a:pPr>
            <a:r>
              <a:rPr lang="en-CA" sz="6400" spc="-18" dirty="0">
                <a:solidFill>
                  <a:srgbClr val="FFFFFF"/>
                </a:solidFill>
                <a:latin typeface="Aptos Black" panose="020B0004020202020204" pitchFamily="34" charset="0"/>
              </a:rPr>
              <a:t>script</a:t>
            </a:r>
            <a:endParaRPr sz="6400" dirty="0">
              <a:latin typeface="Aptos Black" panose="020B0004020202020204" pitchFamily="34" charset="0"/>
            </a:endParaRPr>
          </a:p>
        </p:txBody>
      </p:sp>
      <p:sp>
        <p:nvSpPr>
          <p:cNvPr id="3" name="object 4">
            <a:extLst>
              <a:ext uri="{FF2B5EF4-FFF2-40B4-BE49-F238E27FC236}">
                <a16:creationId xmlns:a16="http://schemas.microsoft.com/office/drawing/2014/main" id="{4E1A0540-7AA2-D63B-2E2A-5B18FD69358C}"/>
              </a:ext>
            </a:extLst>
          </p:cNvPr>
          <p:cNvSpPr txBox="1"/>
          <p:nvPr/>
        </p:nvSpPr>
        <p:spPr>
          <a:xfrm>
            <a:off x="1481065" y="3352800"/>
            <a:ext cx="18120482" cy="6838273"/>
          </a:xfrm>
          <a:prstGeom prst="rect">
            <a:avLst/>
          </a:prstGeom>
        </p:spPr>
        <p:txBody>
          <a:bodyPr vert="horz" wrap="square" lIns="0" tIns="117402" rIns="0" bIns="0" rtlCol="0">
            <a:spAutoFit/>
          </a:bodyPr>
          <a:lstStyle/>
          <a:p>
            <a:pPr marL="22577" marR="9031">
              <a:lnSpc>
                <a:spcPct val="85400"/>
              </a:lnSpc>
              <a:spcBef>
                <a:spcPts val="924"/>
              </a:spcBef>
            </a:pPr>
            <a:r>
              <a:rPr lang="en-CA" sz="4266" dirty="0">
                <a:solidFill>
                  <a:srgbClr val="333333"/>
                </a:solidFill>
                <a:latin typeface="Calibri Light"/>
                <a:cs typeface="Calibri Light"/>
              </a:rPr>
              <a:t>Scripts are a fundamental part of programming. They are documents that hold your commands (e.g. functions to create and modify datasets, print visualizations, </a:t>
            </a:r>
            <a:r>
              <a:rPr lang="en-CA" sz="4266" dirty="0" err="1">
                <a:solidFill>
                  <a:srgbClr val="333333"/>
                </a:solidFill>
                <a:latin typeface="Calibri Light"/>
                <a:cs typeface="Calibri Light"/>
              </a:rPr>
              <a:t>etc</a:t>
            </a:r>
            <a:r>
              <a:rPr lang="en-CA" sz="4266" dirty="0">
                <a:solidFill>
                  <a:srgbClr val="333333"/>
                </a:solidFill>
                <a:latin typeface="Calibri Light"/>
                <a:cs typeface="Calibri Light"/>
              </a:rPr>
              <a:t>). You can save a script and run it again later. There are many advantages to storing and running your commands from a script (vs. typing commands one-by-one into the R console “command line”):</a:t>
            </a:r>
          </a:p>
          <a:p>
            <a:pPr marL="22577" marR="9031">
              <a:lnSpc>
                <a:spcPct val="85400"/>
              </a:lnSpc>
              <a:spcBef>
                <a:spcPts val="924"/>
              </a:spcBef>
            </a:pPr>
            <a:endParaRPr lang="en-CA" sz="4266" dirty="0">
              <a:solidFill>
                <a:srgbClr val="333333"/>
              </a:solidFill>
              <a:latin typeface="Calibri Light"/>
              <a:cs typeface="Calibri Light"/>
            </a:endParaRPr>
          </a:p>
          <a:p>
            <a:pPr marL="594077" marR="9031" indent="-571500">
              <a:lnSpc>
                <a:spcPct val="85400"/>
              </a:lnSpc>
              <a:spcBef>
                <a:spcPts val="924"/>
              </a:spcBef>
              <a:buFont typeface="Arial" panose="020B0604020202020204" pitchFamily="34" charset="0"/>
              <a:buChar char="•"/>
            </a:pPr>
            <a:r>
              <a:rPr lang="en-CA" sz="4266" dirty="0">
                <a:solidFill>
                  <a:srgbClr val="333333"/>
                </a:solidFill>
                <a:latin typeface="Calibri Light"/>
                <a:cs typeface="Calibri Light"/>
              </a:rPr>
              <a:t>Portability – you can share your work with others by sending them your scripts</a:t>
            </a:r>
          </a:p>
          <a:p>
            <a:pPr marL="594077" marR="9031" indent="-571500">
              <a:lnSpc>
                <a:spcPct val="85400"/>
              </a:lnSpc>
              <a:spcBef>
                <a:spcPts val="924"/>
              </a:spcBef>
              <a:buFont typeface="Arial" panose="020B0604020202020204" pitchFamily="34" charset="0"/>
              <a:buChar char="•"/>
            </a:pPr>
            <a:r>
              <a:rPr lang="en-CA" sz="4266" dirty="0">
                <a:latin typeface="Calibri Light"/>
                <a:cs typeface="Calibri Light"/>
              </a:rPr>
              <a:t>Reproducibility – so that you and others know exactly what you did</a:t>
            </a:r>
          </a:p>
          <a:p>
            <a:pPr marL="594077" marR="9031" indent="-571500">
              <a:lnSpc>
                <a:spcPct val="85400"/>
              </a:lnSpc>
              <a:spcBef>
                <a:spcPts val="924"/>
              </a:spcBef>
              <a:buFont typeface="Arial" panose="020B0604020202020204" pitchFamily="34" charset="0"/>
              <a:buChar char="•"/>
            </a:pPr>
            <a:r>
              <a:rPr lang="en-CA" sz="4266" dirty="0">
                <a:latin typeface="Calibri Light"/>
                <a:cs typeface="Calibri Light"/>
              </a:rPr>
              <a:t>Version control – so you can track changes made by yourself or colleagues</a:t>
            </a:r>
          </a:p>
          <a:p>
            <a:pPr marL="594077" marR="9031" indent="-571500">
              <a:lnSpc>
                <a:spcPct val="85400"/>
              </a:lnSpc>
              <a:spcBef>
                <a:spcPts val="924"/>
              </a:spcBef>
              <a:buFont typeface="Arial" panose="020B0604020202020204" pitchFamily="34" charset="0"/>
              <a:buChar char="•"/>
            </a:pPr>
            <a:r>
              <a:rPr lang="en-CA" sz="4266" dirty="0">
                <a:latin typeface="Calibri Light"/>
                <a:cs typeface="Calibri Light"/>
              </a:rPr>
              <a:t>Commenting/annotation – to explain to your colleagues (or your future self) what you have done</a:t>
            </a:r>
            <a:endParaRPr sz="4266" dirty="0">
              <a:latin typeface="Calibri Light"/>
              <a:cs typeface="Calibri Light"/>
            </a:endParaRPr>
          </a:p>
        </p:txBody>
      </p:sp>
    </p:spTree>
    <p:extLst>
      <p:ext uri="{BB962C8B-B14F-4D97-AF65-F5344CB8AC3E}">
        <p14:creationId xmlns:p14="http://schemas.microsoft.com/office/powerpoint/2010/main" val="1108295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06F3-582A-A54B-02EB-75B818D3AA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6045C71-DAF1-AEB9-301B-C05830B80109}"/>
              </a:ext>
            </a:extLst>
          </p:cNvPr>
          <p:cNvSpPr txBox="1">
            <a:spLocks noGrp="1"/>
          </p:cNvSpPr>
          <p:nvPr>
            <p:ph type="title"/>
          </p:nvPr>
        </p:nvSpPr>
        <p:spPr>
          <a:xfrm>
            <a:off x="1235869" y="108417"/>
            <a:ext cx="33875049" cy="2678765"/>
          </a:xfrm>
          <a:prstGeom prst="rect">
            <a:avLst/>
          </a:prstGeom>
        </p:spPr>
        <p:txBody>
          <a:bodyPr vert="horz" wrap="square" lIns="0" tIns="1189854" rIns="0" bIns="0" rtlCol="0">
            <a:spAutoFit/>
          </a:bodyPr>
          <a:lstStyle/>
          <a:p>
            <a:pPr marL="22577">
              <a:spcBef>
                <a:spcPts val="187"/>
              </a:spcBef>
            </a:pPr>
            <a:r>
              <a:rPr lang="en-CA" spc="-276" dirty="0">
                <a:solidFill>
                  <a:srgbClr val="50B4C7"/>
                </a:solidFill>
                <a:latin typeface="Aptos Black" panose="020B0004020202020204" pitchFamily="34" charset="0"/>
              </a:rPr>
              <a:t>Packages </a:t>
            </a:r>
            <a:endParaRPr spc="-240" dirty="0">
              <a:solidFill>
                <a:srgbClr val="50B4C7"/>
              </a:solidFill>
              <a:latin typeface="Aptos Black" panose="020B0004020202020204" pitchFamily="34" charset="0"/>
            </a:endParaRPr>
          </a:p>
        </p:txBody>
      </p:sp>
      <p:pic>
        <p:nvPicPr>
          <p:cNvPr id="4" name="Picture 3">
            <a:extLst>
              <a:ext uri="{FF2B5EF4-FFF2-40B4-BE49-F238E27FC236}">
                <a16:creationId xmlns:a16="http://schemas.microsoft.com/office/drawing/2014/main" id="{100C26BA-42DB-2747-D16E-DDBACD94FD23}"/>
              </a:ext>
            </a:extLst>
          </p:cNvPr>
          <p:cNvPicPr>
            <a:picLocks noChangeAspect="1"/>
          </p:cNvPicPr>
          <p:nvPr/>
        </p:nvPicPr>
        <p:blipFill>
          <a:blip r:embed="rId2"/>
          <a:stretch>
            <a:fillRect/>
          </a:stretch>
        </p:blipFill>
        <p:spPr>
          <a:xfrm>
            <a:off x="1035549" y="3124200"/>
            <a:ext cx="19603040" cy="7234153"/>
          </a:xfrm>
          <a:prstGeom prst="rect">
            <a:avLst/>
          </a:prstGeom>
        </p:spPr>
      </p:pic>
    </p:spTree>
    <p:extLst>
      <p:ext uri="{BB962C8B-B14F-4D97-AF65-F5344CB8AC3E}">
        <p14:creationId xmlns:p14="http://schemas.microsoft.com/office/powerpoint/2010/main" val="1473138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6145E2-307E-5577-0C34-736DA6800109}"/>
              </a:ext>
            </a:extLst>
          </p:cNvPr>
          <p:cNvPicPr>
            <a:picLocks noChangeAspect="1"/>
          </p:cNvPicPr>
          <p:nvPr/>
        </p:nvPicPr>
        <p:blipFill>
          <a:blip r:embed="rId2"/>
          <a:stretch>
            <a:fillRect/>
          </a:stretch>
        </p:blipFill>
        <p:spPr>
          <a:xfrm>
            <a:off x="766795" y="533400"/>
            <a:ext cx="17716467" cy="3980966"/>
          </a:xfrm>
          <a:prstGeom prst="rect">
            <a:avLst/>
          </a:prstGeom>
        </p:spPr>
      </p:pic>
      <p:pic>
        <p:nvPicPr>
          <p:cNvPr id="7" name="Picture 6">
            <a:extLst>
              <a:ext uri="{FF2B5EF4-FFF2-40B4-BE49-F238E27FC236}">
                <a16:creationId xmlns:a16="http://schemas.microsoft.com/office/drawing/2014/main" id="{521FF53B-F242-9DD5-51B2-519E8BC7FE05}"/>
              </a:ext>
            </a:extLst>
          </p:cNvPr>
          <p:cNvPicPr>
            <a:picLocks noChangeAspect="1"/>
          </p:cNvPicPr>
          <p:nvPr/>
        </p:nvPicPr>
        <p:blipFill>
          <a:blip r:embed="rId3"/>
          <a:stretch>
            <a:fillRect/>
          </a:stretch>
        </p:blipFill>
        <p:spPr>
          <a:xfrm>
            <a:off x="764414" y="4914295"/>
            <a:ext cx="17716467" cy="3670979"/>
          </a:xfrm>
          <a:prstGeom prst="rect">
            <a:avLst/>
          </a:prstGeom>
        </p:spPr>
      </p:pic>
      <p:pic>
        <p:nvPicPr>
          <p:cNvPr id="9" name="Picture 8">
            <a:extLst>
              <a:ext uri="{FF2B5EF4-FFF2-40B4-BE49-F238E27FC236}">
                <a16:creationId xmlns:a16="http://schemas.microsoft.com/office/drawing/2014/main" id="{68E7F02C-EF94-9DCF-5A73-DC0F4FA4FB38}"/>
              </a:ext>
            </a:extLst>
          </p:cNvPr>
          <p:cNvPicPr>
            <a:picLocks noChangeAspect="1"/>
          </p:cNvPicPr>
          <p:nvPr/>
        </p:nvPicPr>
        <p:blipFill>
          <a:blip r:embed="rId4"/>
          <a:stretch>
            <a:fillRect/>
          </a:stretch>
        </p:blipFill>
        <p:spPr>
          <a:xfrm>
            <a:off x="764414" y="8585274"/>
            <a:ext cx="16574037" cy="2920926"/>
          </a:xfrm>
          <a:prstGeom prst="rect">
            <a:avLst/>
          </a:prstGeom>
        </p:spPr>
      </p:pic>
    </p:spTree>
    <p:extLst>
      <p:ext uri="{BB962C8B-B14F-4D97-AF65-F5344CB8AC3E}">
        <p14:creationId xmlns:p14="http://schemas.microsoft.com/office/powerpoint/2010/main" val="4501586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55C85-9853-6E9B-737E-AFBA9D5499B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41D660-C29C-9398-1E01-AE92645194DC}"/>
              </a:ext>
            </a:extLst>
          </p:cNvPr>
          <p:cNvSpPr txBox="1">
            <a:spLocks noGrp="1"/>
          </p:cNvSpPr>
          <p:nvPr>
            <p:ph type="title"/>
          </p:nvPr>
        </p:nvSpPr>
        <p:spPr>
          <a:xfrm>
            <a:off x="1481065" y="108417"/>
            <a:ext cx="33875049" cy="2678765"/>
          </a:xfrm>
          <a:prstGeom prst="rect">
            <a:avLst/>
          </a:prstGeom>
        </p:spPr>
        <p:txBody>
          <a:bodyPr vert="horz" wrap="square" lIns="0" tIns="1189854" rIns="0" bIns="0" rtlCol="0">
            <a:spAutoFit/>
          </a:bodyPr>
          <a:lstStyle/>
          <a:p>
            <a:pPr marL="22577">
              <a:spcBef>
                <a:spcPts val="187"/>
              </a:spcBef>
            </a:pPr>
            <a:r>
              <a:rPr lang="en-CA" spc="-276" dirty="0" err="1">
                <a:solidFill>
                  <a:srgbClr val="50B4C7"/>
                </a:solidFill>
                <a:latin typeface="Aptos Black" panose="020B0004020202020204" pitchFamily="34" charset="0"/>
              </a:rPr>
              <a:t>pacman</a:t>
            </a:r>
            <a:r>
              <a:rPr lang="en-CA" spc="-276" dirty="0">
                <a:solidFill>
                  <a:srgbClr val="50B4C7"/>
                </a:solidFill>
                <a:latin typeface="Aptos Black" panose="020B0004020202020204" pitchFamily="34" charset="0"/>
              </a:rPr>
              <a:t>::</a:t>
            </a:r>
            <a:r>
              <a:rPr lang="en-CA" spc="-276" dirty="0" err="1">
                <a:solidFill>
                  <a:srgbClr val="50B4C7"/>
                </a:solidFill>
                <a:latin typeface="Aptos Black" panose="020B0004020202020204" pitchFamily="34" charset="0"/>
              </a:rPr>
              <a:t>p_load</a:t>
            </a:r>
            <a:r>
              <a:rPr lang="en-CA" spc="-276" dirty="0">
                <a:solidFill>
                  <a:srgbClr val="50B4C7"/>
                </a:solidFill>
                <a:latin typeface="Aptos Black" panose="020B0004020202020204" pitchFamily="34" charset="0"/>
              </a:rPr>
              <a:t>()</a:t>
            </a:r>
            <a:endParaRPr spc="-240" dirty="0">
              <a:solidFill>
                <a:srgbClr val="50B4C7"/>
              </a:solidFill>
              <a:latin typeface="Aptos Black" panose="020B0004020202020204" pitchFamily="34" charset="0"/>
            </a:endParaRPr>
          </a:p>
        </p:txBody>
      </p:sp>
      <p:pic>
        <p:nvPicPr>
          <p:cNvPr id="10" name="Picture 9">
            <a:extLst>
              <a:ext uri="{FF2B5EF4-FFF2-40B4-BE49-F238E27FC236}">
                <a16:creationId xmlns:a16="http://schemas.microsoft.com/office/drawing/2014/main" id="{C0BC46FC-8460-C8B6-9311-7F4AB7EA2B92}"/>
              </a:ext>
            </a:extLst>
          </p:cNvPr>
          <p:cNvPicPr>
            <a:picLocks noChangeAspect="1"/>
          </p:cNvPicPr>
          <p:nvPr/>
        </p:nvPicPr>
        <p:blipFill>
          <a:blip r:embed="rId2"/>
          <a:stretch>
            <a:fillRect/>
          </a:stretch>
        </p:blipFill>
        <p:spPr>
          <a:xfrm>
            <a:off x="1478683" y="3267102"/>
            <a:ext cx="15225785" cy="8226661"/>
          </a:xfrm>
          <a:prstGeom prst="rect">
            <a:avLst/>
          </a:prstGeom>
        </p:spPr>
      </p:pic>
    </p:spTree>
    <p:extLst>
      <p:ext uri="{BB962C8B-B14F-4D97-AF65-F5344CB8AC3E}">
        <p14:creationId xmlns:p14="http://schemas.microsoft.com/office/powerpoint/2010/main" val="2244835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51679-9BEA-E8CD-39E0-6795B7E144D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5A95823-4541-2F73-DA7E-502B1C04B6E0}"/>
              </a:ext>
            </a:extLst>
          </p:cNvPr>
          <p:cNvSpPr txBox="1">
            <a:spLocks noGrp="1"/>
          </p:cNvSpPr>
          <p:nvPr>
            <p:ph type="title"/>
          </p:nvPr>
        </p:nvSpPr>
        <p:spPr>
          <a:xfrm>
            <a:off x="778669" y="808145"/>
            <a:ext cx="8417318" cy="1501265"/>
          </a:xfrm>
          <a:prstGeom prst="rect">
            <a:avLst/>
          </a:prstGeom>
        </p:spPr>
        <p:txBody>
          <a:bodyPr vert="horz" wrap="square" lIns="0" tIns="23706" rIns="0" bIns="0" rtlCol="0">
            <a:spAutoFit/>
          </a:bodyPr>
          <a:lstStyle/>
          <a:p>
            <a:pPr marL="22577">
              <a:spcBef>
                <a:spcPts val="187"/>
              </a:spcBef>
            </a:pPr>
            <a:r>
              <a:rPr spc="-222" dirty="0">
                <a:solidFill>
                  <a:srgbClr val="50B4C7"/>
                </a:solidFill>
                <a:latin typeface="Aptos Black" panose="020B0004020202020204" pitchFamily="34" charset="0"/>
              </a:rPr>
              <a:t>Importing</a:t>
            </a:r>
            <a:r>
              <a:rPr spc="-240" dirty="0">
                <a:solidFill>
                  <a:srgbClr val="50B4C7"/>
                </a:solidFill>
                <a:latin typeface="Aptos Black" panose="020B0004020202020204" pitchFamily="34" charset="0"/>
              </a:rPr>
              <a:t> </a:t>
            </a:r>
            <a:r>
              <a:rPr spc="-231" dirty="0">
                <a:solidFill>
                  <a:srgbClr val="50B4C7"/>
                </a:solidFill>
                <a:latin typeface="Aptos Black" panose="020B0004020202020204" pitchFamily="34" charset="0"/>
              </a:rPr>
              <a:t>data</a:t>
            </a:r>
          </a:p>
        </p:txBody>
      </p:sp>
      <p:sp>
        <p:nvSpPr>
          <p:cNvPr id="3" name="object 3">
            <a:extLst>
              <a:ext uri="{FF2B5EF4-FFF2-40B4-BE49-F238E27FC236}">
                <a16:creationId xmlns:a16="http://schemas.microsoft.com/office/drawing/2014/main" id="{B6C07831-DE08-455F-FA4C-446F85679455}"/>
              </a:ext>
            </a:extLst>
          </p:cNvPr>
          <p:cNvSpPr txBox="1"/>
          <p:nvPr/>
        </p:nvSpPr>
        <p:spPr>
          <a:xfrm>
            <a:off x="1320768" y="2837836"/>
            <a:ext cx="5684946" cy="1151309"/>
          </a:xfrm>
          <a:prstGeom prst="rect">
            <a:avLst/>
          </a:prstGeom>
        </p:spPr>
        <p:txBody>
          <a:bodyPr vert="horz" wrap="square" lIns="0" tIns="164814" rIns="0" bIns="0" rtlCol="0">
            <a:spAutoFit/>
          </a:bodyPr>
          <a:lstStyle/>
          <a:p>
            <a:pPr marL="835341" indent="-813892">
              <a:spcBef>
                <a:spcPts val="1298"/>
              </a:spcBef>
              <a:buAutoNum type="arabicPeriod"/>
              <a:tabLst>
                <a:tab pos="836468" algn="l"/>
              </a:tabLst>
            </a:pPr>
            <a:r>
              <a:rPr sz="6400" dirty="0">
                <a:solidFill>
                  <a:srgbClr val="252525"/>
                </a:solidFill>
                <a:latin typeface="Calibri Light"/>
                <a:cs typeface="Calibri Light"/>
              </a:rPr>
              <a:t>Click</a:t>
            </a:r>
            <a:r>
              <a:rPr sz="6400" spc="-80" dirty="0">
                <a:solidFill>
                  <a:srgbClr val="252525"/>
                </a:solidFill>
                <a:latin typeface="Calibri Light"/>
                <a:cs typeface="Calibri Light"/>
              </a:rPr>
              <a:t> </a:t>
            </a:r>
            <a:r>
              <a:rPr sz="6400" dirty="0">
                <a:solidFill>
                  <a:srgbClr val="252525"/>
                </a:solidFill>
                <a:latin typeface="Calibri Light"/>
                <a:cs typeface="Calibri Light"/>
              </a:rPr>
              <a:t>and</a:t>
            </a:r>
            <a:r>
              <a:rPr sz="6400" spc="89" dirty="0">
                <a:solidFill>
                  <a:srgbClr val="252525"/>
                </a:solidFill>
                <a:latin typeface="Calibri Light"/>
                <a:cs typeface="Calibri Light"/>
              </a:rPr>
              <a:t> </a:t>
            </a:r>
            <a:r>
              <a:rPr sz="6400" spc="-36" dirty="0">
                <a:solidFill>
                  <a:srgbClr val="252525"/>
                </a:solidFill>
                <a:latin typeface="Calibri Light"/>
                <a:cs typeface="Calibri Light"/>
              </a:rPr>
              <a:t>point</a:t>
            </a:r>
            <a:endParaRPr sz="6400" dirty="0">
              <a:latin typeface="Calibri Light"/>
              <a:cs typeface="Calibri Light"/>
            </a:endParaRPr>
          </a:p>
        </p:txBody>
      </p:sp>
      <p:pic>
        <p:nvPicPr>
          <p:cNvPr id="5" name="Picture 4">
            <a:extLst>
              <a:ext uri="{FF2B5EF4-FFF2-40B4-BE49-F238E27FC236}">
                <a16:creationId xmlns:a16="http://schemas.microsoft.com/office/drawing/2014/main" id="{C41BA687-C66E-5C8C-84DD-8E1A23BCA2F0}"/>
              </a:ext>
            </a:extLst>
          </p:cNvPr>
          <p:cNvPicPr>
            <a:picLocks noChangeAspect="1"/>
          </p:cNvPicPr>
          <p:nvPr/>
        </p:nvPicPr>
        <p:blipFill>
          <a:blip r:embed="rId2"/>
          <a:stretch>
            <a:fillRect/>
          </a:stretch>
        </p:blipFill>
        <p:spPr>
          <a:xfrm>
            <a:off x="4163241" y="4495800"/>
            <a:ext cx="12952381" cy="6980952"/>
          </a:xfrm>
          <a:prstGeom prst="rect">
            <a:avLst/>
          </a:prstGeom>
        </p:spPr>
      </p:pic>
    </p:spTree>
    <p:extLst>
      <p:ext uri="{BB962C8B-B14F-4D97-AF65-F5344CB8AC3E}">
        <p14:creationId xmlns:p14="http://schemas.microsoft.com/office/powerpoint/2010/main" val="2897442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34413-30F0-CDD2-EC55-96E1EC9CA13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E35CE95-D9EB-7F79-4644-908B6A55724F}"/>
              </a:ext>
            </a:extLst>
          </p:cNvPr>
          <p:cNvSpPr txBox="1"/>
          <p:nvPr/>
        </p:nvSpPr>
        <p:spPr>
          <a:xfrm>
            <a:off x="1320768" y="2819400"/>
            <a:ext cx="5684946" cy="1151309"/>
          </a:xfrm>
          <a:prstGeom prst="rect">
            <a:avLst/>
          </a:prstGeom>
        </p:spPr>
        <p:txBody>
          <a:bodyPr vert="horz" wrap="square" lIns="0" tIns="164814" rIns="0" bIns="0" rtlCol="0">
            <a:spAutoFit/>
          </a:bodyPr>
          <a:lstStyle/>
          <a:p>
            <a:pPr marL="21449">
              <a:spcBef>
                <a:spcPts val="1129"/>
              </a:spcBef>
              <a:tabLst>
                <a:tab pos="836468" algn="l"/>
              </a:tabLst>
            </a:pPr>
            <a:r>
              <a:rPr lang="en-CA" sz="6400" dirty="0">
                <a:latin typeface="Calibri Light"/>
                <a:cs typeface="Calibri Light"/>
              </a:rPr>
              <a:t>2. Code</a:t>
            </a:r>
            <a:endParaRPr sz="6400" dirty="0">
              <a:latin typeface="Calibri Light"/>
              <a:cs typeface="Calibri Light"/>
            </a:endParaRPr>
          </a:p>
        </p:txBody>
      </p:sp>
      <p:sp>
        <p:nvSpPr>
          <p:cNvPr id="9" name="object 9">
            <a:extLst>
              <a:ext uri="{FF2B5EF4-FFF2-40B4-BE49-F238E27FC236}">
                <a16:creationId xmlns:a16="http://schemas.microsoft.com/office/drawing/2014/main" id="{ACCC8284-480A-55E5-6286-A221D28CCC2C}"/>
              </a:ext>
            </a:extLst>
          </p:cNvPr>
          <p:cNvSpPr txBox="1"/>
          <p:nvPr/>
        </p:nvSpPr>
        <p:spPr>
          <a:xfrm>
            <a:off x="319289" y="9165991"/>
            <a:ext cx="21287782" cy="1929659"/>
          </a:xfrm>
          <a:prstGeom prst="rect">
            <a:avLst/>
          </a:prstGeom>
        </p:spPr>
        <p:txBody>
          <a:bodyPr vert="horz" wrap="square" lIns="0" tIns="28222" rIns="0" bIns="0" rtlCol="0">
            <a:spAutoFit/>
          </a:bodyPr>
          <a:lstStyle/>
          <a:p>
            <a:pPr marL="4271529">
              <a:spcBef>
                <a:spcPts val="222"/>
              </a:spcBef>
            </a:pPr>
            <a:endParaRPr sz="3555" dirty="0">
              <a:latin typeface="Calibri Light"/>
              <a:cs typeface="Calibri Light"/>
            </a:endParaRPr>
          </a:p>
          <a:p>
            <a:pPr>
              <a:spcBef>
                <a:spcPts val="9"/>
              </a:spcBef>
            </a:pPr>
            <a:endParaRPr sz="5244" dirty="0">
              <a:latin typeface="Calibri Light"/>
              <a:cs typeface="Calibri Light"/>
            </a:endParaRPr>
          </a:p>
          <a:p>
            <a:pPr marL="22577"/>
            <a:r>
              <a:rPr lang="en-CA" sz="3555" dirty="0">
                <a:solidFill>
                  <a:srgbClr val="252525"/>
                </a:solidFill>
                <a:latin typeface="Calibri Light"/>
                <a:cs typeface="Calibri Light"/>
              </a:rPr>
              <a:t>	</a:t>
            </a:r>
            <a:r>
              <a:rPr sz="3555" dirty="0">
                <a:solidFill>
                  <a:srgbClr val="252525"/>
                </a:solidFill>
                <a:latin typeface="Calibri Light"/>
                <a:cs typeface="Calibri Light"/>
              </a:rPr>
              <a:t>If</a:t>
            </a:r>
            <a:r>
              <a:rPr sz="3555" spc="-151" dirty="0">
                <a:solidFill>
                  <a:srgbClr val="252525"/>
                </a:solidFill>
                <a:latin typeface="Calibri Light"/>
                <a:cs typeface="Calibri Light"/>
              </a:rPr>
              <a:t> </a:t>
            </a:r>
            <a:r>
              <a:rPr sz="3555" dirty="0">
                <a:solidFill>
                  <a:srgbClr val="252525"/>
                </a:solidFill>
                <a:latin typeface="Calibri Light"/>
                <a:cs typeface="Calibri Light"/>
              </a:rPr>
              <a:t>using</a:t>
            </a:r>
            <a:r>
              <a:rPr sz="3555" spc="36" dirty="0">
                <a:solidFill>
                  <a:srgbClr val="252525"/>
                </a:solidFill>
                <a:latin typeface="Calibri Light"/>
                <a:cs typeface="Calibri Light"/>
              </a:rPr>
              <a:t> </a:t>
            </a:r>
            <a:r>
              <a:rPr sz="3555" dirty="0">
                <a:solidFill>
                  <a:srgbClr val="252525"/>
                </a:solidFill>
                <a:latin typeface="Calibri Light"/>
                <a:cs typeface="Calibri Light"/>
              </a:rPr>
              <a:t>file</a:t>
            </a:r>
            <a:r>
              <a:rPr sz="3555" spc="-36" dirty="0">
                <a:solidFill>
                  <a:srgbClr val="252525"/>
                </a:solidFill>
                <a:latin typeface="Calibri Light"/>
                <a:cs typeface="Calibri Light"/>
              </a:rPr>
              <a:t> </a:t>
            </a:r>
            <a:r>
              <a:rPr sz="3555" dirty="0">
                <a:solidFill>
                  <a:srgbClr val="252525"/>
                </a:solidFill>
                <a:latin typeface="Calibri Light"/>
                <a:cs typeface="Calibri Light"/>
              </a:rPr>
              <a:t>path,</a:t>
            </a:r>
            <a:r>
              <a:rPr sz="3555" spc="-231" dirty="0">
                <a:solidFill>
                  <a:srgbClr val="252525"/>
                </a:solidFill>
                <a:latin typeface="Calibri Light"/>
                <a:cs typeface="Calibri Light"/>
              </a:rPr>
              <a:t> </a:t>
            </a:r>
            <a:r>
              <a:rPr sz="3555" dirty="0">
                <a:solidFill>
                  <a:srgbClr val="252525"/>
                </a:solidFill>
                <a:latin typeface="Calibri Light"/>
                <a:cs typeface="Calibri Light"/>
              </a:rPr>
              <a:t>slashes</a:t>
            </a:r>
            <a:r>
              <a:rPr sz="3555" spc="-62" dirty="0">
                <a:solidFill>
                  <a:srgbClr val="252525"/>
                </a:solidFill>
                <a:latin typeface="Calibri Light"/>
                <a:cs typeface="Calibri Light"/>
              </a:rPr>
              <a:t> </a:t>
            </a:r>
            <a:r>
              <a:rPr sz="3555" dirty="0">
                <a:solidFill>
                  <a:srgbClr val="252525"/>
                </a:solidFill>
                <a:latin typeface="Calibri Light"/>
                <a:cs typeface="Calibri Light"/>
              </a:rPr>
              <a:t>need to</a:t>
            </a:r>
            <a:r>
              <a:rPr sz="3555" spc="-18" dirty="0">
                <a:solidFill>
                  <a:srgbClr val="252525"/>
                </a:solidFill>
                <a:latin typeface="Calibri Light"/>
                <a:cs typeface="Calibri Light"/>
              </a:rPr>
              <a:t> </a:t>
            </a:r>
            <a:r>
              <a:rPr sz="3555" dirty="0">
                <a:solidFill>
                  <a:srgbClr val="252525"/>
                </a:solidFill>
                <a:latin typeface="Calibri Light"/>
                <a:cs typeface="Calibri Light"/>
              </a:rPr>
              <a:t>be</a:t>
            </a:r>
            <a:r>
              <a:rPr sz="3555" spc="-53" dirty="0">
                <a:solidFill>
                  <a:srgbClr val="252525"/>
                </a:solidFill>
                <a:latin typeface="Calibri Light"/>
                <a:cs typeface="Calibri Light"/>
              </a:rPr>
              <a:t> </a:t>
            </a:r>
            <a:r>
              <a:rPr sz="3555" spc="-18" dirty="0">
                <a:solidFill>
                  <a:srgbClr val="252525"/>
                </a:solidFill>
                <a:latin typeface="Calibri Light"/>
                <a:cs typeface="Calibri Light"/>
              </a:rPr>
              <a:t>reversed</a:t>
            </a:r>
            <a:r>
              <a:rPr sz="3555" dirty="0">
                <a:solidFill>
                  <a:srgbClr val="252525"/>
                </a:solidFill>
                <a:latin typeface="Calibri Light"/>
                <a:cs typeface="Calibri Light"/>
              </a:rPr>
              <a:t> "/"</a:t>
            </a:r>
            <a:r>
              <a:rPr sz="3555" spc="-36" dirty="0">
                <a:solidFill>
                  <a:srgbClr val="252525"/>
                </a:solidFill>
                <a:latin typeface="Calibri Light"/>
                <a:cs typeface="Calibri Light"/>
              </a:rPr>
              <a:t> </a:t>
            </a:r>
            <a:r>
              <a:rPr sz="3555" dirty="0">
                <a:solidFill>
                  <a:srgbClr val="252525"/>
                </a:solidFill>
                <a:latin typeface="Calibri Light"/>
                <a:cs typeface="Calibri Light"/>
              </a:rPr>
              <a:t>instead</a:t>
            </a:r>
            <a:r>
              <a:rPr sz="3555" spc="-142" dirty="0">
                <a:solidFill>
                  <a:srgbClr val="252525"/>
                </a:solidFill>
                <a:latin typeface="Calibri Light"/>
                <a:cs typeface="Calibri Light"/>
              </a:rPr>
              <a:t> </a:t>
            </a:r>
            <a:r>
              <a:rPr sz="3555" dirty="0">
                <a:solidFill>
                  <a:srgbClr val="252525"/>
                </a:solidFill>
                <a:latin typeface="Calibri Light"/>
                <a:cs typeface="Calibri Light"/>
              </a:rPr>
              <a:t>of</a:t>
            </a:r>
            <a:r>
              <a:rPr sz="3555" spc="-9" dirty="0">
                <a:solidFill>
                  <a:srgbClr val="252525"/>
                </a:solidFill>
                <a:latin typeface="Calibri Light"/>
                <a:cs typeface="Calibri Light"/>
              </a:rPr>
              <a:t> </a:t>
            </a:r>
            <a:r>
              <a:rPr sz="3555" spc="-44" dirty="0">
                <a:solidFill>
                  <a:srgbClr val="252525"/>
                </a:solidFill>
                <a:latin typeface="Calibri Light"/>
                <a:cs typeface="Calibri Light"/>
              </a:rPr>
              <a:t>"\"</a:t>
            </a:r>
            <a:r>
              <a:rPr lang="en-CA" sz="3555" spc="-44" dirty="0">
                <a:solidFill>
                  <a:srgbClr val="252525"/>
                </a:solidFill>
                <a:latin typeface="Calibri Light"/>
                <a:cs typeface="Calibri Light"/>
              </a:rPr>
              <a:t> or doubled “\\”</a:t>
            </a:r>
            <a:endParaRPr sz="3555" dirty="0">
              <a:latin typeface="Calibri Light"/>
              <a:cs typeface="Calibri Light"/>
            </a:endParaRPr>
          </a:p>
        </p:txBody>
      </p:sp>
      <p:sp>
        <p:nvSpPr>
          <p:cNvPr id="15" name="object 5">
            <a:extLst>
              <a:ext uri="{FF2B5EF4-FFF2-40B4-BE49-F238E27FC236}">
                <a16:creationId xmlns:a16="http://schemas.microsoft.com/office/drawing/2014/main" id="{2D25AD2D-A14E-3A59-EA86-108B8AA228B1}"/>
              </a:ext>
            </a:extLst>
          </p:cNvPr>
          <p:cNvSpPr txBox="1"/>
          <p:nvPr/>
        </p:nvSpPr>
        <p:spPr>
          <a:xfrm>
            <a:off x="10500239" y="3745323"/>
            <a:ext cx="6477000"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file is in working directory</a:t>
            </a:r>
            <a:endParaRPr sz="4266" b="1" dirty="0">
              <a:solidFill>
                <a:srgbClr val="EB9B0B"/>
              </a:solidFill>
              <a:latin typeface="Calibri Light"/>
              <a:cs typeface="Calibri Light"/>
            </a:endParaRPr>
          </a:p>
        </p:txBody>
      </p:sp>
      <p:sp>
        <p:nvSpPr>
          <p:cNvPr id="16" name="object 5">
            <a:extLst>
              <a:ext uri="{FF2B5EF4-FFF2-40B4-BE49-F238E27FC236}">
                <a16:creationId xmlns:a16="http://schemas.microsoft.com/office/drawing/2014/main" id="{F72E002B-8BAD-383E-C56A-1D413BB459C7}"/>
              </a:ext>
            </a:extLst>
          </p:cNvPr>
          <p:cNvSpPr txBox="1"/>
          <p:nvPr/>
        </p:nvSpPr>
        <p:spPr>
          <a:xfrm>
            <a:off x="1197759" y="9817599"/>
            <a:ext cx="10975181"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referring to file outside of working directory</a:t>
            </a:r>
            <a:endParaRPr sz="4266" b="1" dirty="0">
              <a:solidFill>
                <a:srgbClr val="EB9B0B"/>
              </a:solidFill>
              <a:latin typeface="Calibri Light"/>
              <a:cs typeface="Calibri Light"/>
            </a:endParaRPr>
          </a:p>
        </p:txBody>
      </p:sp>
      <p:grpSp>
        <p:nvGrpSpPr>
          <p:cNvPr id="17" name="object 5">
            <a:extLst>
              <a:ext uri="{FF2B5EF4-FFF2-40B4-BE49-F238E27FC236}">
                <a16:creationId xmlns:a16="http://schemas.microsoft.com/office/drawing/2014/main" id="{4727EF23-F7DB-E663-C51F-7FF003F91AD2}"/>
              </a:ext>
            </a:extLst>
          </p:cNvPr>
          <p:cNvGrpSpPr/>
          <p:nvPr/>
        </p:nvGrpSpPr>
        <p:grpSpPr>
          <a:xfrm>
            <a:off x="17443445" y="427576"/>
            <a:ext cx="4823624" cy="1309479"/>
            <a:chOff x="9485376" y="303275"/>
            <a:chExt cx="2713355" cy="736600"/>
          </a:xfrm>
          <a:solidFill>
            <a:srgbClr val="EB9B0B"/>
          </a:solidFill>
        </p:grpSpPr>
        <p:sp>
          <p:nvSpPr>
            <p:cNvPr id="18" name="object 6">
              <a:extLst>
                <a:ext uri="{FF2B5EF4-FFF2-40B4-BE49-F238E27FC236}">
                  <a16:creationId xmlns:a16="http://schemas.microsoft.com/office/drawing/2014/main" id="{2AA3A7D5-2946-B728-6712-23D68AF82476}"/>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19" name="object 7">
              <a:extLst>
                <a:ext uri="{FF2B5EF4-FFF2-40B4-BE49-F238E27FC236}">
                  <a16:creationId xmlns:a16="http://schemas.microsoft.com/office/drawing/2014/main" id="{45DE196F-8EEC-B00E-0BA7-E27ECD7E697B}"/>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20" name="object 8">
              <a:extLst>
                <a:ext uri="{FF2B5EF4-FFF2-40B4-BE49-F238E27FC236}">
                  <a16:creationId xmlns:a16="http://schemas.microsoft.com/office/drawing/2014/main" id="{6035905C-1776-B3C8-36BA-70C0D3F055CB}"/>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21" name="object 9">
            <a:extLst>
              <a:ext uri="{FF2B5EF4-FFF2-40B4-BE49-F238E27FC236}">
                <a16:creationId xmlns:a16="http://schemas.microsoft.com/office/drawing/2014/main" id="{CDE610AA-E754-9043-4488-05EA03728B5F}"/>
              </a:ext>
            </a:extLst>
          </p:cNvPr>
          <p:cNvSpPr txBox="1">
            <a:spLocks/>
          </p:cNvSpPr>
          <p:nvPr/>
        </p:nvSpPr>
        <p:spPr>
          <a:xfrm>
            <a:off x="16827548" y="508100"/>
            <a:ext cx="4665551" cy="1008823"/>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1136741">
              <a:spcBef>
                <a:spcPts val="187"/>
              </a:spcBef>
            </a:pPr>
            <a:r>
              <a:rPr lang="en-CA" sz="6400" spc="-18" dirty="0">
                <a:solidFill>
                  <a:srgbClr val="FFFFFF"/>
                </a:solidFill>
                <a:latin typeface="Aptos Black" panose="020B0004020202020204" pitchFamily="34" charset="0"/>
              </a:rPr>
              <a:t>csv</a:t>
            </a:r>
            <a:endParaRPr lang="en-CA" sz="6400" dirty="0">
              <a:latin typeface="Aptos Black" panose="020B0004020202020204" pitchFamily="34" charset="0"/>
            </a:endParaRPr>
          </a:p>
        </p:txBody>
      </p:sp>
      <p:sp>
        <p:nvSpPr>
          <p:cNvPr id="8" name="object 2">
            <a:extLst>
              <a:ext uri="{FF2B5EF4-FFF2-40B4-BE49-F238E27FC236}">
                <a16:creationId xmlns:a16="http://schemas.microsoft.com/office/drawing/2014/main" id="{AB45C87E-2524-0132-51DD-89F29CDB0FC0}"/>
              </a:ext>
            </a:extLst>
          </p:cNvPr>
          <p:cNvSpPr txBox="1">
            <a:spLocks/>
          </p:cNvSpPr>
          <p:nvPr/>
        </p:nvSpPr>
        <p:spPr>
          <a:xfrm>
            <a:off x="778669" y="808145"/>
            <a:ext cx="12725400" cy="1501265"/>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pc="-222" dirty="0">
                <a:solidFill>
                  <a:srgbClr val="50B4C7"/>
                </a:solidFill>
                <a:latin typeface="Aptos Black" panose="020B0004020202020204" pitchFamily="34" charset="0"/>
              </a:rPr>
              <a:t>Importing</a:t>
            </a:r>
            <a:r>
              <a:rPr lang="en-CA" spc="-240" dirty="0">
                <a:solidFill>
                  <a:srgbClr val="50B4C7"/>
                </a:solidFill>
                <a:latin typeface="Aptos Black" panose="020B0004020202020204" pitchFamily="34" charset="0"/>
              </a:rPr>
              <a:t> </a:t>
            </a:r>
            <a:r>
              <a:rPr lang="en-CA" spc="-231" dirty="0">
                <a:solidFill>
                  <a:srgbClr val="50B4C7"/>
                </a:solidFill>
                <a:latin typeface="Aptos Black" panose="020B0004020202020204" pitchFamily="34" charset="0"/>
              </a:rPr>
              <a:t>data - csv</a:t>
            </a:r>
          </a:p>
        </p:txBody>
      </p:sp>
      <p:pic>
        <p:nvPicPr>
          <p:cNvPr id="4" name="Picture 3">
            <a:extLst>
              <a:ext uri="{FF2B5EF4-FFF2-40B4-BE49-F238E27FC236}">
                <a16:creationId xmlns:a16="http://schemas.microsoft.com/office/drawing/2014/main" id="{2B7B457F-6B46-1279-1533-FAA5694491A4}"/>
              </a:ext>
            </a:extLst>
          </p:cNvPr>
          <p:cNvPicPr>
            <a:picLocks noChangeAspect="1"/>
          </p:cNvPicPr>
          <p:nvPr/>
        </p:nvPicPr>
        <p:blipFill>
          <a:blip r:embed="rId2"/>
          <a:stretch>
            <a:fillRect/>
          </a:stretch>
        </p:blipFill>
        <p:spPr>
          <a:xfrm>
            <a:off x="1214427" y="4622317"/>
            <a:ext cx="15242553" cy="4902683"/>
          </a:xfrm>
          <a:prstGeom prst="rect">
            <a:avLst/>
          </a:prstGeom>
        </p:spPr>
      </p:pic>
    </p:spTree>
    <p:extLst>
      <p:ext uri="{BB962C8B-B14F-4D97-AF65-F5344CB8AC3E}">
        <p14:creationId xmlns:p14="http://schemas.microsoft.com/office/powerpoint/2010/main" val="1815499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320768" y="2819400"/>
            <a:ext cx="5684946" cy="1151309"/>
          </a:xfrm>
          <a:prstGeom prst="rect">
            <a:avLst/>
          </a:prstGeom>
        </p:spPr>
        <p:txBody>
          <a:bodyPr vert="horz" wrap="square" lIns="0" tIns="164814" rIns="0" bIns="0" rtlCol="0">
            <a:spAutoFit/>
          </a:bodyPr>
          <a:lstStyle/>
          <a:p>
            <a:pPr marL="21449">
              <a:spcBef>
                <a:spcPts val="1129"/>
              </a:spcBef>
              <a:tabLst>
                <a:tab pos="836468" algn="l"/>
              </a:tabLst>
            </a:pPr>
            <a:r>
              <a:rPr lang="en-CA" sz="6400" dirty="0">
                <a:latin typeface="Calibri Light"/>
                <a:cs typeface="Calibri Light"/>
              </a:rPr>
              <a:t>2. Code</a:t>
            </a:r>
            <a:endParaRPr sz="6400" dirty="0">
              <a:latin typeface="Calibri Light"/>
              <a:cs typeface="Calibri Light"/>
            </a:endParaRPr>
          </a:p>
        </p:txBody>
      </p:sp>
      <p:sp>
        <p:nvSpPr>
          <p:cNvPr id="9" name="object 9"/>
          <p:cNvSpPr txBox="1"/>
          <p:nvPr/>
        </p:nvSpPr>
        <p:spPr>
          <a:xfrm>
            <a:off x="193178" y="7857471"/>
            <a:ext cx="21287782" cy="2502380"/>
          </a:xfrm>
          <a:prstGeom prst="rect">
            <a:avLst/>
          </a:prstGeom>
        </p:spPr>
        <p:txBody>
          <a:bodyPr vert="horz" wrap="square" lIns="0" tIns="28222" rIns="0" bIns="0" rtlCol="0">
            <a:spAutoFit/>
          </a:bodyPr>
          <a:lstStyle/>
          <a:p>
            <a:pPr marL="4271529">
              <a:spcBef>
                <a:spcPts val="222"/>
              </a:spcBef>
            </a:pPr>
            <a:r>
              <a:rPr sz="3555" dirty="0">
                <a:solidFill>
                  <a:srgbClr val="252525"/>
                </a:solidFill>
                <a:latin typeface="Calibri Light"/>
                <a:cs typeface="Calibri Light"/>
              </a:rPr>
              <a:t>File</a:t>
            </a:r>
            <a:r>
              <a:rPr sz="3555" spc="-71" dirty="0">
                <a:solidFill>
                  <a:srgbClr val="252525"/>
                </a:solidFill>
                <a:latin typeface="Calibri Light"/>
                <a:cs typeface="Calibri Light"/>
              </a:rPr>
              <a:t> </a:t>
            </a:r>
            <a:r>
              <a:rPr sz="3555" dirty="0">
                <a:solidFill>
                  <a:srgbClr val="252525"/>
                </a:solidFill>
                <a:latin typeface="Calibri Light"/>
                <a:cs typeface="Calibri Light"/>
              </a:rPr>
              <a:t>name</a:t>
            </a:r>
            <a:r>
              <a:rPr sz="3555" spc="-71" dirty="0">
                <a:solidFill>
                  <a:srgbClr val="252525"/>
                </a:solidFill>
                <a:latin typeface="Calibri Light"/>
                <a:cs typeface="Calibri Light"/>
              </a:rPr>
              <a:t> </a:t>
            </a:r>
            <a:r>
              <a:rPr sz="3555" dirty="0">
                <a:solidFill>
                  <a:srgbClr val="252525"/>
                </a:solidFill>
                <a:latin typeface="Calibri Light"/>
                <a:cs typeface="Calibri Light"/>
              </a:rPr>
              <a:t>in</a:t>
            </a:r>
            <a:r>
              <a:rPr sz="3555" spc="-151" dirty="0">
                <a:solidFill>
                  <a:srgbClr val="252525"/>
                </a:solidFill>
                <a:latin typeface="Calibri Light"/>
                <a:cs typeface="Calibri Light"/>
              </a:rPr>
              <a:t> </a:t>
            </a:r>
            <a:r>
              <a:rPr sz="3555" dirty="0">
                <a:solidFill>
                  <a:srgbClr val="252525"/>
                </a:solidFill>
                <a:latin typeface="Calibri Light"/>
                <a:cs typeface="Calibri Light"/>
              </a:rPr>
              <a:t>first</a:t>
            </a:r>
            <a:r>
              <a:rPr sz="3555" spc="116" dirty="0">
                <a:solidFill>
                  <a:srgbClr val="252525"/>
                </a:solidFill>
                <a:latin typeface="Calibri Light"/>
                <a:cs typeface="Calibri Light"/>
              </a:rPr>
              <a:t> </a:t>
            </a:r>
            <a:r>
              <a:rPr sz="3555" dirty="0">
                <a:solidFill>
                  <a:srgbClr val="252525"/>
                </a:solidFill>
                <a:latin typeface="Calibri Light"/>
                <a:cs typeface="Calibri Light"/>
              </a:rPr>
              <a:t>set</a:t>
            </a:r>
            <a:r>
              <a:rPr sz="3555" spc="-18" dirty="0">
                <a:solidFill>
                  <a:srgbClr val="252525"/>
                </a:solidFill>
                <a:latin typeface="Calibri Light"/>
                <a:cs typeface="Calibri Light"/>
              </a:rPr>
              <a:t> </a:t>
            </a:r>
            <a:r>
              <a:rPr sz="3555" dirty="0">
                <a:solidFill>
                  <a:srgbClr val="252525"/>
                </a:solidFill>
                <a:latin typeface="Calibri Light"/>
                <a:cs typeface="Calibri Light"/>
              </a:rPr>
              <a:t>of</a:t>
            </a:r>
            <a:r>
              <a:rPr sz="3555" spc="-36" dirty="0">
                <a:solidFill>
                  <a:srgbClr val="252525"/>
                </a:solidFill>
                <a:latin typeface="Calibri Light"/>
                <a:cs typeface="Calibri Light"/>
              </a:rPr>
              <a:t> </a:t>
            </a:r>
            <a:r>
              <a:rPr sz="3555" dirty="0">
                <a:solidFill>
                  <a:srgbClr val="252525"/>
                </a:solidFill>
                <a:latin typeface="Calibri Light"/>
                <a:cs typeface="Calibri Light"/>
              </a:rPr>
              <a:t>quotations,</a:t>
            </a:r>
            <a:r>
              <a:rPr sz="3555" spc="-222" dirty="0">
                <a:solidFill>
                  <a:srgbClr val="252525"/>
                </a:solidFill>
                <a:latin typeface="Calibri Light"/>
                <a:cs typeface="Calibri Light"/>
              </a:rPr>
              <a:t> </a:t>
            </a:r>
            <a:r>
              <a:rPr sz="3555" spc="-18" dirty="0">
                <a:solidFill>
                  <a:srgbClr val="252525"/>
                </a:solidFill>
                <a:latin typeface="Calibri Light"/>
                <a:cs typeface="Calibri Light"/>
              </a:rPr>
              <a:t>sheet</a:t>
            </a:r>
            <a:r>
              <a:rPr sz="3555" spc="-142" dirty="0">
                <a:solidFill>
                  <a:srgbClr val="252525"/>
                </a:solidFill>
                <a:latin typeface="Calibri Light"/>
                <a:cs typeface="Calibri Light"/>
              </a:rPr>
              <a:t> </a:t>
            </a:r>
            <a:r>
              <a:rPr sz="3555" dirty="0">
                <a:solidFill>
                  <a:srgbClr val="252525"/>
                </a:solidFill>
                <a:latin typeface="Calibri Light"/>
                <a:cs typeface="Calibri Light"/>
              </a:rPr>
              <a:t>name</a:t>
            </a:r>
            <a:r>
              <a:rPr sz="3555" spc="-71" dirty="0">
                <a:solidFill>
                  <a:srgbClr val="252525"/>
                </a:solidFill>
                <a:latin typeface="Calibri Light"/>
                <a:cs typeface="Calibri Light"/>
              </a:rPr>
              <a:t> </a:t>
            </a:r>
            <a:r>
              <a:rPr sz="3555" dirty="0">
                <a:solidFill>
                  <a:srgbClr val="252525"/>
                </a:solidFill>
                <a:latin typeface="Calibri Light"/>
                <a:cs typeface="Calibri Light"/>
              </a:rPr>
              <a:t>in</a:t>
            </a:r>
            <a:r>
              <a:rPr sz="3555" spc="-18" dirty="0">
                <a:solidFill>
                  <a:srgbClr val="252525"/>
                </a:solidFill>
                <a:latin typeface="Calibri Light"/>
                <a:cs typeface="Calibri Light"/>
              </a:rPr>
              <a:t> </a:t>
            </a:r>
            <a:r>
              <a:rPr sz="3555" dirty="0">
                <a:solidFill>
                  <a:srgbClr val="252525"/>
                </a:solidFill>
                <a:latin typeface="Calibri Light"/>
                <a:cs typeface="Calibri Light"/>
              </a:rPr>
              <a:t>second</a:t>
            </a:r>
            <a:r>
              <a:rPr sz="3555" spc="-36" dirty="0">
                <a:solidFill>
                  <a:srgbClr val="252525"/>
                </a:solidFill>
                <a:latin typeface="Calibri Light"/>
                <a:cs typeface="Calibri Light"/>
              </a:rPr>
              <a:t> </a:t>
            </a:r>
            <a:r>
              <a:rPr sz="3555" dirty="0">
                <a:solidFill>
                  <a:srgbClr val="252525"/>
                </a:solidFill>
                <a:latin typeface="Calibri Light"/>
                <a:cs typeface="Calibri Light"/>
              </a:rPr>
              <a:t>set</a:t>
            </a:r>
            <a:r>
              <a:rPr sz="3555" spc="-18" dirty="0">
                <a:solidFill>
                  <a:srgbClr val="252525"/>
                </a:solidFill>
                <a:latin typeface="Calibri Light"/>
                <a:cs typeface="Calibri Light"/>
              </a:rPr>
              <a:t> </a:t>
            </a:r>
            <a:r>
              <a:rPr sz="3555" dirty="0">
                <a:solidFill>
                  <a:srgbClr val="252525"/>
                </a:solidFill>
                <a:latin typeface="Calibri Light"/>
                <a:cs typeface="Calibri Light"/>
              </a:rPr>
              <a:t>of</a:t>
            </a:r>
            <a:r>
              <a:rPr sz="3555" spc="-36" dirty="0">
                <a:solidFill>
                  <a:srgbClr val="252525"/>
                </a:solidFill>
                <a:latin typeface="Calibri Light"/>
                <a:cs typeface="Calibri Light"/>
              </a:rPr>
              <a:t> </a:t>
            </a:r>
            <a:r>
              <a:rPr sz="3555" spc="-18" dirty="0">
                <a:solidFill>
                  <a:srgbClr val="252525"/>
                </a:solidFill>
                <a:latin typeface="Calibri Light"/>
                <a:cs typeface="Calibri Light"/>
              </a:rPr>
              <a:t>quotations</a:t>
            </a:r>
            <a:r>
              <a:rPr lang="en-CA" sz="3555" spc="-18" dirty="0">
                <a:solidFill>
                  <a:srgbClr val="252525"/>
                </a:solidFill>
                <a:latin typeface="Calibri Light"/>
                <a:cs typeface="Calibri Light"/>
              </a:rPr>
              <a:t> or sheet number</a:t>
            </a:r>
          </a:p>
          <a:p>
            <a:pPr marL="4271529">
              <a:spcBef>
                <a:spcPts val="222"/>
              </a:spcBef>
            </a:pPr>
            <a:endParaRPr sz="3555" dirty="0">
              <a:latin typeface="Calibri Light"/>
              <a:cs typeface="Calibri Light"/>
            </a:endParaRPr>
          </a:p>
          <a:p>
            <a:pPr>
              <a:spcBef>
                <a:spcPts val="9"/>
              </a:spcBef>
            </a:pPr>
            <a:endParaRPr sz="5244" dirty="0">
              <a:latin typeface="Calibri Light"/>
              <a:cs typeface="Calibri Light"/>
            </a:endParaRPr>
          </a:p>
          <a:p>
            <a:pPr marL="22577"/>
            <a:r>
              <a:rPr lang="en-CA" sz="3555" dirty="0">
                <a:solidFill>
                  <a:srgbClr val="252525"/>
                </a:solidFill>
                <a:latin typeface="Calibri Light"/>
                <a:cs typeface="Calibri Light"/>
              </a:rPr>
              <a:t>	</a:t>
            </a:r>
            <a:r>
              <a:rPr sz="3555" dirty="0">
                <a:solidFill>
                  <a:srgbClr val="252525"/>
                </a:solidFill>
                <a:latin typeface="Calibri Light"/>
                <a:cs typeface="Calibri Light"/>
              </a:rPr>
              <a:t>If</a:t>
            </a:r>
            <a:r>
              <a:rPr sz="3555" spc="-151" dirty="0">
                <a:solidFill>
                  <a:srgbClr val="252525"/>
                </a:solidFill>
                <a:latin typeface="Calibri Light"/>
                <a:cs typeface="Calibri Light"/>
              </a:rPr>
              <a:t> </a:t>
            </a:r>
            <a:r>
              <a:rPr sz="3555" dirty="0">
                <a:solidFill>
                  <a:srgbClr val="252525"/>
                </a:solidFill>
                <a:latin typeface="Calibri Light"/>
                <a:cs typeface="Calibri Light"/>
              </a:rPr>
              <a:t>using</a:t>
            </a:r>
            <a:r>
              <a:rPr sz="3555" spc="36" dirty="0">
                <a:solidFill>
                  <a:srgbClr val="252525"/>
                </a:solidFill>
                <a:latin typeface="Calibri Light"/>
                <a:cs typeface="Calibri Light"/>
              </a:rPr>
              <a:t> </a:t>
            </a:r>
            <a:r>
              <a:rPr sz="3555" dirty="0">
                <a:solidFill>
                  <a:srgbClr val="252525"/>
                </a:solidFill>
                <a:latin typeface="Calibri Light"/>
                <a:cs typeface="Calibri Light"/>
              </a:rPr>
              <a:t>file</a:t>
            </a:r>
            <a:r>
              <a:rPr sz="3555" spc="-36" dirty="0">
                <a:solidFill>
                  <a:srgbClr val="252525"/>
                </a:solidFill>
                <a:latin typeface="Calibri Light"/>
                <a:cs typeface="Calibri Light"/>
              </a:rPr>
              <a:t> </a:t>
            </a:r>
            <a:r>
              <a:rPr sz="3555" dirty="0">
                <a:solidFill>
                  <a:srgbClr val="252525"/>
                </a:solidFill>
                <a:latin typeface="Calibri Light"/>
                <a:cs typeface="Calibri Light"/>
              </a:rPr>
              <a:t>path,</a:t>
            </a:r>
            <a:r>
              <a:rPr sz="3555" spc="-231" dirty="0">
                <a:solidFill>
                  <a:srgbClr val="252525"/>
                </a:solidFill>
                <a:latin typeface="Calibri Light"/>
                <a:cs typeface="Calibri Light"/>
              </a:rPr>
              <a:t> </a:t>
            </a:r>
            <a:r>
              <a:rPr sz="3555" dirty="0">
                <a:solidFill>
                  <a:srgbClr val="252525"/>
                </a:solidFill>
                <a:latin typeface="Calibri Light"/>
                <a:cs typeface="Calibri Light"/>
              </a:rPr>
              <a:t>slashes</a:t>
            </a:r>
            <a:r>
              <a:rPr sz="3555" spc="-62" dirty="0">
                <a:solidFill>
                  <a:srgbClr val="252525"/>
                </a:solidFill>
                <a:latin typeface="Calibri Light"/>
                <a:cs typeface="Calibri Light"/>
              </a:rPr>
              <a:t> </a:t>
            </a:r>
            <a:r>
              <a:rPr sz="3555" dirty="0">
                <a:solidFill>
                  <a:srgbClr val="252525"/>
                </a:solidFill>
                <a:latin typeface="Calibri Light"/>
                <a:cs typeface="Calibri Light"/>
              </a:rPr>
              <a:t>need to</a:t>
            </a:r>
            <a:r>
              <a:rPr sz="3555" spc="-18" dirty="0">
                <a:solidFill>
                  <a:srgbClr val="252525"/>
                </a:solidFill>
                <a:latin typeface="Calibri Light"/>
                <a:cs typeface="Calibri Light"/>
              </a:rPr>
              <a:t> </a:t>
            </a:r>
            <a:r>
              <a:rPr sz="3555" dirty="0">
                <a:solidFill>
                  <a:srgbClr val="252525"/>
                </a:solidFill>
                <a:latin typeface="Calibri Light"/>
                <a:cs typeface="Calibri Light"/>
              </a:rPr>
              <a:t>be</a:t>
            </a:r>
            <a:r>
              <a:rPr sz="3555" spc="-53" dirty="0">
                <a:solidFill>
                  <a:srgbClr val="252525"/>
                </a:solidFill>
                <a:latin typeface="Calibri Light"/>
                <a:cs typeface="Calibri Light"/>
              </a:rPr>
              <a:t> </a:t>
            </a:r>
            <a:r>
              <a:rPr sz="3555" spc="-18" dirty="0">
                <a:solidFill>
                  <a:srgbClr val="252525"/>
                </a:solidFill>
                <a:latin typeface="Calibri Light"/>
                <a:cs typeface="Calibri Light"/>
              </a:rPr>
              <a:t>reversed</a:t>
            </a:r>
            <a:r>
              <a:rPr sz="3555" dirty="0">
                <a:solidFill>
                  <a:srgbClr val="252525"/>
                </a:solidFill>
                <a:latin typeface="Calibri Light"/>
                <a:cs typeface="Calibri Light"/>
              </a:rPr>
              <a:t> "/"</a:t>
            </a:r>
            <a:r>
              <a:rPr sz="3555" spc="-36" dirty="0">
                <a:solidFill>
                  <a:srgbClr val="252525"/>
                </a:solidFill>
                <a:latin typeface="Calibri Light"/>
                <a:cs typeface="Calibri Light"/>
              </a:rPr>
              <a:t> </a:t>
            </a:r>
            <a:r>
              <a:rPr sz="3555" dirty="0">
                <a:solidFill>
                  <a:srgbClr val="252525"/>
                </a:solidFill>
                <a:latin typeface="Calibri Light"/>
                <a:cs typeface="Calibri Light"/>
              </a:rPr>
              <a:t>instead</a:t>
            </a:r>
            <a:r>
              <a:rPr sz="3555" spc="-142" dirty="0">
                <a:solidFill>
                  <a:srgbClr val="252525"/>
                </a:solidFill>
                <a:latin typeface="Calibri Light"/>
                <a:cs typeface="Calibri Light"/>
              </a:rPr>
              <a:t> </a:t>
            </a:r>
            <a:r>
              <a:rPr sz="3555" dirty="0">
                <a:solidFill>
                  <a:srgbClr val="252525"/>
                </a:solidFill>
                <a:latin typeface="Calibri Light"/>
                <a:cs typeface="Calibri Light"/>
              </a:rPr>
              <a:t>of</a:t>
            </a:r>
            <a:r>
              <a:rPr sz="3555" spc="-9" dirty="0">
                <a:solidFill>
                  <a:srgbClr val="252525"/>
                </a:solidFill>
                <a:latin typeface="Calibri Light"/>
                <a:cs typeface="Calibri Light"/>
              </a:rPr>
              <a:t> </a:t>
            </a:r>
            <a:r>
              <a:rPr sz="3555" spc="-44" dirty="0">
                <a:solidFill>
                  <a:srgbClr val="252525"/>
                </a:solidFill>
                <a:latin typeface="Calibri Light"/>
                <a:cs typeface="Calibri Light"/>
              </a:rPr>
              <a:t>"\"</a:t>
            </a:r>
            <a:r>
              <a:rPr lang="en-CA" sz="3555" spc="-44" dirty="0">
                <a:solidFill>
                  <a:srgbClr val="252525"/>
                </a:solidFill>
                <a:latin typeface="Calibri Light"/>
                <a:cs typeface="Calibri Light"/>
              </a:rPr>
              <a:t> or doubled “\\”</a:t>
            </a:r>
            <a:endParaRPr sz="3555" dirty="0">
              <a:latin typeface="Calibri Light"/>
              <a:cs typeface="Calibri Light"/>
            </a:endParaRPr>
          </a:p>
        </p:txBody>
      </p:sp>
      <p:pic>
        <p:nvPicPr>
          <p:cNvPr id="12" name="Picture 11">
            <a:extLst>
              <a:ext uri="{FF2B5EF4-FFF2-40B4-BE49-F238E27FC236}">
                <a16:creationId xmlns:a16="http://schemas.microsoft.com/office/drawing/2014/main" id="{0AF6EF4A-858F-0F3F-7D87-EDB29B812AD0}"/>
              </a:ext>
            </a:extLst>
          </p:cNvPr>
          <p:cNvPicPr>
            <a:picLocks noChangeAspect="1"/>
          </p:cNvPicPr>
          <p:nvPr/>
        </p:nvPicPr>
        <p:blipFill>
          <a:blip r:embed="rId2"/>
          <a:srcRect b="50000"/>
          <a:stretch/>
        </p:blipFill>
        <p:spPr>
          <a:xfrm>
            <a:off x="1083470" y="10359851"/>
            <a:ext cx="16764000" cy="1222549"/>
          </a:xfrm>
          <a:prstGeom prst="rect">
            <a:avLst/>
          </a:prstGeom>
        </p:spPr>
      </p:pic>
      <p:sp>
        <p:nvSpPr>
          <p:cNvPr id="15" name="object 5">
            <a:extLst>
              <a:ext uri="{FF2B5EF4-FFF2-40B4-BE49-F238E27FC236}">
                <a16:creationId xmlns:a16="http://schemas.microsoft.com/office/drawing/2014/main" id="{FCDC2D3E-A290-B1BE-8B3D-25A2B987717C}"/>
              </a:ext>
            </a:extLst>
          </p:cNvPr>
          <p:cNvSpPr txBox="1"/>
          <p:nvPr/>
        </p:nvSpPr>
        <p:spPr>
          <a:xfrm>
            <a:off x="13275469" y="2271416"/>
            <a:ext cx="6477000"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file is in working directory</a:t>
            </a:r>
            <a:endParaRPr sz="4266" b="1" dirty="0">
              <a:solidFill>
                <a:srgbClr val="EB9B0B"/>
              </a:solidFill>
              <a:latin typeface="Calibri Light"/>
              <a:cs typeface="Calibri Light"/>
            </a:endParaRPr>
          </a:p>
        </p:txBody>
      </p:sp>
      <p:sp>
        <p:nvSpPr>
          <p:cNvPr id="16" name="object 5">
            <a:extLst>
              <a:ext uri="{FF2B5EF4-FFF2-40B4-BE49-F238E27FC236}">
                <a16:creationId xmlns:a16="http://schemas.microsoft.com/office/drawing/2014/main" id="{1DB54711-AE54-E6E3-FF85-F195A46FDDD2}"/>
              </a:ext>
            </a:extLst>
          </p:cNvPr>
          <p:cNvSpPr txBox="1"/>
          <p:nvPr/>
        </p:nvSpPr>
        <p:spPr>
          <a:xfrm>
            <a:off x="1081087" y="9204089"/>
            <a:ext cx="10975181"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referring to file outside of working directory</a:t>
            </a:r>
            <a:endParaRPr sz="4266" b="1" dirty="0">
              <a:solidFill>
                <a:srgbClr val="EB9B0B"/>
              </a:solidFill>
              <a:latin typeface="Calibri Light"/>
              <a:cs typeface="Calibri Light"/>
            </a:endParaRPr>
          </a:p>
        </p:txBody>
      </p:sp>
      <p:grpSp>
        <p:nvGrpSpPr>
          <p:cNvPr id="17" name="object 5">
            <a:extLst>
              <a:ext uri="{FF2B5EF4-FFF2-40B4-BE49-F238E27FC236}">
                <a16:creationId xmlns:a16="http://schemas.microsoft.com/office/drawing/2014/main" id="{FEA19EF5-12D6-BA76-0BE8-A50E08943785}"/>
              </a:ext>
            </a:extLst>
          </p:cNvPr>
          <p:cNvGrpSpPr/>
          <p:nvPr/>
        </p:nvGrpSpPr>
        <p:grpSpPr>
          <a:xfrm>
            <a:off x="17443445" y="427576"/>
            <a:ext cx="4823624" cy="1309479"/>
            <a:chOff x="9485376" y="303275"/>
            <a:chExt cx="2713355" cy="736600"/>
          </a:xfrm>
          <a:solidFill>
            <a:srgbClr val="EB9B0B"/>
          </a:solidFill>
        </p:grpSpPr>
        <p:sp>
          <p:nvSpPr>
            <p:cNvPr id="18" name="object 6">
              <a:extLst>
                <a:ext uri="{FF2B5EF4-FFF2-40B4-BE49-F238E27FC236}">
                  <a16:creationId xmlns:a16="http://schemas.microsoft.com/office/drawing/2014/main" id="{973E2119-695A-8942-002D-182274EFC88A}"/>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19" name="object 7">
              <a:extLst>
                <a:ext uri="{FF2B5EF4-FFF2-40B4-BE49-F238E27FC236}">
                  <a16:creationId xmlns:a16="http://schemas.microsoft.com/office/drawing/2014/main" id="{36CBAA0A-1322-359B-D554-732889CE0B3A}"/>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20" name="object 8">
              <a:extLst>
                <a:ext uri="{FF2B5EF4-FFF2-40B4-BE49-F238E27FC236}">
                  <a16:creationId xmlns:a16="http://schemas.microsoft.com/office/drawing/2014/main" id="{A3F792F6-851F-E311-BF72-82C70099C99A}"/>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21" name="object 9">
            <a:extLst>
              <a:ext uri="{FF2B5EF4-FFF2-40B4-BE49-F238E27FC236}">
                <a16:creationId xmlns:a16="http://schemas.microsoft.com/office/drawing/2014/main" id="{6CCF618D-6114-6AC9-15CF-CF970AEA76CB}"/>
              </a:ext>
            </a:extLst>
          </p:cNvPr>
          <p:cNvSpPr txBox="1">
            <a:spLocks/>
          </p:cNvSpPr>
          <p:nvPr/>
        </p:nvSpPr>
        <p:spPr>
          <a:xfrm>
            <a:off x="16828230" y="557117"/>
            <a:ext cx="3725349" cy="1008823"/>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1136741">
              <a:spcBef>
                <a:spcPts val="187"/>
              </a:spcBef>
            </a:pPr>
            <a:r>
              <a:rPr lang="en-CA" sz="6400" spc="-18" dirty="0">
                <a:solidFill>
                  <a:srgbClr val="FFFFFF"/>
                </a:solidFill>
                <a:latin typeface="Aptos Black" panose="020B0004020202020204" pitchFamily="34" charset="0"/>
              </a:rPr>
              <a:t>excel</a:t>
            </a:r>
            <a:endParaRPr lang="en-CA" sz="6400" dirty="0">
              <a:latin typeface="Aptos Black" panose="020B0004020202020204" pitchFamily="34" charset="0"/>
            </a:endParaRPr>
          </a:p>
        </p:txBody>
      </p:sp>
      <p:sp>
        <p:nvSpPr>
          <p:cNvPr id="24" name="object 2">
            <a:extLst>
              <a:ext uri="{FF2B5EF4-FFF2-40B4-BE49-F238E27FC236}">
                <a16:creationId xmlns:a16="http://schemas.microsoft.com/office/drawing/2014/main" id="{E8A4FDB4-BF75-457C-2A68-26F1A473C44B}"/>
              </a:ext>
            </a:extLst>
          </p:cNvPr>
          <p:cNvSpPr txBox="1">
            <a:spLocks/>
          </p:cNvSpPr>
          <p:nvPr/>
        </p:nvSpPr>
        <p:spPr>
          <a:xfrm>
            <a:off x="778669" y="808145"/>
            <a:ext cx="13106400" cy="1501265"/>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pc="-222" dirty="0">
                <a:solidFill>
                  <a:srgbClr val="50B4C7"/>
                </a:solidFill>
                <a:latin typeface="Aptos Black" panose="020B0004020202020204" pitchFamily="34" charset="0"/>
              </a:rPr>
              <a:t>Importing</a:t>
            </a:r>
            <a:r>
              <a:rPr lang="en-CA" spc="-240" dirty="0">
                <a:solidFill>
                  <a:srgbClr val="50B4C7"/>
                </a:solidFill>
                <a:latin typeface="Aptos Black" panose="020B0004020202020204" pitchFamily="34" charset="0"/>
              </a:rPr>
              <a:t> </a:t>
            </a:r>
            <a:r>
              <a:rPr lang="en-CA" spc="-231" dirty="0">
                <a:solidFill>
                  <a:srgbClr val="50B4C7"/>
                </a:solidFill>
                <a:latin typeface="Aptos Black" panose="020B0004020202020204" pitchFamily="34" charset="0"/>
              </a:rPr>
              <a:t>data - excel</a:t>
            </a:r>
          </a:p>
        </p:txBody>
      </p:sp>
      <p:pic>
        <p:nvPicPr>
          <p:cNvPr id="4" name="Picture 3">
            <a:extLst>
              <a:ext uri="{FF2B5EF4-FFF2-40B4-BE49-F238E27FC236}">
                <a16:creationId xmlns:a16="http://schemas.microsoft.com/office/drawing/2014/main" id="{4CD7373D-DBC6-03C1-A377-9486BE538DD5}"/>
              </a:ext>
            </a:extLst>
          </p:cNvPr>
          <p:cNvPicPr>
            <a:picLocks noChangeAspect="1"/>
          </p:cNvPicPr>
          <p:nvPr/>
        </p:nvPicPr>
        <p:blipFill>
          <a:blip r:embed="rId3"/>
          <a:stretch>
            <a:fillRect/>
          </a:stretch>
        </p:blipFill>
        <p:spPr>
          <a:xfrm>
            <a:off x="5274469" y="3001380"/>
            <a:ext cx="14678529" cy="469854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4AA590E-F6AF-12B1-BE47-B48320364D2F}"/>
              </a:ext>
            </a:extLst>
          </p:cNvPr>
          <p:cNvPicPr>
            <a:picLocks noChangeAspect="1"/>
          </p:cNvPicPr>
          <p:nvPr/>
        </p:nvPicPr>
        <p:blipFill>
          <a:blip r:embed="rId2"/>
          <a:stretch>
            <a:fillRect/>
          </a:stretch>
        </p:blipFill>
        <p:spPr>
          <a:xfrm>
            <a:off x="1121184" y="1438385"/>
            <a:ext cx="19431769" cy="9315229"/>
          </a:xfrm>
          <a:prstGeom prst="rect">
            <a:avLst/>
          </a:prstGeom>
        </p:spPr>
      </p:pic>
    </p:spTree>
    <p:extLst>
      <p:ext uri="{BB962C8B-B14F-4D97-AF65-F5344CB8AC3E}">
        <p14:creationId xmlns:p14="http://schemas.microsoft.com/office/powerpoint/2010/main" val="1761973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6B572-0C90-6C40-021E-529DD3A6DA9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527B4FD-05B0-6EF1-CA5A-E4D99827B815}"/>
              </a:ext>
            </a:extLst>
          </p:cNvPr>
          <p:cNvSpPr txBox="1"/>
          <p:nvPr/>
        </p:nvSpPr>
        <p:spPr>
          <a:xfrm>
            <a:off x="1320768" y="2819400"/>
            <a:ext cx="5684946" cy="1151309"/>
          </a:xfrm>
          <a:prstGeom prst="rect">
            <a:avLst/>
          </a:prstGeom>
        </p:spPr>
        <p:txBody>
          <a:bodyPr vert="horz" wrap="square" lIns="0" tIns="164814" rIns="0" bIns="0" rtlCol="0">
            <a:spAutoFit/>
          </a:bodyPr>
          <a:lstStyle/>
          <a:p>
            <a:pPr marL="21449">
              <a:spcBef>
                <a:spcPts val="1129"/>
              </a:spcBef>
              <a:tabLst>
                <a:tab pos="836468" algn="l"/>
              </a:tabLst>
            </a:pPr>
            <a:r>
              <a:rPr lang="en-CA" sz="6400" dirty="0">
                <a:latin typeface="Calibri Light"/>
                <a:cs typeface="Calibri Light"/>
              </a:rPr>
              <a:t>2. Code</a:t>
            </a:r>
            <a:endParaRPr sz="6400" dirty="0">
              <a:latin typeface="Calibri Light"/>
              <a:cs typeface="Calibri Light"/>
            </a:endParaRPr>
          </a:p>
        </p:txBody>
      </p:sp>
      <p:sp>
        <p:nvSpPr>
          <p:cNvPr id="9" name="object 9">
            <a:extLst>
              <a:ext uri="{FF2B5EF4-FFF2-40B4-BE49-F238E27FC236}">
                <a16:creationId xmlns:a16="http://schemas.microsoft.com/office/drawing/2014/main" id="{A107479A-91B6-C93E-EE83-F7145AC6DCFE}"/>
              </a:ext>
            </a:extLst>
          </p:cNvPr>
          <p:cNvSpPr txBox="1"/>
          <p:nvPr/>
        </p:nvSpPr>
        <p:spPr>
          <a:xfrm>
            <a:off x="319289" y="9165991"/>
            <a:ext cx="21287782" cy="1929659"/>
          </a:xfrm>
          <a:prstGeom prst="rect">
            <a:avLst/>
          </a:prstGeom>
        </p:spPr>
        <p:txBody>
          <a:bodyPr vert="horz" wrap="square" lIns="0" tIns="28222" rIns="0" bIns="0" rtlCol="0">
            <a:spAutoFit/>
          </a:bodyPr>
          <a:lstStyle/>
          <a:p>
            <a:pPr marL="4271529">
              <a:spcBef>
                <a:spcPts val="222"/>
              </a:spcBef>
            </a:pPr>
            <a:endParaRPr sz="3555" dirty="0">
              <a:latin typeface="Calibri Light"/>
              <a:cs typeface="Calibri Light"/>
            </a:endParaRPr>
          </a:p>
          <a:p>
            <a:pPr>
              <a:spcBef>
                <a:spcPts val="9"/>
              </a:spcBef>
            </a:pPr>
            <a:endParaRPr sz="5244" dirty="0">
              <a:latin typeface="Calibri Light"/>
              <a:cs typeface="Calibri Light"/>
            </a:endParaRPr>
          </a:p>
          <a:p>
            <a:pPr marL="22577"/>
            <a:r>
              <a:rPr lang="en-CA" sz="3555" dirty="0">
                <a:solidFill>
                  <a:srgbClr val="252525"/>
                </a:solidFill>
                <a:latin typeface="Calibri Light"/>
                <a:cs typeface="Calibri Light"/>
              </a:rPr>
              <a:t>	</a:t>
            </a:r>
            <a:r>
              <a:rPr sz="3555" dirty="0">
                <a:solidFill>
                  <a:srgbClr val="252525"/>
                </a:solidFill>
                <a:latin typeface="Calibri Light"/>
                <a:cs typeface="Calibri Light"/>
              </a:rPr>
              <a:t>If</a:t>
            </a:r>
            <a:r>
              <a:rPr sz="3555" spc="-151" dirty="0">
                <a:solidFill>
                  <a:srgbClr val="252525"/>
                </a:solidFill>
                <a:latin typeface="Calibri Light"/>
                <a:cs typeface="Calibri Light"/>
              </a:rPr>
              <a:t> </a:t>
            </a:r>
            <a:r>
              <a:rPr sz="3555" dirty="0">
                <a:solidFill>
                  <a:srgbClr val="252525"/>
                </a:solidFill>
                <a:latin typeface="Calibri Light"/>
                <a:cs typeface="Calibri Light"/>
              </a:rPr>
              <a:t>using</a:t>
            </a:r>
            <a:r>
              <a:rPr sz="3555" spc="36" dirty="0">
                <a:solidFill>
                  <a:srgbClr val="252525"/>
                </a:solidFill>
                <a:latin typeface="Calibri Light"/>
                <a:cs typeface="Calibri Light"/>
              </a:rPr>
              <a:t> </a:t>
            </a:r>
            <a:r>
              <a:rPr sz="3555" dirty="0">
                <a:solidFill>
                  <a:srgbClr val="252525"/>
                </a:solidFill>
                <a:latin typeface="Calibri Light"/>
                <a:cs typeface="Calibri Light"/>
              </a:rPr>
              <a:t>file</a:t>
            </a:r>
            <a:r>
              <a:rPr sz="3555" spc="-36" dirty="0">
                <a:solidFill>
                  <a:srgbClr val="252525"/>
                </a:solidFill>
                <a:latin typeface="Calibri Light"/>
                <a:cs typeface="Calibri Light"/>
              </a:rPr>
              <a:t> </a:t>
            </a:r>
            <a:r>
              <a:rPr sz="3555" dirty="0">
                <a:solidFill>
                  <a:srgbClr val="252525"/>
                </a:solidFill>
                <a:latin typeface="Calibri Light"/>
                <a:cs typeface="Calibri Light"/>
              </a:rPr>
              <a:t>path,</a:t>
            </a:r>
            <a:r>
              <a:rPr sz="3555" spc="-231" dirty="0">
                <a:solidFill>
                  <a:srgbClr val="252525"/>
                </a:solidFill>
                <a:latin typeface="Calibri Light"/>
                <a:cs typeface="Calibri Light"/>
              </a:rPr>
              <a:t> </a:t>
            </a:r>
            <a:r>
              <a:rPr sz="3555" dirty="0">
                <a:solidFill>
                  <a:srgbClr val="252525"/>
                </a:solidFill>
                <a:latin typeface="Calibri Light"/>
                <a:cs typeface="Calibri Light"/>
              </a:rPr>
              <a:t>slashes</a:t>
            </a:r>
            <a:r>
              <a:rPr sz="3555" spc="-62" dirty="0">
                <a:solidFill>
                  <a:srgbClr val="252525"/>
                </a:solidFill>
                <a:latin typeface="Calibri Light"/>
                <a:cs typeface="Calibri Light"/>
              </a:rPr>
              <a:t> </a:t>
            </a:r>
            <a:r>
              <a:rPr sz="3555" dirty="0">
                <a:solidFill>
                  <a:srgbClr val="252525"/>
                </a:solidFill>
                <a:latin typeface="Calibri Light"/>
                <a:cs typeface="Calibri Light"/>
              </a:rPr>
              <a:t>need to</a:t>
            </a:r>
            <a:r>
              <a:rPr sz="3555" spc="-18" dirty="0">
                <a:solidFill>
                  <a:srgbClr val="252525"/>
                </a:solidFill>
                <a:latin typeface="Calibri Light"/>
                <a:cs typeface="Calibri Light"/>
              </a:rPr>
              <a:t> </a:t>
            </a:r>
            <a:r>
              <a:rPr sz="3555" dirty="0">
                <a:solidFill>
                  <a:srgbClr val="252525"/>
                </a:solidFill>
                <a:latin typeface="Calibri Light"/>
                <a:cs typeface="Calibri Light"/>
              </a:rPr>
              <a:t>be</a:t>
            </a:r>
            <a:r>
              <a:rPr sz="3555" spc="-53" dirty="0">
                <a:solidFill>
                  <a:srgbClr val="252525"/>
                </a:solidFill>
                <a:latin typeface="Calibri Light"/>
                <a:cs typeface="Calibri Light"/>
              </a:rPr>
              <a:t> </a:t>
            </a:r>
            <a:r>
              <a:rPr sz="3555" spc="-18" dirty="0">
                <a:solidFill>
                  <a:srgbClr val="252525"/>
                </a:solidFill>
                <a:latin typeface="Calibri Light"/>
                <a:cs typeface="Calibri Light"/>
              </a:rPr>
              <a:t>reversed</a:t>
            </a:r>
            <a:r>
              <a:rPr sz="3555" dirty="0">
                <a:solidFill>
                  <a:srgbClr val="252525"/>
                </a:solidFill>
                <a:latin typeface="Calibri Light"/>
                <a:cs typeface="Calibri Light"/>
              </a:rPr>
              <a:t> "/"</a:t>
            </a:r>
            <a:r>
              <a:rPr sz="3555" spc="-36" dirty="0">
                <a:solidFill>
                  <a:srgbClr val="252525"/>
                </a:solidFill>
                <a:latin typeface="Calibri Light"/>
                <a:cs typeface="Calibri Light"/>
              </a:rPr>
              <a:t> </a:t>
            </a:r>
            <a:r>
              <a:rPr sz="3555" dirty="0">
                <a:solidFill>
                  <a:srgbClr val="252525"/>
                </a:solidFill>
                <a:latin typeface="Calibri Light"/>
                <a:cs typeface="Calibri Light"/>
              </a:rPr>
              <a:t>instead</a:t>
            </a:r>
            <a:r>
              <a:rPr sz="3555" spc="-142" dirty="0">
                <a:solidFill>
                  <a:srgbClr val="252525"/>
                </a:solidFill>
                <a:latin typeface="Calibri Light"/>
                <a:cs typeface="Calibri Light"/>
              </a:rPr>
              <a:t> </a:t>
            </a:r>
            <a:r>
              <a:rPr sz="3555" dirty="0">
                <a:solidFill>
                  <a:srgbClr val="252525"/>
                </a:solidFill>
                <a:latin typeface="Calibri Light"/>
                <a:cs typeface="Calibri Light"/>
              </a:rPr>
              <a:t>of</a:t>
            </a:r>
            <a:r>
              <a:rPr sz="3555" spc="-9" dirty="0">
                <a:solidFill>
                  <a:srgbClr val="252525"/>
                </a:solidFill>
                <a:latin typeface="Calibri Light"/>
                <a:cs typeface="Calibri Light"/>
              </a:rPr>
              <a:t> </a:t>
            </a:r>
            <a:r>
              <a:rPr sz="3555" spc="-44" dirty="0">
                <a:solidFill>
                  <a:srgbClr val="252525"/>
                </a:solidFill>
                <a:latin typeface="Calibri Light"/>
                <a:cs typeface="Calibri Light"/>
              </a:rPr>
              <a:t>"\"</a:t>
            </a:r>
            <a:r>
              <a:rPr lang="en-CA" sz="3555" spc="-44" dirty="0">
                <a:solidFill>
                  <a:srgbClr val="252525"/>
                </a:solidFill>
                <a:latin typeface="Calibri Light"/>
                <a:cs typeface="Calibri Light"/>
              </a:rPr>
              <a:t> or doubled “\\”</a:t>
            </a:r>
            <a:endParaRPr sz="3555" dirty="0">
              <a:latin typeface="Calibri Light"/>
              <a:cs typeface="Calibri Light"/>
            </a:endParaRPr>
          </a:p>
        </p:txBody>
      </p:sp>
      <p:sp>
        <p:nvSpPr>
          <p:cNvPr id="15" name="object 5">
            <a:extLst>
              <a:ext uri="{FF2B5EF4-FFF2-40B4-BE49-F238E27FC236}">
                <a16:creationId xmlns:a16="http://schemas.microsoft.com/office/drawing/2014/main" id="{0DA417EA-24DA-B7D7-8A60-17CA6FEAEBDC}"/>
              </a:ext>
            </a:extLst>
          </p:cNvPr>
          <p:cNvSpPr txBox="1"/>
          <p:nvPr/>
        </p:nvSpPr>
        <p:spPr>
          <a:xfrm>
            <a:off x="10500239" y="3745323"/>
            <a:ext cx="6477000"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file is in working directory</a:t>
            </a:r>
            <a:endParaRPr sz="4266" b="1" dirty="0">
              <a:solidFill>
                <a:srgbClr val="EB9B0B"/>
              </a:solidFill>
              <a:latin typeface="Calibri Light"/>
              <a:cs typeface="Calibri Light"/>
            </a:endParaRPr>
          </a:p>
        </p:txBody>
      </p:sp>
      <p:sp>
        <p:nvSpPr>
          <p:cNvPr id="16" name="object 5">
            <a:extLst>
              <a:ext uri="{FF2B5EF4-FFF2-40B4-BE49-F238E27FC236}">
                <a16:creationId xmlns:a16="http://schemas.microsoft.com/office/drawing/2014/main" id="{DB212858-ECDD-339F-B514-3132E130C82D}"/>
              </a:ext>
            </a:extLst>
          </p:cNvPr>
          <p:cNvSpPr txBox="1"/>
          <p:nvPr/>
        </p:nvSpPr>
        <p:spPr>
          <a:xfrm>
            <a:off x="1197759" y="9817599"/>
            <a:ext cx="10975181"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referring to file outside of working directory</a:t>
            </a:r>
            <a:endParaRPr sz="4266" b="1" dirty="0">
              <a:solidFill>
                <a:srgbClr val="EB9B0B"/>
              </a:solidFill>
              <a:latin typeface="Calibri Light"/>
              <a:cs typeface="Calibri Light"/>
            </a:endParaRPr>
          </a:p>
        </p:txBody>
      </p:sp>
      <p:grpSp>
        <p:nvGrpSpPr>
          <p:cNvPr id="17" name="object 5">
            <a:extLst>
              <a:ext uri="{FF2B5EF4-FFF2-40B4-BE49-F238E27FC236}">
                <a16:creationId xmlns:a16="http://schemas.microsoft.com/office/drawing/2014/main" id="{F0F2EFD3-D801-0AA5-1B8F-5F3A342BB2C9}"/>
              </a:ext>
            </a:extLst>
          </p:cNvPr>
          <p:cNvGrpSpPr/>
          <p:nvPr/>
        </p:nvGrpSpPr>
        <p:grpSpPr>
          <a:xfrm>
            <a:off x="17443445" y="427576"/>
            <a:ext cx="4823624" cy="1309479"/>
            <a:chOff x="9485376" y="303275"/>
            <a:chExt cx="2713355" cy="736600"/>
          </a:xfrm>
          <a:solidFill>
            <a:srgbClr val="EB9B0B"/>
          </a:solidFill>
        </p:grpSpPr>
        <p:sp>
          <p:nvSpPr>
            <p:cNvPr id="18" name="object 6">
              <a:extLst>
                <a:ext uri="{FF2B5EF4-FFF2-40B4-BE49-F238E27FC236}">
                  <a16:creationId xmlns:a16="http://schemas.microsoft.com/office/drawing/2014/main" id="{C98CC109-3D79-D7B7-2868-FC4BF31ED830}"/>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19" name="object 7">
              <a:extLst>
                <a:ext uri="{FF2B5EF4-FFF2-40B4-BE49-F238E27FC236}">
                  <a16:creationId xmlns:a16="http://schemas.microsoft.com/office/drawing/2014/main" id="{CFD46006-A751-8D41-A1E6-EC96744A0F11}"/>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20" name="object 8">
              <a:extLst>
                <a:ext uri="{FF2B5EF4-FFF2-40B4-BE49-F238E27FC236}">
                  <a16:creationId xmlns:a16="http://schemas.microsoft.com/office/drawing/2014/main" id="{90A06766-017A-3845-4E5A-E671902AE6E3}"/>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21" name="object 9">
            <a:extLst>
              <a:ext uri="{FF2B5EF4-FFF2-40B4-BE49-F238E27FC236}">
                <a16:creationId xmlns:a16="http://schemas.microsoft.com/office/drawing/2014/main" id="{6FA9082B-7E9F-D400-A08B-C938A90DC114}"/>
              </a:ext>
            </a:extLst>
          </p:cNvPr>
          <p:cNvSpPr txBox="1">
            <a:spLocks/>
          </p:cNvSpPr>
          <p:nvPr/>
        </p:nvSpPr>
        <p:spPr>
          <a:xfrm>
            <a:off x="16827548" y="508100"/>
            <a:ext cx="4665551" cy="1008823"/>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1136741">
              <a:spcBef>
                <a:spcPts val="187"/>
              </a:spcBef>
            </a:pPr>
            <a:r>
              <a:rPr lang="en-CA" sz="6400" spc="-18" dirty="0">
                <a:solidFill>
                  <a:srgbClr val="FFFFFF"/>
                </a:solidFill>
                <a:latin typeface="Aptos Black" panose="020B0004020202020204" pitchFamily="34" charset="0"/>
              </a:rPr>
              <a:t>All types</a:t>
            </a:r>
            <a:endParaRPr lang="en-CA" sz="6400" dirty="0">
              <a:latin typeface="Aptos Black" panose="020B0004020202020204" pitchFamily="34" charset="0"/>
            </a:endParaRPr>
          </a:p>
        </p:txBody>
      </p:sp>
      <p:sp>
        <p:nvSpPr>
          <p:cNvPr id="8" name="object 2">
            <a:extLst>
              <a:ext uri="{FF2B5EF4-FFF2-40B4-BE49-F238E27FC236}">
                <a16:creationId xmlns:a16="http://schemas.microsoft.com/office/drawing/2014/main" id="{77178DA5-D037-9A64-2017-38694BF1DDE0}"/>
              </a:ext>
            </a:extLst>
          </p:cNvPr>
          <p:cNvSpPr txBox="1">
            <a:spLocks/>
          </p:cNvSpPr>
          <p:nvPr/>
        </p:nvSpPr>
        <p:spPr>
          <a:xfrm>
            <a:off x="778669" y="808145"/>
            <a:ext cx="14173200" cy="1501265"/>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pc="-222" dirty="0">
                <a:solidFill>
                  <a:srgbClr val="50B4C7"/>
                </a:solidFill>
                <a:latin typeface="Aptos Black" panose="020B0004020202020204" pitchFamily="34" charset="0"/>
              </a:rPr>
              <a:t>Importing</a:t>
            </a:r>
            <a:r>
              <a:rPr lang="en-CA" spc="-240" dirty="0">
                <a:solidFill>
                  <a:srgbClr val="50B4C7"/>
                </a:solidFill>
                <a:latin typeface="Aptos Black" panose="020B0004020202020204" pitchFamily="34" charset="0"/>
              </a:rPr>
              <a:t> </a:t>
            </a:r>
            <a:r>
              <a:rPr lang="en-CA" spc="-231" dirty="0">
                <a:solidFill>
                  <a:srgbClr val="50B4C7"/>
                </a:solidFill>
                <a:latin typeface="Aptos Black" panose="020B0004020202020204" pitchFamily="34" charset="0"/>
              </a:rPr>
              <a:t>data – all types</a:t>
            </a:r>
          </a:p>
        </p:txBody>
      </p:sp>
      <p:grpSp>
        <p:nvGrpSpPr>
          <p:cNvPr id="14" name="Group 13">
            <a:extLst>
              <a:ext uri="{FF2B5EF4-FFF2-40B4-BE49-F238E27FC236}">
                <a16:creationId xmlns:a16="http://schemas.microsoft.com/office/drawing/2014/main" id="{551F7A74-680D-E99A-AD67-8B7341459734}"/>
              </a:ext>
            </a:extLst>
          </p:cNvPr>
          <p:cNvGrpSpPr/>
          <p:nvPr/>
        </p:nvGrpSpPr>
        <p:grpSpPr>
          <a:xfrm>
            <a:off x="1325441" y="4605988"/>
            <a:ext cx="15651798" cy="5003288"/>
            <a:chOff x="1325441" y="4605988"/>
            <a:chExt cx="15651798" cy="5003288"/>
          </a:xfrm>
        </p:grpSpPr>
        <p:pic>
          <p:nvPicPr>
            <p:cNvPr id="11" name="Picture 10">
              <a:extLst>
                <a:ext uri="{FF2B5EF4-FFF2-40B4-BE49-F238E27FC236}">
                  <a16:creationId xmlns:a16="http://schemas.microsoft.com/office/drawing/2014/main" id="{A79BEEFA-40CE-D4D8-3CE1-C1B889156D39}"/>
                </a:ext>
              </a:extLst>
            </p:cNvPr>
            <p:cNvPicPr>
              <a:picLocks noChangeAspect="1"/>
            </p:cNvPicPr>
            <p:nvPr/>
          </p:nvPicPr>
          <p:blipFill>
            <a:blip r:embed="rId2"/>
            <a:stretch>
              <a:fillRect/>
            </a:stretch>
          </p:blipFill>
          <p:spPr>
            <a:xfrm>
              <a:off x="1325441" y="4605988"/>
              <a:ext cx="15651798" cy="5003288"/>
            </a:xfrm>
            <a:prstGeom prst="rect">
              <a:avLst/>
            </a:prstGeom>
          </p:spPr>
        </p:pic>
        <p:pic>
          <p:nvPicPr>
            <p:cNvPr id="13" name="Picture 12">
              <a:extLst>
                <a:ext uri="{FF2B5EF4-FFF2-40B4-BE49-F238E27FC236}">
                  <a16:creationId xmlns:a16="http://schemas.microsoft.com/office/drawing/2014/main" id="{FA480746-090C-FFCC-B630-4CEBA43E347D}"/>
                </a:ext>
              </a:extLst>
            </p:cNvPr>
            <p:cNvPicPr>
              <a:picLocks noChangeAspect="1"/>
            </p:cNvPicPr>
            <p:nvPr/>
          </p:nvPicPr>
          <p:blipFill>
            <a:blip r:embed="rId3"/>
            <a:stretch>
              <a:fillRect/>
            </a:stretch>
          </p:blipFill>
          <p:spPr>
            <a:xfrm>
              <a:off x="3826669" y="6245516"/>
              <a:ext cx="745127" cy="380844"/>
            </a:xfrm>
            <a:prstGeom prst="rect">
              <a:avLst/>
            </a:prstGeom>
          </p:spPr>
        </p:pic>
      </p:grpSp>
    </p:spTree>
    <p:extLst>
      <p:ext uri="{BB962C8B-B14F-4D97-AF65-F5344CB8AC3E}">
        <p14:creationId xmlns:p14="http://schemas.microsoft.com/office/powerpoint/2010/main" val="13043774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0C067-10D6-D588-FFD0-68B4A1298C1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CDB1B0C-A1D0-73C0-2C2B-81CA7DCA96D9}"/>
              </a:ext>
            </a:extLst>
          </p:cNvPr>
          <p:cNvSpPr txBox="1">
            <a:spLocks noGrp="1"/>
          </p:cNvSpPr>
          <p:nvPr>
            <p:ph type="title"/>
          </p:nvPr>
        </p:nvSpPr>
        <p:spPr>
          <a:xfrm>
            <a:off x="778669" y="838200"/>
            <a:ext cx="8417318" cy="1501265"/>
          </a:xfrm>
          <a:prstGeom prst="rect">
            <a:avLst/>
          </a:prstGeom>
        </p:spPr>
        <p:txBody>
          <a:bodyPr vert="horz" wrap="square" lIns="0" tIns="23706" rIns="0" bIns="0" rtlCol="0">
            <a:spAutoFit/>
          </a:bodyPr>
          <a:lstStyle/>
          <a:p>
            <a:pPr marL="22577">
              <a:spcBef>
                <a:spcPts val="187"/>
              </a:spcBef>
            </a:pPr>
            <a:r>
              <a:rPr lang="en-CA" spc="-222" dirty="0">
                <a:solidFill>
                  <a:srgbClr val="50B4C7"/>
                </a:solidFill>
                <a:latin typeface="Aptos Black" panose="020B0004020202020204" pitchFamily="34" charset="0"/>
              </a:rPr>
              <a:t>Exporting</a:t>
            </a:r>
            <a:r>
              <a:rPr spc="-240" dirty="0">
                <a:solidFill>
                  <a:srgbClr val="50B4C7"/>
                </a:solidFill>
                <a:latin typeface="Aptos Black" panose="020B0004020202020204" pitchFamily="34" charset="0"/>
              </a:rPr>
              <a:t> </a:t>
            </a:r>
            <a:r>
              <a:rPr spc="-231" dirty="0">
                <a:solidFill>
                  <a:srgbClr val="50B4C7"/>
                </a:solidFill>
                <a:latin typeface="Aptos Black" panose="020B0004020202020204" pitchFamily="34" charset="0"/>
              </a:rPr>
              <a:t>data</a:t>
            </a:r>
          </a:p>
        </p:txBody>
      </p:sp>
      <p:grpSp>
        <p:nvGrpSpPr>
          <p:cNvPr id="3" name="object 5">
            <a:extLst>
              <a:ext uri="{FF2B5EF4-FFF2-40B4-BE49-F238E27FC236}">
                <a16:creationId xmlns:a16="http://schemas.microsoft.com/office/drawing/2014/main" id="{61C7FB39-0875-9EA5-FD3F-94340A0C0932}"/>
              </a:ext>
            </a:extLst>
          </p:cNvPr>
          <p:cNvGrpSpPr/>
          <p:nvPr/>
        </p:nvGrpSpPr>
        <p:grpSpPr>
          <a:xfrm>
            <a:off x="17443445" y="427576"/>
            <a:ext cx="4823624" cy="1309479"/>
            <a:chOff x="9485376" y="303275"/>
            <a:chExt cx="2713355" cy="736600"/>
          </a:xfrm>
          <a:solidFill>
            <a:srgbClr val="EB9B0B"/>
          </a:solidFill>
        </p:grpSpPr>
        <p:sp>
          <p:nvSpPr>
            <p:cNvPr id="4" name="object 6">
              <a:extLst>
                <a:ext uri="{FF2B5EF4-FFF2-40B4-BE49-F238E27FC236}">
                  <a16:creationId xmlns:a16="http://schemas.microsoft.com/office/drawing/2014/main" id="{1715A8A3-D044-C6B2-64EF-AF32374F7DE3}"/>
                </a:ext>
              </a:extLst>
            </p:cNvPr>
            <p:cNvSpPr/>
            <p:nvPr/>
          </p:nvSpPr>
          <p:spPr>
            <a:xfrm>
              <a:off x="9491726" y="309625"/>
              <a:ext cx="2700655" cy="723900"/>
            </a:xfrm>
            <a:custGeom>
              <a:avLst/>
              <a:gdLst/>
              <a:ahLst/>
              <a:cxnLst/>
              <a:rect l="l" t="t" r="r" b="b"/>
              <a:pathLst>
                <a:path w="2700654" h="723900">
                  <a:moveTo>
                    <a:pt x="0" y="723900"/>
                  </a:moveTo>
                  <a:lnTo>
                    <a:pt x="2700274" y="723900"/>
                  </a:lnTo>
                  <a:lnTo>
                    <a:pt x="2700274" y="0"/>
                  </a:lnTo>
                  <a:lnTo>
                    <a:pt x="0" y="0"/>
                  </a:lnTo>
                  <a:lnTo>
                    <a:pt x="0" y="723900"/>
                  </a:lnTo>
                  <a:close/>
                </a:path>
              </a:pathLst>
            </a:custGeom>
            <a:grpFill/>
            <a:ln>
              <a:noFill/>
            </a:ln>
          </p:spPr>
          <p:txBody>
            <a:bodyPr wrap="square" lIns="0" tIns="0" rIns="0" bIns="0" rtlCol="0"/>
            <a:lstStyle/>
            <a:p>
              <a:endParaRPr/>
            </a:p>
          </p:txBody>
        </p:sp>
        <p:sp>
          <p:nvSpPr>
            <p:cNvPr id="5" name="object 7">
              <a:extLst>
                <a:ext uri="{FF2B5EF4-FFF2-40B4-BE49-F238E27FC236}">
                  <a16:creationId xmlns:a16="http://schemas.microsoft.com/office/drawing/2014/main" id="{05B3CFAD-6BF1-0575-1DCF-C506397978E7}"/>
                </a:ext>
              </a:extLst>
            </p:cNvPr>
            <p:cNvSpPr/>
            <p:nvPr/>
          </p:nvSpPr>
          <p:spPr>
            <a:xfrm>
              <a:off x="9491726" y="1027175"/>
              <a:ext cx="2700655" cy="12700"/>
            </a:xfrm>
            <a:custGeom>
              <a:avLst/>
              <a:gdLst/>
              <a:ahLst/>
              <a:cxnLst/>
              <a:rect l="l" t="t" r="r" b="b"/>
              <a:pathLst>
                <a:path w="2700654" h="12700">
                  <a:moveTo>
                    <a:pt x="0" y="12700"/>
                  </a:moveTo>
                  <a:lnTo>
                    <a:pt x="2700274" y="12700"/>
                  </a:lnTo>
                  <a:lnTo>
                    <a:pt x="2700274" y="0"/>
                  </a:lnTo>
                  <a:lnTo>
                    <a:pt x="0" y="0"/>
                  </a:lnTo>
                  <a:lnTo>
                    <a:pt x="0" y="12700"/>
                  </a:lnTo>
                  <a:close/>
                </a:path>
              </a:pathLst>
            </a:custGeom>
            <a:grpFill/>
            <a:ln>
              <a:noFill/>
            </a:ln>
          </p:spPr>
          <p:txBody>
            <a:bodyPr wrap="square" lIns="0" tIns="0" rIns="0" bIns="0" rtlCol="0"/>
            <a:lstStyle/>
            <a:p>
              <a:endParaRPr/>
            </a:p>
          </p:txBody>
        </p:sp>
        <p:sp>
          <p:nvSpPr>
            <p:cNvPr id="6" name="object 8">
              <a:extLst>
                <a:ext uri="{FF2B5EF4-FFF2-40B4-BE49-F238E27FC236}">
                  <a16:creationId xmlns:a16="http://schemas.microsoft.com/office/drawing/2014/main" id="{E76AB3B0-DA2B-1DCE-C249-A7CB75BAF5FD}"/>
                </a:ext>
              </a:extLst>
            </p:cNvPr>
            <p:cNvSpPr/>
            <p:nvPr/>
          </p:nvSpPr>
          <p:spPr>
            <a:xfrm>
              <a:off x="9491726" y="309625"/>
              <a:ext cx="2700655" cy="723900"/>
            </a:xfrm>
            <a:custGeom>
              <a:avLst/>
              <a:gdLst/>
              <a:ahLst/>
              <a:cxnLst/>
              <a:rect l="l" t="t" r="r" b="b"/>
              <a:pathLst>
                <a:path w="2700654" h="723900">
                  <a:moveTo>
                    <a:pt x="2700274" y="0"/>
                  </a:moveTo>
                  <a:lnTo>
                    <a:pt x="0" y="0"/>
                  </a:lnTo>
                  <a:lnTo>
                    <a:pt x="0" y="723900"/>
                  </a:lnTo>
                </a:path>
              </a:pathLst>
            </a:custGeom>
            <a:grpFill/>
            <a:ln w="12700">
              <a:noFill/>
            </a:ln>
          </p:spPr>
          <p:txBody>
            <a:bodyPr wrap="square" lIns="0" tIns="0" rIns="0" bIns="0" rtlCol="0"/>
            <a:lstStyle/>
            <a:p>
              <a:endParaRPr/>
            </a:p>
          </p:txBody>
        </p:sp>
      </p:grpSp>
      <p:sp>
        <p:nvSpPr>
          <p:cNvPr id="7" name="object 9">
            <a:extLst>
              <a:ext uri="{FF2B5EF4-FFF2-40B4-BE49-F238E27FC236}">
                <a16:creationId xmlns:a16="http://schemas.microsoft.com/office/drawing/2014/main" id="{98DE72DF-2C9E-1330-DC3F-12181BE99F1B}"/>
              </a:ext>
            </a:extLst>
          </p:cNvPr>
          <p:cNvSpPr txBox="1">
            <a:spLocks/>
          </p:cNvSpPr>
          <p:nvPr/>
        </p:nvSpPr>
        <p:spPr>
          <a:xfrm>
            <a:off x="16827548" y="508100"/>
            <a:ext cx="4665551" cy="1008823"/>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1136741">
              <a:spcBef>
                <a:spcPts val="187"/>
              </a:spcBef>
            </a:pPr>
            <a:r>
              <a:rPr lang="en-CA" sz="6400" spc="-18" dirty="0">
                <a:solidFill>
                  <a:srgbClr val="FFFFFF"/>
                </a:solidFill>
                <a:latin typeface="Aptos Black" panose="020B0004020202020204" pitchFamily="34" charset="0"/>
              </a:rPr>
              <a:t>All types</a:t>
            </a:r>
            <a:endParaRPr lang="en-CA" sz="6400" dirty="0">
              <a:latin typeface="Aptos Black" panose="020B0004020202020204" pitchFamily="34" charset="0"/>
            </a:endParaRPr>
          </a:p>
        </p:txBody>
      </p:sp>
      <p:pic>
        <p:nvPicPr>
          <p:cNvPr id="9" name="Picture 8">
            <a:extLst>
              <a:ext uri="{FF2B5EF4-FFF2-40B4-BE49-F238E27FC236}">
                <a16:creationId xmlns:a16="http://schemas.microsoft.com/office/drawing/2014/main" id="{B5EA171D-9A7E-E7D4-F24B-CA206BFCF106}"/>
              </a:ext>
            </a:extLst>
          </p:cNvPr>
          <p:cNvPicPr>
            <a:picLocks noChangeAspect="1"/>
          </p:cNvPicPr>
          <p:nvPr/>
        </p:nvPicPr>
        <p:blipFill>
          <a:blip r:embed="rId2"/>
          <a:stretch>
            <a:fillRect/>
          </a:stretch>
        </p:blipFill>
        <p:spPr>
          <a:xfrm>
            <a:off x="809715" y="2970945"/>
            <a:ext cx="19839524" cy="6324600"/>
          </a:xfrm>
          <a:prstGeom prst="rect">
            <a:avLst/>
          </a:prstGeom>
        </p:spPr>
      </p:pic>
      <p:sp>
        <p:nvSpPr>
          <p:cNvPr id="10" name="object 9">
            <a:extLst>
              <a:ext uri="{FF2B5EF4-FFF2-40B4-BE49-F238E27FC236}">
                <a16:creationId xmlns:a16="http://schemas.microsoft.com/office/drawing/2014/main" id="{33C4F20D-8B46-011C-8A14-F4A048BD8F60}"/>
              </a:ext>
            </a:extLst>
          </p:cNvPr>
          <p:cNvSpPr txBox="1"/>
          <p:nvPr/>
        </p:nvSpPr>
        <p:spPr>
          <a:xfrm>
            <a:off x="319289" y="9165991"/>
            <a:ext cx="21287782" cy="1929659"/>
          </a:xfrm>
          <a:prstGeom prst="rect">
            <a:avLst/>
          </a:prstGeom>
        </p:spPr>
        <p:txBody>
          <a:bodyPr vert="horz" wrap="square" lIns="0" tIns="28222" rIns="0" bIns="0" rtlCol="0">
            <a:spAutoFit/>
          </a:bodyPr>
          <a:lstStyle/>
          <a:p>
            <a:pPr marL="4271529">
              <a:spcBef>
                <a:spcPts val="222"/>
              </a:spcBef>
            </a:pPr>
            <a:endParaRPr sz="3555" dirty="0">
              <a:latin typeface="Calibri Light"/>
              <a:cs typeface="Calibri Light"/>
            </a:endParaRPr>
          </a:p>
          <a:p>
            <a:pPr>
              <a:spcBef>
                <a:spcPts val="9"/>
              </a:spcBef>
            </a:pPr>
            <a:endParaRPr sz="5244" dirty="0">
              <a:latin typeface="Calibri Light"/>
              <a:cs typeface="Calibri Light"/>
            </a:endParaRPr>
          </a:p>
          <a:p>
            <a:pPr marL="22577"/>
            <a:r>
              <a:rPr lang="en-CA" sz="3555" dirty="0">
                <a:solidFill>
                  <a:srgbClr val="252525"/>
                </a:solidFill>
                <a:latin typeface="Calibri Light"/>
                <a:cs typeface="Calibri Light"/>
              </a:rPr>
              <a:t>	</a:t>
            </a:r>
            <a:r>
              <a:rPr sz="3555" dirty="0">
                <a:solidFill>
                  <a:srgbClr val="252525"/>
                </a:solidFill>
                <a:latin typeface="Calibri Light"/>
                <a:cs typeface="Calibri Light"/>
              </a:rPr>
              <a:t>If</a:t>
            </a:r>
            <a:r>
              <a:rPr sz="3555" spc="-151" dirty="0">
                <a:solidFill>
                  <a:srgbClr val="252525"/>
                </a:solidFill>
                <a:latin typeface="Calibri Light"/>
                <a:cs typeface="Calibri Light"/>
              </a:rPr>
              <a:t> </a:t>
            </a:r>
            <a:r>
              <a:rPr sz="3555" dirty="0">
                <a:solidFill>
                  <a:srgbClr val="252525"/>
                </a:solidFill>
                <a:latin typeface="Calibri Light"/>
                <a:cs typeface="Calibri Light"/>
              </a:rPr>
              <a:t>using</a:t>
            </a:r>
            <a:r>
              <a:rPr sz="3555" spc="36" dirty="0">
                <a:solidFill>
                  <a:srgbClr val="252525"/>
                </a:solidFill>
                <a:latin typeface="Calibri Light"/>
                <a:cs typeface="Calibri Light"/>
              </a:rPr>
              <a:t> </a:t>
            </a:r>
            <a:r>
              <a:rPr sz="3555" dirty="0">
                <a:solidFill>
                  <a:srgbClr val="252525"/>
                </a:solidFill>
                <a:latin typeface="Calibri Light"/>
                <a:cs typeface="Calibri Light"/>
              </a:rPr>
              <a:t>file</a:t>
            </a:r>
            <a:r>
              <a:rPr sz="3555" spc="-36" dirty="0">
                <a:solidFill>
                  <a:srgbClr val="252525"/>
                </a:solidFill>
                <a:latin typeface="Calibri Light"/>
                <a:cs typeface="Calibri Light"/>
              </a:rPr>
              <a:t> </a:t>
            </a:r>
            <a:r>
              <a:rPr sz="3555" dirty="0">
                <a:solidFill>
                  <a:srgbClr val="252525"/>
                </a:solidFill>
                <a:latin typeface="Calibri Light"/>
                <a:cs typeface="Calibri Light"/>
              </a:rPr>
              <a:t>path,</a:t>
            </a:r>
            <a:r>
              <a:rPr sz="3555" spc="-231" dirty="0">
                <a:solidFill>
                  <a:srgbClr val="252525"/>
                </a:solidFill>
                <a:latin typeface="Calibri Light"/>
                <a:cs typeface="Calibri Light"/>
              </a:rPr>
              <a:t> </a:t>
            </a:r>
            <a:r>
              <a:rPr sz="3555" dirty="0">
                <a:solidFill>
                  <a:srgbClr val="252525"/>
                </a:solidFill>
                <a:latin typeface="Calibri Light"/>
                <a:cs typeface="Calibri Light"/>
              </a:rPr>
              <a:t>slashes</a:t>
            </a:r>
            <a:r>
              <a:rPr sz="3555" spc="-62" dirty="0">
                <a:solidFill>
                  <a:srgbClr val="252525"/>
                </a:solidFill>
                <a:latin typeface="Calibri Light"/>
                <a:cs typeface="Calibri Light"/>
              </a:rPr>
              <a:t> </a:t>
            </a:r>
            <a:r>
              <a:rPr sz="3555" dirty="0">
                <a:solidFill>
                  <a:srgbClr val="252525"/>
                </a:solidFill>
                <a:latin typeface="Calibri Light"/>
                <a:cs typeface="Calibri Light"/>
              </a:rPr>
              <a:t>need to</a:t>
            </a:r>
            <a:r>
              <a:rPr sz="3555" spc="-18" dirty="0">
                <a:solidFill>
                  <a:srgbClr val="252525"/>
                </a:solidFill>
                <a:latin typeface="Calibri Light"/>
                <a:cs typeface="Calibri Light"/>
              </a:rPr>
              <a:t> </a:t>
            </a:r>
            <a:r>
              <a:rPr sz="3555" dirty="0">
                <a:solidFill>
                  <a:srgbClr val="252525"/>
                </a:solidFill>
                <a:latin typeface="Calibri Light"/>
                <a:cs typeface="Calibri Light"/>
              </a:rPr>
              <a:t>be</a:t>
            </a:r>
            <a:r>
              <a:rPr sz="3555" spc="-53" dirty="0">
                <a:solidFill>
                  <a:srgbClr val="252525"/>
                </a:solidFill>
                <a:latin typeface="Calibri Light"/>
                <a:cs typeface="Calibri Light"/>
              </a:rPr>
              <a:t> </a:t>
            </a:r>
            <a:r>
              <a:rPr sz="3555" spc="-18" dirty="0">
                <a:solidFill>
                  <a:srgbClr val="252525"/>
                </a:solidFill>
                <a:latin typeface="Calibri Light"/>
                <a:cs typeface="Calibri Light"/>
              </a:rPr>
              <a:t>reversed</a:t>
            </a:r>
            <a:r>
              <a:rPr sz="3555" dirty="0">
                <a:solidFill>
                  <a:srgbClr val="252525"/>
                </a:solidFill>
                <a:latin typeface="Calibri Light"/>
                <a:cs typeface="Calibri Light"/>
              </a:rPr>
              <a:t> "/"</a:t>
            </a:r>
            <a:r>
              <a:rPr sz="3555" spc="-36" dirty="0">
                <a:solidFill>
                  <a:srgbClr val="252525"/>
                </a:solidFill>
                <a:latin typeface="Calibri Light"/>
                <a:cs typeface="Calibri Light"/>
              </a:rPr>
              <a:t> </a:t>
            </a:r>
            <a:r>
              <a:rPr sz="3555" dirty="0">
                <a:solidFill>
                  <a:srgbClr val="252525"/>
                </a:solidFill>
                <a:latin typeface="Calibri Light"/>
                <a:cs typeface="Calibri Light"/>
              </a:rPr>
              <a:t>instead</a:t>
            </a:r>
            <a:r>
              <a:rPr sz="3555" spc="-142" dirty="0">
                <a:solidFill>
                  <a:srgbClr val="252525"/>
                </a:solidFill>
                <a:latin typeface="Calibri Light"/>
                <a:cs typeface="Calibri Light"/>
              </a:rPr>
              <a:t> </a:t>
            </a:r>
            <a:r>
              <a:rPr sz="3555" dirty="0">
                <a:solidFill>
                  <a:srgbClr val="252525"/>
                </a:solidFill>
                <a:latin typeface="Calibri Light"/>
                <a:cs typeface="Calibri Light"/>
              </a:rPr>
              <a:t>of</a:t>
            </a:r>
            <a:r>
              <a:rPr sz="3555" spc="-9" dirty="0">
                <a:solidFill>
                  <a:srgbClr val="252525"/>
                </a:solidFill>
                <a:latin typeface="Calibri Light"/>
                <a:cs typeface="Calibri Light"/>
              </a:rPr>
              <a:t> </a:t>
            </a:r>
            <a:r>
              <a:rPr sz="3555" spc="-44" dirty="0">
                <a:solidFill>
                  <a:srgbClr val="252525"/>
                </a:solidFill>
                <a:latin typeface="Calibri Light"/>
                <a:cs typeface="Calibri Light"/>
              </a:rPr>
              <a:t>"\"</a:t>
            </a:r>
            <a:r>
              <a:rPr lang="en-CA" sz="3555" spc="-44" dirty="0">
                <a:solidFill>
                  <a:srgbClr val="252525"/>
                </a:solidFill>
                <a:latin typeface="Calibri Light"/>
                <a:cs typeface="Calibri Light"/>
              </a:rPr>
              <a:t> or doubled “\\”</a:t>
            </a:r>
            <a:endParaRPr sz="3555" dirty="0">
              <a:latin typeface="Calibri Light"/>
              <a:cs typeface="Calibri Light"/>
            </a:endParaRPr>
          </a:p>
        </p:txBody>
      </p:sp>
      <p:sp>
        <p:nvSpPr>
          <p:cNvPr id="11" name="object 5">
            <a:extLst>
              <a:ext uri="{FF2B5EF4-FFF2-40B4-BE49-F238E27FC236}">
                <a16:creationId xmlns:a16="http://schemas.microsoft.com/office/drawing/2014/main" id="{FA6B06DF-6DFB-D3C0-F85F-90C2068CD0EE}"/>
              </a:ext>
            </a:extLst>
          </p:cNvPr>
          <p:cNvSpPr txBox="1"/>
          <p:nvPr/>
        </p:nvSpPr>
        <p:spPr>
          <a:xfrm>
            <a:off x="1197759" y="9817599"/>
            <a:ext cx="10975181" cy="685000"/>
          </a:xfrm>
          <a:prstGeom prst="rect">
            <a:avLst/>
          </a:prstGeom>
        </p:spPr>
        <p:txBody>
          <a:bodyPr vert="horz" wrap="square" lIns="0" tIns="116273" rIns="0" bIns="0" rtlCol="0">
            <a:spAutoFit/>
          </a:bodyPr>
          <a:lstStyle/>
          <a:p>
            <a:pPr marL="22577" marR="9031">
              <a:lnSpc>
                <a:spcPts val="4409"/>
              </a:lnSpc>
              <a:spcBef>
                <a:spcPts val="916"/>
              </a:spcBef>
            </a:pPr>
            <a:r>
              <a:rPr lang="en-CA" sz="4266" b="1" dirty="0">
                <a:solidFill>
                  <a:srgbClr val="EB9B0B"/>
                </a:solidFill>
                <a:latin typeface="Calibri Light"/>
                <a:cs typeface="Calibri Light"/>
              </a:rPr>
              <a:t>If referring to file outside of working directory</a:t>
            </a:r>
            <a:endParaRPr sz="4266" b="1" dirty="0">
              <a:solidFill>
                <a:srgbClr val="EB9B0B"/>
              </a:solidFill>
              <a:latin typeface="Calibri Light"/>
              <a:cs typeface="Calibri Light"/>
            </a:endParaRPr>
          </a:p>
        </p:txBody>
      </p:sp>
    </p:spTree>
    <p:extLst>
      <p:ext uri="{BB962C8B-B14F-4D97-AF65-F5344CB8AC3E}">
        <p14:creationId xmlns:p14="http://schemas.microsoft.com/office/powerpoint/2010/main" val="796569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759724" y="2966787"/>
            <a:ext cx="10819007" cy="2031324"/>
          </a:xfrm>
          <a:prstGeom prst="rect">
            <a:avLst/>
          </a:prstGeom>
        </p:spPr>
        <p:txBody>
          <a:bodyPr vert="horz" wrap="square" lIns="0" tIns="30479" rIns="0" bIns="0" rtlCol="0">
            <a:spAutoFit/>
          </a:bodyPr>
          <a:lstStyle/>
          <a:p>
            <a:pPr marL="22577">
              <a:spcBef>
                <a:spcPts val="240"/>
              </a:spcBef>
            </a:pPr>
            <a:r>
              <a:rPr sz="13000" dirty="0">
                <a:latin typeface="Aptos Black" panose="020B0004020202020204" pitchFamily="34" charset="0"/>
              </a:rPr>
              <a:t>The</a:t>
            </a:r>
            <a:r>
              <a:rPr sz="13000" spc="-772" dirty="0">
                <a:latin typeface="Aptos Black" panose="020B0004020202020204" pitchFamily="34" charset="0"/>
              </a:rPr>
              <a:t> </a:t>
            </a:r>
            <a:r>
              <a:rPr sz="13000" spc="-240" dirty="0">
                <a:latin typeface="Aptos Black" panose="020B0004020202020204" pitchFamily="34" charset="0"/>
              </a:rPr>
              <a:t>tidyverse:</a:t>
            </a:r>
            <a:endParaRPr sz="13000" dirty="0">
              <a:latin typeface="Aptos Black" panose="020B0004020202020204" pitchFamily="34" charset="0"/>
            </a:endParaRPr>
          </a:p>
        </p:txBody>
      </p:sp>
      <p:grpSp>
        <p:nvGrpSpPr>
          <p:cNvPr id="4" name="object 4"/>
          <p:cNvGrpSpPr/>
          <p:nvPr/>
        </p:nvGrpSpPr>
        <p:grpSpPr>
          <a:xfrm>
            <a:off x="9821094" y="973898"/>
            <a:ext cx="11853044" cy="9465502"/>
            <a:chOff x="5524500" y="971550"/>
            <a:chExt cx="6667500" cy="5324475"/>
          </a:xfrm>
        </p:grpSpPr>
        <p:pic>
          <p:nvPicPr>
            <p:cNvPr id="5" name="object 5"/>
            <p:cNvPicPr/>
            <p:nvPr/>
          </p:nvPicPr>
          <p:blipFill>
            <a:blip r:embed="rId2" cstate="print"/>
            <a:stretch>
              <a:fillRect/>
            </a:stretch>
          </p:blipFill>
          <p:spPr>
            <a:xfrm>
              <a:off x="5524500" y="971550"/>
              <a:ext cx="6667500" cy="5324475"/>
            </a:xfrm>
            <a:prstGeom prst="rect">
              <a:avLst/>
            </a:prstGeom>
          </p:spPr>
        </p:pic>
        <p:pic>
          <p:nvPicPr>
            <p:cNvPr id="6" name="object 6"/>
            <p:cNvPicPr/>
            <p:nvPr/>
          </p:nvPicPr>
          <p:blipFill>
            <a:blip r:embed="rId3" cstate="print"/>
            <a:stretch>
              <a:fillRect/>
            </a:stretch>
          </p:blipFill>
          <p:spPr>
            <a:xfrm>
              <a:off x="8467725" y="3390900"/>
              <a:ext cx="2209800" cy="2552700"/>
            </a:xfrm>
            <a:prstGeom prst="rect">
              <a:avLst/>
            </a:prstGeom>
          </p:spPr>
        </p:pic>
        <p:pic>
          <p:nvPicPr>
            <p:cNvPr id="7" name="object 7"/>
            <p:cNvPicPr/>
            <p:nvPr/>
          </p:nvPicPr>
          <p:blipFill>
            <a:blip r:embed="rId4" cstate="print"/>
            <a:stretch>
              <a:fillRect/>
            </a:stretch>
          </p:blipFill>
          <p:spPr>
            <a:xfrm>
              <a:off x="7305675" y="1362075"/>
              <a:ext cx="2143125" cy="2476500"/>
            </a:xfrm>
            <a:prstGeom prst="rect">
              <a:avLst/>
            </a:prstGeom>
          </p:spPr>
        </p:pic>
        <p:pic>
          <p:nvPicPr>
            <p:cNvPr id="8" name="object 8"/>
            <p:cNvPicPr/>
            <p:nvPr/>
          </p:nvPicPr>
          <p:blipFill>
            <a:blip r:embed="rId5" cstate="print"/>
            <a:stretch>
              <a:fillRect/>
            </a:stretch>
          </p:blipFill>
          <p:spPr>
            <a:xfrm>
              <a:off x="9677400" y="1343025"/>
              <a:ext cx="2152650" cy="2495550"/>
            </a:xfrm>
            <a:prstGeom prst="rect">
              <a:avLst/>
            </a:prstGeom>
          </p:spPr>
        </p:pic>
        <p:pic>
          <p:nvPicPr>
            <p:cNvPr id="9" name="object 9"/>
            <p:cNvPicPr/>
            <p:nvPr/>
          </p:nvPicPr>
          <p:blipFill>
            <a:blip r:embed="rId6" cstate="print"/>
            <a:stretch>
              <a:fillRect/>
            </a:stretch>
          </p:blipFill>
          <p:spPr>
            <a:xfrm>
              <a:off x="6048375" y="3390900"/>
              <a:ext cx="2190750" cy="2524125"/>
            </a:xfrm>
            <a:prstGeom prst="rect">
              <a:avLst/>
            </a:prstGeom>
          </p:spPr>
        </p:pic>
      </p:grpSp>
      <p:sp>
        <p:nvSpPr>
          <p:cNvPr id="10" name="object 10"/>
          <p:cNvSpPr txBox="1"/>
          <p:nvPr/>
        </p:nvSpPr>
        <p:spPr>
          <a:xfrm>
            <a:off x="909638" y="6991000"/>
            <a:ext cx="8167312" cy="947837"/>
          </a:xfrm>
          <a:prstGeom prst="rect">
            <a:avLst/>
          </a:prstGeom>
        </p:spPr>
        <p:txBody>
          <a:bodyPr vert="horz" wrap="square" lIns="0" tIns="29350" rIns="0" bIns="0" rtlCol="0">
            <a:spAutoFit/>
          </a:bodyPr>
          <a:lstStyle/>
          <a:p>
            <a:pPr marL="22577">
              <a:spcBef>
                <a:spcPts val="4124"/>
              </a:spcBef>
            </a:pPr>
            <a:r>
              <a:rPr sz="2400" u="sng" spc="-18" dirty="0">
                <a:solidFill>
                  <a:srgbClr val="00BCC8"/>
                </a:solidFill>
                <a:uFill>
                  <a:solidFill>
                    <a:srgbClr val="226FCD"/>
                  </a:solidFill>
                </a:uFill>
                <a:latin typeface="Calibri Light"/>
                <a:cs typeface="Calibri Light"/>
                <a:hlinkClick r:id="rId7">
                  <a:extLst>
                    <a:ext uri="{A12FA001-AC4F-418D-AE19-62706E023703}">
                      <ahyp:hlinkClr xmlns:ahyp="http://schemas.microsoft.com/office/drawing/2018/hyperlinkcolor" val="tx"/>
                    </a:ext>
                  </a:extLst>
                </a:hlinkClick>
              </a:rPr>
              <a:t>https://www.tidyverse.org/packages/</a:t>
            </a:r>
            <a:endParaRPr sz="2400" u="sng" dirty="0">
              <a:solidFill>
                <a:srgbClr val="00BCC8"/>
              </a:solidFill>
              <a:latin typeface="Calibri Light"/>
              <a:cs typeface="Calibri Light"/>
            </a:endParaRPr>
          </a:p>
          <a:p>
            <a:pPr marL="22577">
              <a:spcBef>
                <a:spcPts val="1404"/>
              </a:spcBef>
            </a:pPr>
            <a:r>
              <a:rPr lang="en-CA" sz="2400" u="sng" dirty="0">
                <a:solidFill>
                  <a:srgbClr val="00BCC8"/>
                </a:solidFill>
                <a:uFill>
                  <a:solidFill>
                    <a:srgbClr val="226FCD"/>
                  </a:solidFill>
                </a:uFill>
                <a:latin typeface="Calibri Light"/>
                <a:cs typeface="Calibri Light"/>
              </a:rPr>
              <a:t>https://datacarpentry.github.io/r-socialsci/index.html</a:t>
            </a:r>
            <a:endParaRPr sz="2400" u="sng" dirty="0">
              <a:solidFill>
                <a:srgbClr val="00BCC8"/>
              </a:solidFill>
              <a:latin typeface="Calibri Light"/>
              <a:cs typeface="Calibri Light"/>
            </a:endParaRPr>
          </a:p>
        </p:txBody>
      </p:sp>
      <p:pic>
        <p:nvPicPr>
          <p:cNvPr id="12" name="Picture 11">
            <a:extLst>
              <a:ext uri="{FF2B5EF4-FFF2-40B4-BE49-F238E27FC236}">
                <a16:creationId xmlns:a16="http://schemas.microsoft.com/office/drawing/2014/main" id="{B8E553FF-50E7-291D-265E-B00B0C12A761}"/>
              </a:ext>
            </a:extLst>
          </p:cNvPr>
          <p:cNvPicPr>
            <a:picLocks noChangeAspect="1"/>
          </p:cNvPicPr>
          <p:nvPr/>
        </p:nvPicPr>
        <p:blipFill>
          <a:blip r:embed="rId8"/>
          <a:srcRect t="15020" b="14855"/>
          <a:stretch/>
        </p:blipFill>
        <p:spPr>
          <a:xfrm>
            <a:off x="909638" y="5125218"/>
            <a:ext cx="7412831" cy="776953"/>
          </a:xfrm>
          <a:prstGeom prst="roundRect">
            <a:avLst>
              <a:gd name="adj" fmla="val 50000"/>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F9716-C07F-E7CD-B5B3-78EB9748FA5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92CE02A-8DAC-21E5-0A2C-7406D4B348A5}"/>
              </a:ext>
            </a:extLst>
          </p:cNvPr>
          <p:cNvSpPr txBox="1">
            <a:spLocks noGrp="1"/>
          </p:cNvSpPr>
          <p:nvPr>
            <p:ph type="title"/>
          </p:nvPr>
        </p:nvSpPr>
        <p:spPr>
          <a:xfrm>
            <a:off x="1286066" y="228600"/>
            <a:ext cx="33875049" cy="2678765"/>
          </a:xfrm>
          <a:prstGeom prst="rect">
            <a:avLst/>
          </a:prstGeom>
        </p:spPr>
        <p:txBody>
          <a:bodyPr vert="horz" wrap="square" lIns="0" tIns="1189854" rIns="0" bIns="0" rtlCol="0">
            <a:spAutoFit/>
          </a:bodyPr>
          <a:lstStyle/>
          <a:p>
            <a:pPr marL="22577">
              <a:spcBef>
                <a:spcPts val="187"/>
              </a:spcBef>
            </a:pPr>
            <a:r>
              <a:rPr spc="-267" dirty="0">
                <a:solidFill>
                  <a:srgbClr val="00BCC8"/>
                </a:solidFill>
                <a:latin typeface="Aptos Black" panose="020B0004020202020204" pitchFamily="34" charset="0"/>
              </a:rPr>
              <a:t>OVERVIEW</a:t>
            </a:r>
          </a:p>
        </p:txBody>
      </p:sp>
      <p:sp>
        <p:nvSpPr>
          <p:cNvPr id="3" name="object 3">
            <a:extLst>
              <a:ext uri="{FF2B5EF4-FFF2-40B4-BE49-F238E27FC236}">
                <a16:creationId xmlns:a16="http://schemas.microsoft.com/office/drawing/2014/main" id="{F9E79BFF-85D6-653B-F5E3-0063395754A1}"/>
              </a:ext>
            </a:extLst>
          </p:cNvPr>
          <p:cNvSpPr txBox="1"/>
          <p:nvPr/>
        </p:nvSpPr>
        <p:spPr>
          <a:xfrm>
            <a:off x="1312069" y="3433976"/>
            <a:ext cx="18973800" cy="5355069"/>
          </a:xfrm>
          <a:prstGeom prst="rect">
            <a:avLst/>
          </a:prstGeom>
        </p:spPr>
        <p:txBody>
          <a:bodyPr vert="horz" wrap="square" lIns="0" tIns="29350" rIns="0" bIns="0" rtlCol="0">
            <a:spAutoFit/>
          </a:bodyPr>
          <a:lstStyle/>
          <a:p>
            <a:pPr marL="632150" indent="-610702">
              <a:lnSpc>
                <a:spcPts val="6817"/>
              </a:lnSpc>
              <a:spcBef>
                <a:spcPts val="231"/>
              </a:spcBef>
              <a:buFont typeface="Wingdings"/>
              <a:buChar char=""/>
              <a:tabLst>
                <a:tab pos="633279" algn="l"/>
              </a:tabLst>
            </a:pPr>
            <a:r>
              <a:rPr sz="5689" dirty="0">
                <a:latin typeface="Calibri Light"/>
                <a:cs typeface="Calibri Light"/>
              </a:rPr>
              <a:t>R</a:t>
            </a:r>
            <a:r>
              <a:rPr sz="5689" spc="-80" dirty="0">
                <a:latin typeface="Calibri Light"/>
                <a:cs typeface="Calibri Light"/>
              </a:rPr>
              <a:t> </a:t>
            </a:r>
            <a:r>
              <a:rPr sz="5689" spc="-18" dirty="0">
                <a:latin typeface="Calibri Light"/>
                <a:cs typeface="Calibri Light"/>
              </a:rPr>
              <a:t>basics</a:t>
            </a:r>
            <a:endParaRPr lang="en-CA" sz="5689" spc="-18" dirty="0">
              <a:latin typeface="Calibri Light"/>
              <a:cs typeface="Calibri Light"/>
            </a:endParaRPr>
          </a:p>
          <a:p>
            <a:pPr marL="632150" indent="-610702">
              <a:lnSpc>
                <a:spcPts val="6817"/>
              </a:lnSpc>
              <a:buFont typeface="Wingdings"/>
              <a:buChar char=""/>
              <a:tabLst>
                <a:tab pos="633279" algn="l"/>
              </a:tabLst>
            </a:pPr>
            <a:r>
              <a:rPr sz="5689" dirty="0">
                <a:latin typeface="Calibri Light"/>
                <a:cs typeface="Calibri Light"/>
              </a:rPr>
              <a:t>Data</a:t>
            </a:r>
            <a:r>
              <a:rPr sz="5689" spc="-249" dirty="0">
                <a:latin typeface="Calibri Light"/>
                <a:cs typeface="Calibri Light"/>
              </a:rPr>
              <a:t> </a:t>
            </a:r>
            <a:r>
              <a:rPr sz="5689" dirty="0">
                <a:latin typeface="Calibri Light"/>
                <a:cs typeface="Calibri Light"/>
              </a:rPr>
              <a:t>cleaning</a:t>
            </a:r>
            <a:r>
              <a:rPr sz="5689" spc="-116" dirty="0">
                <a:latin typeface="Calibri Light"/>
                <a:cs typeface="Calibri Light"/>
              </a:rPr>
              <a:t> </a:t>
            </a:r>
            <a:r>
              <a:rPr sz="5689" dirty="0">
                <a:latin typeface="Calibri Light"/>
                <a:cs typeface="Calibri Light"/>
              </a:rPr>
              <a:t>using</a:t>
            </a:r>
            <a:r>
              <a:rPr sz="5689" spc="-169" dirty="0">
                <a:latin typeface="Calibri Light"/>
                <a:cs typeface="Calibri Light"/>
              </a:rPr>
              <a:t> </a:t>
            </a:r>
            <a:r>
              <a:rPr sz="5689" spc="-18" dirty="0" err="1">
                <a:latin typeface="Calibri Light"/>
                <a:cs typeface="Calibri Light"/>
              </a:rPr>
              <a:t>tidyverse</a:t>
            </a:r>
            <a:endParaRPr lang="en-CA" sz="5689" spc="-18" dirty="0">
              <a:latin typeface="Calibri Light"/>
              <a:cs typeface="Calibri Light"/>
            </a:endParaRPr>
          </a:p>
          <a:p>
            <a:pPr marL="21448" lvl="3">
              <a:lnSpc>
                <a:spcPts val="6817"/>
              </a:lnSpc>
              <a:spcBef>
                <a:spcPts val="231"/>
              </a:spcBef>
              <a:tabLst>
                <a:tab pos="633279" algn="l"/>
              </a:tabLst>
            </a:pPr>
            <a:r>
              <a:rPr lang="en-CA" sz="7200" dirty="0">
                <a:latin typeface="Calibri Light"/>
                <a:cs typeface="Calibri Light"/>
              </a:rPr>
              <a:t>		</a:t>
            </a:r>
            <a:r>
              <a:rPr lang="en-CA" sz="6000" dirty="0" err="1">
                <a:solidFill>
                  <a:srgbClr val="00BCC8"/>
                </a:solidFill>
                <a:latin typeface="Calibri Light"/>
                <a:cs typeface="Calibri Light"/>
              </a:rPr>
              <a:t>dplyr</a:t>
            </a:r>
            <a:r>
              <a:rPr lang="en-CA" sz="6000" dirty="0">
                <a:solidFill>
                  <a:srgbClr val="00BCC8"/>
                </a:solidFill>
                <a:latin typeface="Calibri Light"/>
                <a:cs typeface="Calibri Light"/>
              </a:rPr>
              <a:t> (filter, select, mutate, </a:t>
            </a:r>
            <a:r>
              <a:rPr lang="en-CA" sz="6000" dirty="0" err="1">
                <a:solidFill>
                  <a:srgbClr val="00BCC8"/>
                </a:solidFill>
                <a:latin typeface="Calibri Light"/>
                <a:cs typeface="Calibri Light"/>
              </a:rPr>
              <a:t>group_by</a:t>
            </a:r>
            <a:r>
              <a:rPr lang="en-CA" sz="6000" dirty="0">
                <a:solidFill>
                  <a:srgbClr val="00BCC8"/>
                </a:solidFill>
                <a:latin typeface="Calibri Light"/>
                <a:cs typeface="Calibri Light"/>
              </a:rPr>
              <a:t>, summarize)</a:t>
            </a:r>
          </a:p>
          <a:p>
            <a:pPr marL="21448" lvl="3">
              <a:lnSpc>
                <a:spcPts val="6817"/>
              </a:lnSpc>
              <a:spcBef>
                <a:spcPts val="231"/>
              </a:spcBef>
              <a:tabLst>
                <a:tab pos="633279" algn="l"/>
              </a:tabLst>
            </a:pP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tidyr</a:t>
            </a: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pivot_wider</a:t>
            </a: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pivot_longer</a:t>
            </a:r>
            <a:r>
              <a:rPr lang="en-CA" sz="6000" dirty="0">
                <a:solidFill>
                  <a:srgbClr val="00BCC8"/>
                </a:solidFill>
                <a:latin typeface="Calibri Light"/>
                <a:cs typeface="Calibri Light"/>
              </a:rPr>
              <a:t>)</a:t>
            </a:r>
          </a:p>
          <a:p>
            <a:pPr marL="21448" lvl="3">
              <a:lnSpc>
                <a:spcPts val="6817"/>
              </a:lnSpc>
              <a:spcBef>
                <a:spcPts val="231"/>
              </a:spcBef>
              <a:tabLst>
                <a:tab pos="633279" algn="l"/>
              </a:tabLst>
            </a:pP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stringr</a:t>
            </a: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str_detect</a:t>
            </a: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str_sub</a:t>
            </a:r>
            <a:r>
              <a:rPr lang="en-CA" sz="6000" dirty="0">
                <a:solidFill>
                  <a:srgbClr val="00BCC8"/>
                </a:solidFill>
                <a:latin typeface="Calibri Light"/>
                <a:cs typeface="Calibri Light"/>
              </a:rPr>
              <a:t>, </a:t>
            </a:r>
            <a:r>
              <a:rPr lang="en-CA" sz="6000" dirty="0" err="1">
                <a:solidFill>
                  <a:srgbClr val="00BCC8"/>
                </a:solidFill>
                <a:latin typeface="Calibri Light"/>
                <a:cs typeface="Calibri Light"/>
              </a:rPr>
              <a:t>str_extract_all</a:t>
            </a:r>
            <a:r>
              <a:rPr lang="en-CA" sz="6000" dirty="0">
                <a:solidFill>
                  <a:srgbClr val="00BCC8"/>
                </a:solidFill>
                <a:latin typeface="Calibri Light"/>
                <a:cs typeface="Calibri Light"/>
              </a:rPr>
              <a:t>)</a:t>
            </a:r>
            <a:endParaRPr sz="5689" dirty="0">
              <a:latin typeface="Calibri Light"/>
              <a:cs typeface="Calibri Light"/>
            </a:endParaRPr>
          </a:p>
          <a:p>
            <a:pPr marL="632150" indent="-610702">
              <a:spcBef>
                <a:spcPts val="116"/>
              </a:spcBef>
              <a:buFont typeface="Wingdings"/>
              <a:buChar char=""/>
              <a:tabLst>
                <a:tab pos="633279" algn="l"/>
              </a:tabLst>
            </a:pPr>
            <a:r>
              <a:rPr lang="en-CA" sz="5689" dirty="0">
                <a:latin typeface="Calibri Light"/>
                <a:cs typeface="Calibri Light"/>
              </a:rPr>
              <a:t>Resources</a:t>
            </a:r>
            <a:endParaRPr sz="5689" dirty="0">
              <a:latin typeface="Calibri Light"/>
              <a:cs typeface="Calibri Light"/>
            </a:endParaRPr>
          </a:p>
        </p:txBody>
      </p:sp>
    </p:spTree>
    <p:extLst>
      <p:ext uri="{BB962C8B-B14F-4D97-AF65-F5344CB8AC3E}">
        <p14:creationId xmlns:p14="http://schemas.microsoft.com/office/powerpoint/2010/main" val="13284157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77850" y="2064610"/>
            <a:ext cx="9660072" cy="10127086"/>
          </a:xfrm>
          <a:prstGeom prst="rect">
            <a:avLst/>
          </a:prstGeom>
        </p:spPr>
      </p:pic>
      <p:grpSp>
        <p:nvGrpSpPr>
          <p:cNvPr id="3" name="object 3"/>
          <p:cNvGrpSpPr/>
          <p:nvPr/>
        </p:nvGrpSpPr>
        <p:grpSpPr>
          <a:xfrm>
            <a:off x="10701606" y="0"/>
            <a:ext cx="10735471" cy="10619019"/>
            <a:chOff x="6019800" y="0"/>
            <a:chExt cx="6038850" cy="5973344"/>
          </a:xfrm>
        </p:grpSpPr>
        <p:pic>
          <p:nvPicPr>
            <p:cNvPr id="4" name="object 4"/>
            <p:cNvPicPr/>
            <p:nvPr/>
          </p:nvPicPr>
          <p:blipFill>
            <a:blip r:embed="rId3" cstate="print"/>
            <a:stretch>
              <a:fillRect/>
            </a:stretch>
          </p:blipFill>
          <p:spPr>
            <a:xfrm>
              <a:off x="6019800" y="0"/>
              <a:ext cx="6038850" cy="5973344"/>
            </a:xfrm>
            <a:prstGeom prst="rect">
              <a:avLst/>
            </a:prstGeom>
          </p:spPr>
        </p:pic>
        <p:sp>
          <p:nvSpPr>
            <p:cNvPr id="5" name="object 5"/>
            <p:cNvSpPr/>
            <p:nvPr/>
          </p:nvSpPr>
          <p:spPr>
            <a:xfrm>
              <a:off x="8329676" y="3319526"/>
              <a:ext cx="361950" cy="323850"/>
            </a:xfrm>
            <a:custGeom>
              <a:avLst/>
              <a:gdLst/>
              <a:ahLst/>
              <a:cxnLst/>
              <a:rect l="l" t="t" r="r" b="b"/>
              <a:pathLst>
                <a:path w="361950" h="323850">
                  <a:moveTo>
                    <a:pt x="180975" y="0"/>
                  </a:moveTo>
                  <a:lnTo>
                    <a:pt x="138175" y="123698"/>
                  </a:lnTo>
                  <a:lnTo>
                    <a:pt x="0" y="123698"/>
                  </a:lnTo>
                  <a:lnTo>
                    <a:pt x="111759" y="200025"/>
                  </a:lnTo>
                  <a:lnTo>
                    <a:pt x="69088" y="323723"/>
                  </a:lnTo>
                  <a:lnTo>
                    <a:pt x="180975" y="247396"/>
                  </a:lnTo>
                  <a:lnTo>
                    <a:pt x="292734" y="323723"/>
                  </a:lnTo>
                  <a:lnTo>
                    <a:pt x="250063" y="200025"/>
                  </a:lnTo>
                  <a:lnTo>
                    <a:pt x="361823" y="123698"/>
                  </a:lnTo>
                  <a:lnTo>
                    <a:pt x="223647" y="123698"/>
                  </a:lnTo>
                  <a:lnTo>
                    <a:pt x="180975" y="0"/>
                  </a:lnTo>
                  <a:close/>
                </a:path>
              </a:pathLst>
            </a:custGeom>
            <a:solidFill>
              <a:srgbClr val="00BCC8"/>
            </a:solidFill>
            <a:ln>
              <a:noFill/>
            </a:ln>
          </p:spPr>
          <p:txBody>
            <a:bodyPr wrap="square" lIns="0" tIns="0" rIns="0" bIns="0" rtlCol="0"/>
            <a:lstStyle/>
            <a:p>
              <a:endParaRPr dirty="0"/>
            </a:p>
          </p:txBody>
        </p:sp>
        <p:sp>
          <p:nvSpPr>
            <p:cNvPr id="6" name="object 6"/>
            <p:cNvSpPr/>
            <p:nvPr/>
          </p:nvSpPr>
          <p:spPr>
            <a:xfrm>
              <a:off x="8329676" y="3319526"/>
              <a:ext cx="361950" cy="323850"/>
            </a:xfrm>
            <a:custGeom>
              <a:avLst/>
              <a:gdLst/>
              <a:ahLst/>
              <a:cxnLst/>
              <a:rect l="l" t="t" r="r" b="b"/>
              <a:pathLst>
                <a:path w="361950" h="323850">
                  <a:moveTo>
                    <a:pt x="0" y="123698"/>
                  </a:moveTo>
                  <a:lnTo>
                    <a:pt x="138175" y="123698"/>
                  </a:lnTo>
                  <a:lnTo>
                    <a:pt x="180975" y="0"/>
                  </a:lnTo>
                  <a:lnTo>
                    <a:pt x="223647" y="123698"/>
                  </a:lnTo>
                  <a:lnTo>
                    <a:pt x="361823" y="123698"/>
                  </a:lnTo>
                  <a:lnTo>
                    <a:pt x="250063" y="200025"/>
                  </a:lnTo>
                  <a:lnTo>
                    <a:pt x="292734" y="323723"/>
                  </a:lnTo>
                  <a:lnTo>
                    <a:pt x="180975" y="247396"/>
                  </a:lnTo>
                  <a:lnTo>
                    <a:pt x="69088" y="323723"/>
                  </a:lnTo>
                  <a:lnTo>
                    <a:pt x="111759" y="200025"/>
                  </a:lnTo>
                  <a:lnTo>
                    <a:pt x="0" y="123698"/>
                  </a:lnTo>
                  <a:close/>
                </a:path>
              </a:pathLst>
            </a:custGeom>
            <a:ln w="12700">
              <a:noFill/>
            </a:ln>
          </p:spPr>
          <p:txBody>
            <a:bodyPr wrap="square" lIns="0" tIns="0" rIns="0" bIns="0" rtlCol="0"/>
            <a:lstStyle/>
            <a:p>
              <a:endParaRPr/>
            </a:p>
          </p:txBody>
        </p:sp>
        <p:sp>
          <p:nvSpPr>
            <p:cNvPr id="8" name="object 8"/>
            <p:cNvSpPr/>
            <p:nvPr/>
          </p:nvSpPr>
          <p:spPr>
            <a:xfrm>
              <a:off x="8329676" y="4957826"/>
              <a:ext cx="361950" cy="323850"/>
            </a:xfrm>
            <a:custGeom>
              <a:avLst/>
              <a:gdLst/>
              <a:ahLst/>
              <a:cxnLst/>
              <a:rect l="l" t="t" r="r" b="b"/>
              <a:pathLst>
                <a:path w="361950" h="323850">
                  <a:moveTo>
                    <a:pt x="0" y="123698"/>
                  </a:moveTo>
                  <a:lnTo>
                    <a:pt x="138175" y="123698"/>
                  </a:lnTo>
                  <a:lnTo>
                    <a:pt x="180975" y="0"/>
                  </a:lnTo>
                  <a:lnTo>
                    <a:pt x="223647" y="123698"/>
                  </a:lnTo>
                  <a:lnTo>
                    <a:pt x="361823" y="123698"/>
                  </a:lnTo>
                  <a:lnTo>
                    <a:pt x="250063" y="200025"/>
                  </a:lnTo>
                  <a:lnTo>
                    <a:pt x="292734" y="323723"/>
                  </a:lnTo>
                  <a:lnTo>
                    <a:pt x="180975" y="247396"/>
                  </a:lnTo>
                  <a:lnTo>
                    <a:pt x="69088" y="323723"/>
                  </a:lnTo>
                  <a:lnTo>
                    <a:pt x="111759" y="200025"/>
                  </a:lnTo>
                  <a:lnTo>
                    <a:pt x="0" y="123698"/>
                  </a:lnTo>
                  <a:close/>
                </a:path>
              </a:pathLst>
            </a:custGeom>
            <a:ln w="12700">
              <a:noFill/>
            </a:ln>
          </p:spPr>
          <p:txBody>
            <a:bodyPr wrap="square" lIns="0" tIns="0" rIns="0" bIns="0" rtlCol="0"/>
            <a:lstStyle/>
            <a:p>
              <a:endParaRPr/>
            </a:p>
          </p:txBody>
        </p:sp>
      </p:grpSp>
      <p:sp>
        <p:nvSpPr>
          <p:cNvPr id="9" name="object 9"/>
          <p:cNvSpPr txBox="1">
            <a:spLocks noGrp="1"/>
          </p:cNvSpPr>
          <p:nvPr>
            <p:ph type="title"/>
          </p:nvPr>
        </p:nvSpPr>
        <p:spPr>
          <a:xfrm>
            <a:off x="594463" y="337073"/>
            <a:ext cx="6432605" cy="1501265"/>
          </a:xfrm>
          <a:prstGeom prst="rect">
            <a:avLst/>
          </a:prstGeom>
        </p:spPr>
        <p:txBody>
          <a:bodyPr vert="horz" wrap="square" lIns="0" tIns="23706" rIns="0" bIns="0" rtlCol="0">
            <a:spAutoFit/>
          </a:bodyPr>
          <a:lstStyle/>
          <a:p>
            <a:pPr marL="22577">
              <a:spcBef>
                <a:spcPts val="187"/>
              </a:spcBef>
            </a:pPr>
            <a:r>
              <a:rPr spc="-231" dirty="0">
                <a:solidFill>
                  <a:srgbClr val="00BCC8"/>
                </a:solidFill>
                <a:latin typeface="Aptos Black" panose="020B0004020202020204" pitchFamily="34" charset="0"/>
              </a:rPr>
              <a:t>Tidyverse</a:t>
            </a:r>
          </a:p>
        </p:txBody>
      </p:sp>
      <p:grpSp>
        <p:nvGrpSpPr>
          <p:cNvPr id="13" name="object 13"/>
          <p:cNvGrpSpPr/>
          <p:nvPr/>
        </p:nvGrpSpPr>
        <p:grpSpPr>
          <a:xfrm>
            <a:off x="4078129" y="4704638"/>
            <a:ext cx="649095" cy="598297"/>
            <a:chOff x="2294001" y="2646426"/>
            <a:chExt cx="365125" cy="336550"/>
          </a:xfrm>
          <a:solidFill>
            <a:srgbClr val="00BCC8"/>
          </a:solidFill>
        </p:grpSpPr>
        <p:sp>
          <p:nvSpPr>
            <p:cNvPr id="14" name="object 14"/>
            <p:cNvSpPr/>
            <p:nvPr/>
          </p:nvSpPr>
          <p:spPr>
            <a:xfrm>
              <a:off x="2300351" y="2652776"/>
              <a:ext cx="352425" cy="323850"/>
            </a:xfrm>
            <a:custGeom>
              <a:avLst/>
              <a:gdLst/>
              <a:ahLst/>
              <a:cxnLst/>
              <a:rect l="l" t="t" r="r" b="b"/>
              <a:pathLst>
                <a:path w="352425" h="323850">
                  <a:moveTo>
                    <a:pt x="176149" y="0"/>
                  </a:moveTo>
                  <a:lnTo>
                    <a:pt x="134493" y="123698"/>
                  </a:lnTo>
                  <a:lnTo>
                    <a:pt x="0" y="123698"/>
                  </a:lnTo>
                  <a:lnTo>
                    <a:pt x="108838" y="200025"/>
                  </a:lnTo>
                  <a:lnTo>
                    <a:pt x="67182" y="323723"/>
                  </a:lnTo>
                  <a:lnTo>
                    <a:pt x="176149" y="247396"/>
                  </a:lnTo>
                  <a:lnTo>
                    <a:pt x="285115" y="323723"/>
                  </a:lnTo>
                  <a:lnTo>
                    <a:pt x="243459" y="200025"/>
                  </a:lnTo>
                  <a:lnTo>
                    <a:pt x="352425" y="123698"/>
                  </a:lnTo>
                  <a:lnTo>
                    <a:pt x="217805" y="123698"/>
                  </a:lnTo>
                  <a:lnTo>
                    <a:pt x="176149" y="0"/>
                  </a:lnTo>
                  <a:close/>
                </a:path>
              </a:pathLst>
            </a:custGeom>
            <a:grpFill/>
            <a:ln>
              <a:noFill/>
            </a:ln>
          </p:spPr>
          <p:txBody>
            <a:bodyPr wrap="square" lIns="0" tIns="0" rIns="0" bIns="0" rtlCol="0"/>
            <a:lstStyle/>
            <a:p>
              <a:endParaRPr/>
            </a:p>
          </p:txBody>
        </p:sp>
        <p:sp>
          <p:nvSpPr>
            <p:cNvPr id="15" name="object 15"/>
            <p:cNvSpPr/>
            <p:nvPr/>
          </p:nvSpPr>
          <p:spPr>
            <a:xfrm>
              <a:off x="2300351" y="2652776"/>
              <a:ext cx="352425" cy="323850"/>
            </a:xfrm>
            <a:custGeom>
              <a:avLst/>
              <a:gdLst/>
              <a:ahLst/>
              <a:cxnLst/>
              <a:rect l="l" t="t" r="r" b="b"/>
              <a:pathLst>
                <a:path w="352425" h="323850">
                  <a:moveTo>
                    <a:pt x="0" y="123698"/>
                  </a:moveTo>
                  <a:lnTo>
                    <a:pt x="134493" y="123698"/>
                  </a:lnTo>
                  <a:lnTo>
                    <a:pt x="176149" y="0"/>
                  </a:lnTo>
                  <a:lnTo>
                    <a:pt x="217805" y="123698"/>
                  </a:lnTo>
                  <a:lnTo>
                    <a:pt x="352425" y="123698"/>
                  </a:lnTo>
                  <a:lnTo>
                    <a:pt x="243459" y="200025"/>
                  </a:lnTo>
                  <a:lnTo>
                    <a:pt x="285115" y="323723"/>
                  </a:lnTo>
                  <a:lnTo>
                    <a:pt x="176149" y="247396"/>
                  </a:lnTo>
                  <a:lnTo>
                    <a:pt x="67182" y="323723"/>
                  </a:lnTo>
                  <a:lnTo>
                    <a:pt x="108838" y="200025"/>
                  </a:lnTo>
                  <a:lnTo>
                    <a:pt x="0" y="123698"/>
                  </a:lnTo>
                  <a:close/>
                </a:path>
              </a:pathLst>
            </a:custGeom>
            <a:grpFill/>
            <a:ln w="12700">
              <a:noFill/>
            </a:ln>
          </p:spPr>
          <p:txBody>
            <a:bodyPr wrap="square" lIns="0" tIns="0" rIns="0" bIns="0" rtlCol="0"/>
            <a:lstStyle/>
            <a:p>
              <a:endParaRPr/>
            </a:p>
          </p:txBody>
        </p:sp>
      </p:grpSp>
      <p:grpSp>
        <p:nvGrpSpPr>
          <p:cNvPr id="16" name="object 16"/>
          <p:cNvGrpSpPr/>
          <p:nvPr/>
        </p:nvGrpSpPr>
        <p:grpSpPr>
          <a:xfrm>
            <a:off x="4044259" y="7447772"/>
            <a:ext cx="666028" cy="598297"/>
            <a:chOff x="2274951" y="4189476"/>
            <a:chExt cx="374650" cy="336550"/>
          </a:xfrm>
          <a:solidFill>
            <a:srgbClr val="00BCC8"/>
          </a:solidFill>
        </p:grpSpPr>
        <p:sp>
          <p:nvSpPr>
            <p:cNvPr id="17" name="object 17"/>
            <p:cNvSpPr/>
            <p:nvPr/>
          </p:nvSpPr>
          <p:spPr>
            <a:xfrm>
              <a:off x="2281301" y="4195826"/>
              <a:ext cx="361950" cy="323850"/>
            </a:xfrm>
            <a:custGeom>
              <a:avLst/>
              <a:gdLst/>
              <a:ahLst/>
              <a:cxnLst/>
              <a:rect l="l" t="t" r="r" b="b"/>
              <a:pathLst>
                <a:path w="361950" h="323850">
                  <a:moveTo>
                    <a:pt x="180975" y="0"/>
                  </a:moveTo>
                  <a:lnTo>
                    <a:pt x="138175" y="123698"/>
                  </a:lnTo>
                  <a:lnTo>
                    <a:pt x="0" y="123698"/>
                  </a:lnTo>
                  <a:lnTo>
                    <a:pt x="111760" y="200025"/>
                  </a:lnTo>
                  <a:lnTo>
                    <a:pt x="69087" y="323723"/>
                  </a:lnTo>
                  <a:lnTo>
                    <a:pt x="180975" y="247396"/>
                  </a:lnTo>
                  <a:lnTo>
                    <a:pt x="292735" y="323723"/>
                  </a:lnTo>
                  <a:lnTo>
                    <a:pt x="250062" y="200025"/>
                  </a:lnTo>
                  <a:lnTo>
                    <a:pt x="361950" y="123698"/>
                  </a:lnTo>
                  <a:lnTo>
                    <a:pt x="223647" y="123698"/>
                  </a:lnTo>
                  <a:lnTo>
                    <a:pt x="180975" y="0"/>
                  </a:lnTo>
                  <a:close/>
                </a:path>
              </a:pathLst>
            </a:custGeom>
            <a:grpFill/>
            <a:ln>
              <a:noFill/>
            </a:ln>
          </p:spPr>
          <p:txBody>
            <a:bodyPr wrap="square" lIns="0" tIns="0" rIns="0" bIns="0" rtlCol="0"/>
            <a:lstStyle/>
            <a:p>
              <a:endParaRPr/>
            </a:p>
          </p:txBody>
        </p:sp>
        <p:sp>
          <p:nvSpPr>
            <p:cNvPr id="18" name="object 18"/>
            <p:cNvSpPr/>
            <p:nvPr/>
          </p:nvSpPr>
          <p:spPr>
            <a:xfrm>
              <a:off x="2281301" y="4195826"/>
              <a:ext cx="361950" cy="323850"/>
            </a:xfrm>
            <a:custGeom>
              <a:avLst/>
              <a:gdLst/>
              <a:ahLst/>
              <a:cxnLst/>
              <a:rect l="l" t="t" r="r" b="b"/>
              <a:pathLst>
                <a:path w="361950" h="323850">
                  <a:moveTo>
                    <a:pt x="0" y="123698"/>
                  </a:moveTo>
                  <a:lnTo>
                    <a:pt x="138175" y="123698"/>
                  </a:lnTo>
                  <a:lnTo>
                    <a:pt x="180975" y="0"/>
                  </a:lnTo>
                  <a:lnTo>
                    <a:pt x="223647" y="123698"/>
                  </a:lnTo>
                  <a:lnTo>
                    <a:pt x="361950" y="123698"/>
                  </a:lnTo>
                  <a:lnTo>
                    <a:pt x="250062" y="200025"/>
                  </a:lnTo>
                  <a:lnTo>
                    <a:pt x="292735" y="323723"/>
                  </a:lnTo>
                  <a:lnTo>
                    <a:pt x="180975" y="247396"/>
                  </a:lnTo>
                  <a:lnTo>
                    <a:pt x="69087" y="323723"/>
                  </a:lnTo>
                  <a:lnTo>
                    <a:pt x="111760" y="200025"/>
                  </a:lnTo>
                  <a:lnTo>
                    <a:pt x="0" y="123698"/>
                  </a:lnTo>
                  <a:close/>
                </a:path>
              </a:pathLst>
            </a:custGeom>
            <a:grpFill/>
            <a:ln w="12700">
              <a:noFill/>
            </a:ln>
          </p:spPr>
          <p:txBody>
            <a:bodyPr wrap="square" lIns="0" tIns="0" rIns="0" bIns="0" rtlCol="0"/>
            <a:lstStyle/>
            <a:p>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18317826" y="533400"/>
            <a:ext cx="2506072" cy="2895529"/>
          </a:xfrm>
          <a:prstGeom prst="rect">
            <a:avLst/>
          </a:prstGeom>
        </p:spPr>
      </p:pic>
      <p:pic>
        <p:nvPicPr>
          <p:cNvPr id="7" name="Picture 6">
            <a:extLst>
              <a:ext uri="{FF2B5EF4-FFF2-40B4-BE49-F238E27FC236}">
                <a16:creationId xmlns:a16="http://schemas.microsoft.com/office/drawing/2014/main" id="{249B26D8-D0D6-E725-3A17-22F439A08A44}"/>
              </a:ext>
            </a:extLst>
          </p:cNvPr>
          <p:cNvPicPr>
            <a:picLocks noChangeAspect="1"/>
          </p:cNvPicPr>
          <p:nvPr/>
        </p:nvPicPr>
        <p:blipFill>
          <a:blip r:embed="rId3"/>
          <a:stretch>
            <a:fillRect/>
          </a:stretch>
        </p:blipFill>
        <p:spPr>
          <a:xfrm>
            <a:off x="1312069" y="4110588"/>
            <a:ext cx="16998613" cy="6591300"/>
          </a:xfrm>
          <a:prstGeom prst="rect">
            <a:avLst/>
          </a:prstGeom>
        </p:spPr>
      </p:pic>
      <p:sp>
        <p:nvSpPr>
          <p:cNvPr id="8" name="object 9">
            <a:extLst>
              <a:ext uri="{FF2B5EF4-FFF2-40B4-BE49-F238E27FC236}">
                <a16:creationId xmlns:a16="http://schemas.microsoft.com/office/drawing/2014/main" id="{CD6657FA-A736-B8A7-E7C2-725472FC6287}"/>
              </a:ext>
            </a:extLst>
          </p:cNvPr>
          <p:cNvSpPr txBox="1">
            <a:spLocks/>
          </p:cNvSpPr>
          <p:nvPr/>
        </p:nvSpPr>
        <p:spPr>
          <a:xfrm>
            <a:off x="1312069" y="1066800"/>
            <a:ext cx="6432605" cy="2578483"/>
          </a:xfrm>
          <a:prstGeom prst="rect">
            <a:avLst/>
          </a:prstGeom>
        </p:spPr>
        <p:txBody>
          <a:bodyPr vert="horz" wrap="square" lIns="0" tIns="23706" rIns="0" bIns="0" rtlCol="0">
            <a:spAutoFit/>
          </a:bodyPr>
          <a:lstStyle>
            <a:lvl1pPr>
              <a:defRPr>
                <a:latin typeface="+mj-lt"/>
                <a:ea typeface="+mj-ea"/>
                <a:cs typeface="+mj-cs"/>
              </a:defRPr>
            </a:lvl1pPr>
          </a:lstStyle>
          <a:p>
            <a:pPr marL="22577">
              <a:spcBef>
                <a:spcPts val="187"/>
              </a:spcBef>
            </a:pPr>
            <a:r>
              <a:rPr lang="en-CA" sz="16600" spc="-231" dirty="0" err="1">
                <a:solidFill>
                  <a:srgbClr val="00BCC8"/>
                </a:solidFill>
                <a:latin typeface="Aptos Black" panose="020B0004020202020204" pitchFamily="34" charset="0"/>
              </a:rPr>
              <a:t>dplyr</a:t>
            </a:r>
            <a:endParaRPr lang="en-CA" sz="16600" spc="-231" dirty="0">
              <a:solidFill>
                <a:srgbClr val="00BCC8"/>
              </a:solidFill>
              <a:latin typeface="Aptos Black" panose="020B00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337705" y="8779985"/>
            <a:ext cx="17864231" cy="2116615"/>
            <a:chOff x="752475" y="4933950"/>
            <a:chExt cx="10048875" cy="1190625"/>
          </a:xfrm>
        </p:grpSpPr>
        <p:sp>
          <p:nvSpPr>
            <p:cNvPr id="3" name="object 3"/>
            <p:cNvSpPr/>
            <p:nvPr/>
          </p:nvSpPr>
          <p:spPr>
            <a:xfrm>
              <a:off x="752475" y="4933950"/>
              <a:ext cx="10048875" cy="1190625"/>
            </a:xfrm>
            <a:custGeom>
              <a:avLst/>
              <a:gdLst/>
              <a:ahLst/>
              <a:cxnLst/>
              <a:rect l="l" t="t" r="r" b="b"/>
              <a:pathLst>
                <a:path w="10048875" h="1190625">
                  <a:moveTo>
                    <a:pt x="9959467" y="0"/>
                  </a:moveTo>
                  <a:lnTo>
                    <a:pt x="89357" y="0"/>
                  </a:lnTo>
                  <a:lnTo>
                    <a:pt x="54574" y="7022"/>
                  </a:lnTo>
                  <a:lnTo>
                    <a:pt x="26171" y="26177"/>
                  </a:lnTo>
                  <a:lnTo>
                    <a:pt x="7021" y="54596"/>
                  </a:lnTo>
                  <a:lnTo>
                    <a:pt x="0" y="89407"/>
                  </a:lnTo>
                  <a:lnTo>
                    <a:pt x="0" y="1101267"/>
                  </a:lnTo>
                  <a:lnTo>
                    <a:pt x="7021" y="1136050"/>
                  </a:lnTo>
                  <a:lnTo>
                    <a:pt x="26171" y="1164453"/>
                  </a:lnTo>
                  <a:lnTo>
                    <a:pt x="54574" y="1183603"/>
                  </a:lnTo>
                  <a:lnTo>
                    <a:pt x="89357" y="1190625"/>
                  </a:lnTo>
                  <a:lnTo>
                    <a:pt x="9959467" y="1190625"/>
                  </a:lnTo>
                  <a:lnTo>
                    <a:pt x="9994278" y="1183603"/>
                  </a:lnTo>
                  <a:lnTo>
                    <a:pt x="10022697" y="1164453"/>
                  </a:lnTo>
                  <a:lnTo>
                    <a:pt x="10041852" y="1136050"/>
                  </a:lnTo>
                  <a:lnTo>
                    <a:pt x="10048875" y="1101267"/>
                  </a:lnTo>
                  <a:lnTo>
                    <a:pt x="10048875" y="89407"/>
                  </a:lnTo>
                  <a:lnTo>
                    <a:pt x="10041852" y="54596"/>
                  </a:lnTo>
                  <a:lnTo>
                    <a:pt x="10022697" y="26177"/>
                  </a:lnTo>
                  <a:lnTo>
                    <a:pt x="9994278" y="7022"/>
                  </a:lnTo>
                  <a:lnTo>
                    <a:pt x="9959467" y="0"/>
                  </a:lnTo>
                  <a:close/>
                </a:path>
              </a:pathLst>
            </a:custGeom>
            <a:solidFill>
              <a:srgbClr val="202020"/>
            </a:solidFill>
          </p:spPr>
          <p:txBody>
            <a:bodyPr wrap="square" lIns="0" tIns="0" rIns="0" bIns="0" rtlCol="0"/>
            <a:lstStyle/>
            <a:p>
              <a:endParaRPr/>
            </a:p>
          </p:txBody>
        </p:sp>
        <p:pic>
          <p:nvPicPr>
            <p:cNvPr id="4" name="object 4"/>
            <p:cNvPicPr/>
            <p:nvPr/>
          </p:nvPicPr>
          <p:blipFill>
            <a:blip r:embed="rId2" cstate="print"/>
            <a:stretch>
              <a:fillRect/>
            </a:stretch>
          </p:blipFill>
          <p:spPr>
            <a:xfrm>
              <a:off x="1524000" y="5057775"/>
              <a:ext cx="2981325" cy="981075"/>
            </a:xfrm>
            <a:prstGeom prst="rect">
              <a:avLst/>
            </a:prstGeom>
          </p:spPr>
        </p:pic>
        <p:pic>
          <p:nvPicPr>
            <p:cNvPr id="5" name="object 5"/>
            <p:cNvPicPr/>
            <p:nvPr/>
          </p:nvPicPr>
          <p:blipFill>
            <a:blip r:embed="rId3" cstate="print"/>
            <a:stretch>
              <a:fillRect/>
            </a:stretch>
          </p:blipFill>
          <p:spPr>
            <a:xfrm>
              <a:off x="6686550" y="4991100"/>
              <a:ext cx="2438400" cy="923925"/>
            </a:xfrm>
            <a:prstGeom prst="rect">
              <a:avLst/>
            </a:prstGeom>
          </p:spPr>
        </p:pic>
        <p:sp>
          <p:nvSpPr>
            <p:cNvPr id="6" name="object 6"/>
            <p:cNvSpPr/>
            <p:nvPr/>
          </p:nvSpPr>
          <p:spPr>
            <a:xfrm>
              <a:off x="2405062" y="5314935"/>
              <a:ext cx="5419725" cy="648970"/>
            </a:xfrm>
            <a:custGeom>
              <a:avLst/>
              <a:gdLst/>
              <a:ahLst/>
              <a:cxnLst/>
              <a:rect l="l" t="t" r="r" b="b"/>
              <a:pathLst>
                <a:path w="5419725" h="648970">
                  <a:moveTo>
                    <a:pt x="0" y="352425"/>
                  </a:moveTo>
                  <a:lnTo>
                    <a:pt x="498729" y="360743"/>
                  </a:lnTo>
                </a:path>
                <a:path w="5419725" h="648970">
                  <a:moveTo>
                    <a:pt x="4286250" y="266700"/>
                  </a:moveTo>
                  <a:lnTo>
                    <a:pt x="4829175" y="266700"/>
                  </a:lnTo>
                  <a:lnTo>
                    <a:pt x="4829175" y="0"/>
                  </a:lnTo>
                  <a:lnTo>
                    <a:pt x="4286250" y="0"/>
                  </a:lnTo>
                  <a:lnTo>
                    <a:pt x="4286250" y="266700"/>
                  </a:lnTo>
                  <a:close/>
                </a:path>
                <a:path w="5419725" h="648970">
                  <a:moveTo>
                    <a:pt x="4438650" y="266700"/>
                  </a:moveTo>
                  <a:lnTo>
                    <a:pt x="4438650" y="648931"/>
                  </a:lnTo>
                </a:path>
                <a:path w="5419725" h="648970">
                  <a:moveTo>
                    <a:pt x="4438650" y="647700"/>
                  </a:moveTo>
                  <a:lnTo>
                    <a:pt x="5419471" y="647700"/>
                  </a:lnTo>
                </a:path>
              </a:pathLst>
            </a:custGeom>
            <a:ln w="19050">
              <a:solidFill>
                <a:srgbClr val="92D050"/>
              </a:solidFill>
            </a:ln>
          </p:spPr>
          <p:txBody>
            <a:bodyPr wrap="square" lIns="0" tIns="0" rIns="0" bIns="0" rtlCol="0"/>
            <a:lstStyle/>
            <a:p>
              <a:endParaRPr dirty="0"/>
            </a:p>
          </p:txBody>
        </p:sp>
        <p:pic>
          <p:nvPicPr>
            <p:cNvPr id="7" name="object 7"/>
            <p:cNvPicPr/>
            <p:nvPr/>
          </p:nvPicPr>
          <p:blipFill>
            <a:blip r:embed="rId4" cstate="print"/>
            <a:stretch>
              <a:fillRect/>
            </a:stretch>
          </p:blipFill>
          <p:spPr>
            <a:xfrm>
              <a:off x="7781925" y="5786437"/>
              <a:ext cx="85725" cy="191122"/>
            </a:xfrm>
            <a:prstGeom prst="rect">
              <a:avLst/>
            </a:prstGeom>
            <a:ln>
              <a:solidFill>
                <a:srgbClr val="92D050"/>
              </a:solidFill>
            </a:ln>
          </p:spPr>
        </p:pic>
        <p:sp>
          <p:nvSpPr>
            <p:cNvPr id="8" name="object 8"/>
            <p:cNvSpPr/>
            <p:nvPr/>
          </p:nvSpPr>
          <p:spPr>
            <a:xfrm>
              <a:off x="4905375" y="5143500"/>
              <a:ext cx="1181100" cy="809625"/>
            </a:xfrm>
            <a:custGeom>
              <a:avLst/>
              <a:gdLst/>
              <a:ahLst/>
              <a:cxnLst/>
              <a:rect l="l" t="t" r="r" b="b"/>
              <a:pathLst>
                <a:path w="1181100" h="809625">
                  <a:moveTo>
                    <a:pt x="776351" y="0"/>
                  </a:moveTo>
                  <a:lnTo>
                    <a:pt x="776351" y="202437"/>
                  </a:lnTo>
                  <a:lnTo>
                    <a:pt x="0" y="202437"/>
                  </a:lnTo>
                  <a:lnTo>
                    <a:pt x="0" y="607225"/>
                  </a:lnTo>
                  <a:lnTo>
                    <a:pt x="776351" y="607225"/>
                  </a:lnTo>
                  <a:lnTo>
                    <a:pt x="776351" y="809625"/>
                  </a:lnTo>
                  <a:lnTo>
                    <a:pt x="1181100" y="404875"/>
                  </a:lnTo>
                  <a:lnTo>
                    <a:pt x="776351" y="0"/>
                  </a:lnTo>
                  <a:close/>
                </a:path>
              </a:pathLst>
            </a:custGeom>
            <a:solidFill>
              <a:srgbClr val="00BCC8"/>
            </a:solidFill>
            <a:ln>
              <a:noFill/>
            </a:ln>
          </p:spPr>
          <p:txBody>
            <a:bodyPr wrap="square" lIns="0" tIns="0" rIns="0" bIns="0" rtlCol="0"/>
            <a:lstStyle/>
            <a:p>
              <a:endParaRPr/>
            </a:p>
          </p:txBody>
        </p:sp>
      </p:grpSp>
      <p:sp>
        <p:nvSpPr>
          <p:cNvPr id="9" name="object 9"/>
          <p:cNvSpPr txBox="1">
            <a:spLocks noGrp="1"/>
          </p:cNvSpPr>
          <p:nvPr>
            <p:ph type="title"/>
          </p:nvPr>
        </p:nvSpPr>
        <p:spPr>
          <a:xfrm>
            <a:off x="1309479" y="1195725"/>
            <a:ext cx="8994190" cy="1501265"/>
          </a:xfrm>
          <a:prstGeom prst="rect">
            <a:avLst/>
          </a:prstGeom>
        </p:spPr>
        <p:txBody>
          <a:bodyPr vert="horz" wrap="square" lIns="0" tIns="23706" rIns="0" bIns="0" rtlCol="0">
            <a:spAutoFit/>
          </a:bodyPr>
          <a:lstStyle/>
          <a:p>
            <a:pPr marL="22577">
              <a:spcBef>
                <a:spcPts val="187"/>
              </a:spcBef>
            </a:pPr>
            <a:r>
              <a:rPr spc="-160" dirty="0">
                <a:latin typeface="Aptos Black" panose="020B0004020202020204" pitchFamily="34" charset="0"/>
              </a:rPr>
              <a:t>The</a:t>
            </a:r>
            <a:r>
              <a:rPr spc="-320" dirty="0">
                <a:latin typeface="Aptos Black" panose="020B0004020202020204" pitchFamily="34" charset="0"/>
              </a:rPr>
              <a:t> </a:t>
            </a:r>
            <a:r>
              <a:rPr spc="-222" dirty="0">
                <a:latin typeface="Aptos Black" panose="020B0004020202020204" pitchFamily="34" charset="0"/>
              </a:rPr>
              <a:t>pipe</a:t>
            </a:r>
            <a:r>
              <a:rPr spc="-320" dirty="0">
                <a:latin typeface="Aptos Black" panose="020B0004020202020204" pitchFamily="34" charset="0"/>
              </a:rPr>
              <a:t> </a:t>
            </a:r>
            <a:r>
              <a:rPr spc="-116" dirty="0">
                <a:latin typeface="Aptos Black" panose="020B0004020202020204" pitchFamily="34" charset="0"/>
              </a:rPr>
              <a:t>%&gt;%</a:t>
            </a:r>
          </a:p>
        </p:txBody>
      </p:sp>
      <p:sp>
        <p:nvSpPr>
          <p:cNvPr id="10" name="object 10"/>
          <p:cNvSpPr txBox="1"/>
          <p:nvPr/>
        </p:nvSpPr>
        <p:spPr>
          <a:xfrm>
            <a:off x="1512679" y="6029509"/>
            <a:ext cx="18117095" cy="1810991"/>
          </a:xfrm>
          <a:prstGeom prst="rect">
            <a:avLst/>
          </a:prstGeom>
        </p:spPr>
        <p:txBody>
          <a:bodyPr vert="horz" wrap="square" lIns="0" tIns="112886" rIns="0" bIns="0" rtlCol="0">
            <a:spAutoFit/>
          </a:bodyPr>
          <a:lstStyle/>
          <a:p>
            <a:pPr marL="22577" marR="9031">
              <a:lnSpc>
                <a:spcPct val="86100"/>
              </a:lnSpc>
              <a:spcBef>
                <a:spcPts val="889"/>
              </a:spcBef>
            </a:pPr>
            <a:r>
              <a:rPr sz="4266" dirty="0">
                <a:solidFill>
                  <a:srgbClr val="202020"/>
                </a:solidFill>
                <a:latin typeface="Calibri Light"/>
                <a:cs typeface="Calibri Light"/>
              </a:rPr>
              <a:t>We</a:t>
            </a:r>
            <a:r>
              <a:rPr sz="4266" spc="9" dirty="0">
                <a:solidFill>
                  <a:srgbClr val="202020"/>
                </a:solidFill>
                <a:latin typeface="Calibri Light"/>
                <a:cs typeface="Calibri Light"/>
              </a:rPr>
              <a:t> </a:t>
            </a:r>
            <a:r>
              <a:rPr sz="4266" dirty="0">
                <a:solidFill>
                  <a:srgbClr val="202020"/>
                </a:solidFill>
                <a:latin typeface="Calibri Light"/>
                <a:cs typeface="Calibri Light"/>
              </a:rPr>
              <a:t>often</a:t>
            </a:r>
            <a:r>
              <a:rPr sz="4266" spc="-222" dirty="0">
                <a:solidFill>
                  <a:srgbClr val="202020"/>
                </a:solidFill>
                <a:latin typeface="Calibri Light"/>
                <a:cs typeface="Calibri Light"/>
              </a:rPr>
              <a:t> </a:t>
            </a:r>
            <a:r>
              <a:rPr sz="4266" dirty="0">
                <a:solidFill>
                  <a:srgbClr val="202020"/>
                </a:solidFill>
                <a:latin typeface="Calibri Light"/>
                <a:cs typeface="Calibri Light"/>
              </a:rPr>
              <a:t>want</a:t>
            </a:r>
            <a:r>
              <a:rPr sz="4266" spc="-80" dirty="0">
                <a:solidFill>
                  <a:srgbClr val="202020"/>
                </a:solidFill>
                <a:latin typeface="Calibri Light"/>
                <a:cs typeface="Calibri Light"/>
              </a:rPr>
              <a:t> </a:t>
            </a:r>
            <a:r>
              <a:rPr sz="4266" dirty="0">
                <a:solidFill>
                  <a:srgbClr val="202020"/>
                </a:solidFill>
                <a:latin typeface="Calibri Light"/>
                <a:cs typeface="Calibri Light"/>
              </a:rPr>
              <a:t>to</a:t>
            </a:r>
            <a:r>
              <a:rPr sz="4266" spc="-89" dirty="0">
                <a:solidFill>
                  <a:srgbClr val="202020"/>
                </a:solidFill>
                <a:latin typeface="Calibri Light"/>
                <a:cs typeface="Calibri Light"/>
              </a:rPr>
              <a:t> </a:t>
            </a:r>
            <a:r>
              <a:rPr sz="4266" dirty="0">
                <a:solidFill>
                  <a:srgbClr val="202020"/>
                </a:solidFill>
                <a:latin typeface="Calibri Light"/>
                <a:cs typeface="Calibri Light"/>
              </a:rPr>
              <a:t>string</a:t>
            </a:r>
            <a:r>
              <a:rPr sz="4266" spc="-133" dirty="0">
                <a:solidFill>
                  <a:srgbClr val="202020"/>
                </a:solidFill>
                <a:latin typeface="Calibri Light"/>
                <a:cs typeface="Calibri Light"/>
              </a:rPr>
              <a:t> </a:t>
            </a:r>
            <a:r>
              <a:rPr sz="4266" dirty="0">
                <a:solidFill>
                  <a:srgbClr val="202020"/>
                </a:solidFill>
                <a:latin typeface="Calibri Light"/>
                <a:cs typeface="Calibri Light"/>
              </a:rPr>
              <a:t>together</a:t>
            </a:r>
            <a:r>
              <a:rPr sz="4266" spc="-276" dirty="0">
                <a:solidFill>
                  <a:srgbClr val="202020"/>
                </a:solidFill>
                <a:latin typeface="Calibri Light"/>
                <a:cs typeface="Calibri Light"/>
              </a:rPr>
              <a:t> </a:t>
            </a:r>
            <a:r>
              <a:rPr sz="4266" dirty="0">
                <a:solidFill>
                  <a:srgbClr val="202020"/>
                </a:solidFill>
                <a:latin typeface="Calibri Light"/>
                <a:cs typeface="Calibri Light"/>
              </a:rPr>
              <a:t>a series</a:t>
            </a:r>
            <a:r>
              <a:rPr sz="4266" spc="-36" dirty="0">
                <a:solidFill>
                  <a:srgbClr val="202020"/>
                </a:solidFill>
                <a:latin typeface="Calibri Light"/>
                <a:cs typeface="Calibri Light"/>
              </a:rPr>
              <a:t> </a:t>
            </a:r>
            <a:r>
              <a:rPr sz="4266" dirty="0">
                <a:solidFill>
                  <a:srgbClr val="202020"/>
                </a:solidFill>
                <a:latin typeface="Calibri Light"/>
                <a:cs typeface="Calibri Light"/>
              </a:rPr>
              <a:t>of</a:t>
            </a:r>
            <a:r>
              <a:rPr sz="4266" spc="213" dirty="0">
                <a:solidFill>
                  <a:srgbClr val="202020"/>
                </a:solidFill>
                <a:latin typeface="Calibri Light"/>
                <a:cs typeface="Calibri Light"/>
              </a:rPr>
              <a:t> </a:t>
            </a:r>
            <a:r>
              <a:rPr sz="4266" dirty="0">
                <a:solidFill>
                  <a:srgbClr val="202020"/>
                </a:solidFill>
                <a:latin typeface="Calibri Light"/>
                <a:cs typeface="Calibri Light"/>
              </a:rPr>
              <a:t>dplyr</a:t>
            </a:r>
            <a:r>
              <a:rPr sz="4266" spc="-124" dirty="0">
                <a:solidFill>
                  <a:srgbClr val="202020"/>
                </a:solidFill>
                <a:latin typeface="Calibri Light"/>
                <a:cs typeface="Calibri Light"/>
              </a:rPr>
              <a:t> </a:t>
            </a:r>
            <a:r>
              <a:rPr sz="4266" dirty="0">
                <a:solidFill>
                  <a:srgbClr val="202020"/>
                </a:solidFill>
                <a:latin typeface="Calibri Light"/>
                <a:cs typeface="Calibri Light"/>
              </a:rPr>
              <a:t>functions.</a:t>
            </a:r>
            <a:r>
              <a:rPr sz="4266" spc="-258" dirty="0">
                <a:solidFill>
                  <a:srgbClr val="202020"/>
                </a:solidFill>
                <a:latin typeface="Calibri Light"/>
                <a:cs typeface="Calibri Light"/>
              </a:rPr>
              <a:t> </a:t>
            </a:r>
            <a:r>
              <a:rPr sz="4266" dirty="0">
                <a:solidFill>
                  <a:srgbClr val="202020"/>
                </a:solidFill>
                <a:latin typeface="Calibri Light"/>
                <a:cs typeface="Calibri Light"/>
              </a:rPr>
              <a:t>This</a:t>
            </a:r>
            <a:r>
              <a:rPr sz="4266" spc="89" dirty="0">
                <a:solidFill>
                  <a:srgbClr val="202020"/>
                </a:solidFill>
                <a:latin typeface="Calibri Light"/>
                <a:cs typeface="Calibri Light"/>
              </a:rPr>
              <a:t> </a:t>
            </a:r>
            <a:r>
              <a:rPr sz="4266" dirty="0">
                <a:solidFill>
                  <a:srgbClr val="202020"/>
                </a:solidFill>
                <a:latin typeface="Calibri Light"/>
                <a:cs typeface="Calibri Light"/>
              </a:rPr>
              <a:t>is</a:t>
            </a:r>
            <a:r>
              <a:rPr sz="4266" spc="-53" dirty="0">
                <a:solidFill>
                  <a:srgbClr val="202020"/>
                </a:solidFill>
                <a:latin typeface="Calibri Light"/>
                <a:cs typeface="Calibri Light"/>
              </a:rPr>
              <a:t> </a:t>
            </a:r>
            <a:r>
              <a:rPr sz="4266" dirty="0">
                <a:solidFill>
                  <a:srgbClr val="202020"/>
                </a:solidFill>
                <a:latin typeface="Calibri Light"/>
                <a:cs typeface="Calibri Light"/>
              </a:rPr>
              <a:t>achieved</a:t>
            </a:r>
            <a:r>
              <a:rPr sz="4266" spc="-71" dirty="0">
                <a:solidFill>
                  <a:srgbClr val="202020"/>
                </a:solidFill>
                <a:latin typeface="Calibri Light"/>
                <a:cs typeface="Calibri Light"/>
              </a:rPr>
              <a:t> </a:t>
            </a:r>
            <a:r>
              <a:rPr sz="4266" spc="-18" dirty="0">
                <a:solidFill>
                  <a:srgbClr val="202020"/>
                </a:solidFill>
                <a:latin typeface="Calibri Light"/>
                <a:cs typeface="Calibri Light"/>
              </a:rPr>
              <a:t>using </a:t>
            </a:r>
            <a:r>
              <a:rPr sz="4266" dirty="0">
                <a:solidFill>
                  <a:srgbClr val="202020"/>
                </a:solidFill>
                <a:latin typeface="Calibri Light"/>
                <a:cs typeface="Calibri Light"/>
              </a:rPr>
              <a:t>dplyr’s</a:t>
            </a:r>
            <a:r>
              <a:rPr sz="4266" spc="-178" dirty="0">
                <a:solidFill>
                  <a:srgbClr val="202020"/>
                </a:solidFill>
                <a:latin typeface="Calibri Light"/>
                <a:cs typeface="Calibri Light"/>
              </a:rPr>
              <a:t> </a:t>
            </a:r>
            <a:r>
              <a:rPr sz="4266" dirty="0">
                <a:solidFill>
                  <a:srgbClr val="202020"/>
                </a:solidFill>
                <a:latin typeface="Calibri Light"/>
                <a:cs typeface="Calibri Light"/>
              </a:rPr>
              <a:t>pipe</a:t>
            </a:r>
            <a:r>
              <a:rPr sz="4266" spc="27" dirty="0">
                <a:solidFill>
                  <a:srgbClr val="202020"/>
                </a:solidFill>
                <a:latin typeface="Calibri Light"/>
                <a:cs typeface="Calibri Light"/>
              </a:rPr>
              <a:t> </a:t>
            </a:r>
            <a:r>
              <a:rPr sz="4266" spc="-53" dirty="0">
                <a:solidFill>
                  <a:srgbClr val="202020"/>
                </a:solidFill>
                <a:latin typeface="Calibri Light"/>
                <a:cs typeface="Calibri Light"/>
              </a:rPr>
              <a:t>operator,</a:t>
            </a:r>
            <a:r>
              <a:rPr sz="4266" spc="-258" dirty="0">
                <a:solidFill>
                  <a:srgbClr val="202020"/>
                </a:solidFill>
                <a:latin typeface="Calibri Light"/>
                <a:cs typeface="Calibri Light"/>
              </a:rPr>
              <a:t> </a:t>
            </a:r>
            <a:r>
              <a:rPr sz="4266" dirty="0">
                <a:solidFill>
                  <a:srgbClr val="202020"/>
                </a:solidFill>
                <a:latin typeface="Calibri Light"/>
                <a:cs typeface="Calibri Light"/>
              </a:rPr>
              <a:t>%&gt;%.</a:t>
            </a:r>
            <a:r>
              <a:rPr sz="4266" spc="-107" dirty="0">
                <a:solidFill>
                  <a:srgbClr val="202020"/>
                </a:solidFill>
                <a:latin typeface="Calibri Light"/>
                <a:cs typeface="Calibri Light"/>
              </a:rPr>
              <a:t> </a:t>
            </a:r>
            <a:r>
              <a:rPr sz="4266" dirty="0">
                <a:solidFill>
                  <a:srgbClr val="202020"/>
                </a:solidFill>
                <a:latin typeface="Calibri Light"/>
                <a:cs typeface="Calibri Light"/>
              </a:rPr>
              <a:t>This</a:t>
            </a:r>
            <a:r>
              <a:rPr sz="4266" spc="71" dirty="0">
                <a:solidFill>
                  <a:srgbClr val="202020"/>
                </a:solidFill>
                <a:latin typeface="Calibri Light"/>
                <a:cs typeface="Calibri Light"/>
              </a:rPr>
              <a:t> </a:t>
            </a:r>
            <a:r>
              <a:rPr sz="4266" spc="-18" dirty="0">
                <a:solidFill>
                  <a:srgbClr val="202020"/>
                </a:solidFill>
                <a:latin typeface="Calibri Light"/>
                <a:cs typeface="Calibri Light"/>
              </a:rPr>
              <a:t>takes</a:t>
            </a:r>
            <a:r>
              <a:rPr sz="4266" spc="-187" dirty="0">
                <a:solidFill>
                  <a:srgbClr val="202020"/>
                </a:solidFill>
                <a:latin typeface="Calibri Light"/>
                <a:cs typeface="Calibri Light"/>
              </a:rPr>
              <a:t> </a:t>
            </a:r>
            <a:r>
              <a:rPr sz="4266" dirty="0">
                <a:solidFill>
                  <a:srgbClr val="202020"/>
                </a:solidFill>
                <a:latin typeface="Calibri Light"/>
                <a:cs typeface="Calibri Light"/>
              </a:rPr>
              <a:t>the</a:t>
            </a:r>
            <a:r>
              <a:rPr sz="4266" spc="-107" dirty="0">
                <a:solidFill>
                  <a:srgbClr val="202020"/>
                </a:solidFill>
                <a:latin typeface="Calibri Light"/>
                <a:cs typeface="Calibri Light"/>
              </a:rPr>
              <a:t> </a:t>
            </a:r>
            <a:r>
              <a:rPr sz="4266" dirty="0">
                <a:solidFill>
                  <a:srgbClr val="202020"/>
                </a:solidFill>
                <a:latin typeface="Calibri Light"/>
                <a:cs typeface="Calibri Light"/>
              </a:rPr>
              <a:t>value</a:t>
            </a:r>
            <a:r>
              <a:rPr sz="4266" spc="27" dirty="0">
                <a:solidFill>
                  <a:srgbClr val="202020"/>
                </a:solidFill>
                <a:latin typeface="Calibri Light"/>
                <a:cs typeface="Calibri Light"/>
              </a:rPr>
              <a:t> </a:t>
            </a:r>
            <a:r>
              <a:rPr sz="4266" dirty="0">
                <a:solidFill>
                  <a:srgbClr val="202020"/>
                </a:solidFill>
                <a:latin typeface="Calibri Light"/>
                <a:cs typeface="Calibri Light"/>
              </a:rPr>
              <a:t>on</a:t>
            </a:r>
            <a:r>
              <a:rPr sz="4266" spc="-89" dirty="0">
                <a:solidFill>
                  <a:srgbClr val="202020"/>
                </a:solidFill>
                <a:latin typeface="Calibri Light"/>
                <a:cs typeface="Calibri Light"/>
              </a:rPr>
              <a:t> </a:t>
            </a:r>
            <a:r>
              <a:rPr sz="4266" dirty="0">
                <a:solidFill>
                  <a:srgbClr val="202020"/>
                </a:solidFill>
                <a:latin typeface="Calibri Light"/>
                <a:cs typeface="Calibri Light"/>
              </a:rPr>
              <a:t>the</a:t>
            </a:r>
            <a:r>
              <a:rPr sz="4266" spc="-107" dirty="0">
                <a:solidFill>
                  <a:srgbClr val="202020"/>
                </a:solidFill>
                <a:latin typeface="Calibri Light"/>
                <a:cs typeface="Calibri Light"/>
              </a:rPr>
              <a:t> </a:t>
            </a:r>
            <a:r>
              <a:rPr sz="4266" dirty="0">
                <a:solidFill>
                  <a:srgbClr val="202020"/>
                </a:solidFill>
                <a:latin typeface="Calibri Light"/>
                <a:cs typeface="Calibri Light"/>
              </a:rPr>
              <a:t>left,</a:t>
            </a:r>
            <a:r>
              <a:rPr sz="4266" spc="-116" dirty="0">
                <a:solidFill>
                  <a:srgbClr val="202020"/>
                </a:solidFill>
                <a:latin typeface="Calibri Light"/>
                <a:cs typeface="Calibri Light"/>
              </a:rPr>
              <a:t> </a:t>
            </a:r>
            <a:r>
              <a:rPr sz="4266" dirty="0">
                <a:solidFill>
                  <a:srgbClr val="202020"/>
                </a:solidFill>
                <a:latin typeface="Calibri Light"/>
                <a:cs typeface="Calibri Light"/>
              </a:rPr>
              <a:t>and</a:t>
            </a:r>
            <a:r>
              <a:rPr sz="4266" spc="-80" dirty="0">
                <a:solidFill>
                  <a:srgbClr val="202020"/>
                </a:solidFill>
                <a:latin typeface="Calibri Light"/>
                <a:cs typeface="Calibri Light"/>
              </a:rPr>
              <a:t> </a:t>
            </a:r>
            <a:r>
              <a:rPr sz="4266" dirty="0">
                <a:solidFill>
                  <a:srgbClr val="202020"/>
                </a:solidFill>
                <a:latin typeface="Calibri Light"/>
                <a:cs typeface="Calibri Light"/>
              </a:rPr>
              <a:t>passes</a:t>
            </a:r>
            <a:r>
              <a:rPr sz="4266" spc="80" dirty="0">
                <a:solidFill>
                  <a:srgbClr val="202020"/>
                </a:solidFill>
                <a:latin typeface="Calibri Light"/>
                <a:cs typeface="Calibri Light"/>
              </a:rPr>
              <a:t> </a:t>
            </a:r>
            <a:r>
              <a:rPr sz="4266" dirty="0">
                <a:solidFill>
                  <a:srgbClr val="202020"/>
                </a:solidFill>
                <a:latin typeface="Calibri Light"/>
                <a:cs typeface="Calibri Light"/>
              </a:rPr>
              <a:t>it</a:t>
            </a:r>
            <a:r>
              <a:rPr sz="4266" spc="53" dirty="0">
                <a:solidFill>
                  <a:srgbClr val="202020"/>
                </a:solidFill>
                <a:latin typeface="Calibri Light"/>
                <a:cs typeface="Calibri Light"/>
              </a:rPr>
              <a:t> </a:t>
            </a:r>
            <a:r>
              <a:rPr sz="4266" dirty="0">
                <a:solidFill>
                  <a:srgbClr val="202020"/>
                </a:solidFill>
                <a:latin typeface="Calibri Light"/>
                <a:cs typeface="Calibri Light"/>
              </a:rPr>
              <a:t>as</a:t>
            </a:r>
            <a:r>
              <a:rPr sz="4266" spc="-53" dirty="0">
                <a:solidFill>
                  <a:srgbClr val="202020"/>
                </a:solidFill>
                <a:latin typeface="Calibri Light"/>
                <a:cs typeface="Calibri Light"/>
              </a:rPr>
              <a:t> </a:t>
            </a:r>
            <a:r>
              <a:rPr sz="4266" dirty="0">
                <a:solidFill>
                  <a:srgbClr val="202020"/>
                </a:solidFill>
                <a:latin typeface="Calibri Light"/>
                <a:cs typeface="Calibri Light"/>
              </a:rPr>
              <a:t>the</a:t>
            </a:r>
            <a:r>
              <a:rPr sz="4266" spc="-107" dirty="0">
                <a:solidFill>
                  <a:srgbClr val="202020"/>
                </a:solidFill>
                <a:latin typeface="Calibri Light"/>
                <a:cs typeface="Calibri Light"/>
              </a:rPr>
              <a:t> </a:t>
            </a:r>
            <a:r>
              <a:rPr sz="4266" spc="-18" dirty="0">
                <a:solidFill>
                  <a:srgbClr val="202020"/>
                </a:solidFill>
                <a:latin typeface="Calibri Light"/>
                <a:cs typeface="Calibri Light"/>
              </a:rPr>
              <a:t>first </a:t>
            </a:r>
            <a:r>
              <a:rPr sz="4266" dirty="0">
                <a:solidFill>
                  <a:srgbClr val="202020"/>
                </a:solidFill>
                <a:latin typeface="Calibri Light"/>
                <a:cs typeface="Calibri Light"/>
              </a:rPr>
              <a:t>argument</a:t>
            </a:r>
            <a:r>
              <a:rPr sz="4266" spc="-178" dirty="0">
                <a:solidFill>
                  <a:srgbClr val="202020"/>
                </a:solidFill>
                <a:latin typeface="Calibri Light"/>
                <a:cs typeface="Calibri Light"/>
              </a:rPr>
              <a:t> </a:t>
            </a:r>
            <a:r>
              <a:rPr sz="4266" dirty="0">
                <a:solidFill>
                  <a:srgbClr val="202020"/>
                </a:solidFill>
                <a:latin typeface="Calibri Light"/>
                <a:cs typeface="Calibri Light"/>
              </a:rPr>
              <a:t>to</a:t>
            </a:r>
            <a:r>
              <a:rPr sz="4266" spc="-53" dirty="0">
                <a:solidFill>
                  <a:srgbClr val="202020"/>
                </a:solidFill>
                <a:latin typeface="Calibri Light"/>
                <a:cs typeface="Calibri Light"/>
              </a:rPr>
              <a:t> </a:t>
            </a:r>
            <a:r>
              <a:rPr sz="4266" dirty="0">
                <a:solidFill>
                  <a:srgbClr val="202020"/>
                </a:solidFill>
                <a:latin typeface="Calibri Light"/>
                <a:cs typeface="Calibri Light"/>
              </a:rPr>
              <a:t>the</a:t>
            </a:r>
            <a:r>
              <a:rPr sz="4266" spc="80" dirty="0">
                <a:solidFill>
                  <a:srgbClr val="202020"/>
                </a:solidFill>
                <a:latin typeface="Calibri Light"/>
                <a:cs typeface="Calibri Light"/>
              </a:rPr>
              <a:t> </a:t>
            </a:r>
            <a:r>
              <a:rPr sz="4266" dirty="0">
                <a:solidFill>
                  <a:srgbClr val="202020"/>
                </a:solidFill>
                <a:latin typeface="Calibri Light"/>
                <a:cs typeface="Calibri Light"/>
              </a:rPr>
              <a:t>function</a:t>
            </a:r>
            <a:r>
              <a:rPr sz="4266" spc="-329" dirty="0">
                <a:solidFill>
                  <a:srgbClr val="202020"/>
                </a:solidFill>
                <a:latin typeface="Calibri Light"/>
                <a:cs typeface="Calibri Light"/>
              </a:rPr>
              <a:t> </a:t>
            </a:r>
            <a:r>
              <a:rPr sz="4266" dirty="0">
                <a:solidFill>
                  <a:srgbClr val="202020"/>
                </a:solidFill>
                <a:latin typeface="Calibri Light"/>
                <a:cs typeface="Calibri Light"/>
              </a:rPr>
              <a:t>call</a:t>
            </a:r>
            <a:r>
              <a:rPr sz="4266" spc="44" dirty="0">
                <a:solidFill>
                  <a:srgbClr val="202020"/>
                </a:solidFill>
                <a:latin typeface="Calibri Light"/>
                <a:cs typeface="Calibri Light"/>
              </a:rPr>
              <a:t> </a:t>
            </a:r>
            <a:r>
              <a:rPr sz="4266" dirty="0">
                <a:solidFill>
                  <a:srgbClr val="202020"/>
                </a:solidFill>
                <a:latin typeface="Calibri Light"/>
                <a:cs typeface="Calibri Light"/>
              </a:rPr>
              <a:t>on</a:t>
            </a:r>
            <a:r>
              <a:rPr sz="4266" spc="-36" dirty="0">
                <a:solidFill>
                  <a:srgbClr val="202020"/>
                </a:solidFill>
                <a:latin typeface="Calibri Light"/>
                <a:cs typeface="Calibri Light"/>
              </a:rPr>
              <a:t> </a:t>
            </a:r>
            <a:r>
              <a:rPr sz="4266" dirty="0">
                <a:solidFill>
                  <a:srgbClr val="202020"/>
                </a:solidFill>
                <a:latin typeface="Calibri Light"/>
                <a:cs typeface="Calibri Light"/>
              </a:rPr>
              <a:t>the</a:t>
            </a:r>
            <a:r>
              <a:rPr sz="4266" spc="-62" dirty="0">
                <a:solidFill>
                  <a:srgbClr val="202020"/>
                </a:solidFill>
                <a:latin typeface="Calibri Light"/>
                <a:cs typeface="Calibri Light"/>
              </a:rPr>
              <a:t> </a:t>
            </a:r>
            <a:r>
              <a:rPr sz="4266" spc="-18" dirty="0">
                <a:solidFill>
                  <a:srgbClr val="202020"/>
                </a:solidFill>
                <a:latin typeface="Calibri Light"/>
                <a:cs typeface="Calibri Light"/>
              </a:rPr>
              <a:t>right.</a:t>
            </a:r>
            <a:endParaRPr sz="4266">
              <a:latin typeface="Calibri Light"/>
              <a:cs typeface="Calibri Light"/>
            </a:endParaRPr>
          </a:p>
        </p:txBody>
      </p:sp>
      <p:pic>
        <p:nvPicPr>
          <p:cNvPr id="12" name="object 12"/>
          <p:cNvPicPr/>
          <p:nvPr/>
        </p:nvPicPr>
        <p:blipFill>
          <a:blip r:embed="rId5" cstate="print"/>
          <a:stretch>
            <a:fillRect/>
          </a:stretch>
        </p:blipFill>
        <p:spPr>
          <a:xfrm>
            <a:off x="1337705" y="3547708"/>
            <a:ext cx="17864231" cy="1794890"/>
          </a:xfrm>
          <a:prstGeom prst="rect">
            <a:avLst/>
          </a:prstGeom>
        </p:spPr>
      </p:pic>
      <p:pic>
        <p:nvPicPr>
          <p:cNvPr id="13" name="object 4">
            <a:extLst>
              <a:ext uri="{FF2B5EF4-FFF2-40B4-BE49-F238E27FC236}">
                <a16:creationId xmlns:a16="http://schemas.microsoft.com/office/drawing/2014/main" id="{BDD2293F-976F-17C8-4C83-93640D155EDA}"/>
              </a:ext>
            </a:extLst>
          </p:cNvPr>
          <p:cNvPicPr/>
          <p:nvPr/>
        </p:nvPicPr>
        <p:blipFill>
          <a:blip r:embed="rId6" cstate="print"/>
          <a:stretch>
            <a:fillRect/>
          </a:stretch>
        </p:blipFill>
        <p:spPr>
          <a:xfrm>
            <a:off x="18317826" y="533400"/>
            <a:ext cx="2506072" cy="289552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1159669" y="1066800"/>
            <a:ext cx="5087278" cy="1501229"/>
          </a:xfrm>
          <a:prstGeom prst="rect">
            <a:avLst/>
          </a:prstGeom>
        </p:spPr>
        <p:txBody>
          <a:bodyPr vert="horz" wrap="square" lIns="0" tIns="23706" rIns="0" bIns="0" rtlCol="0">
            <a:spAutoFit/>
          </a:bodyPr>
          <a:lstStyle/>
          <a:p>
            <a:pPr marL="22577">
              <a:spcBef>
                <a:spcPts val="187"/>
              </a:spcBef>
            </a:pPr>
            <a:r>
              <a:rPr spc="-240" dirty="0">
                <a:latin typeface="Aptos Black" panose="020B0004020202020204" pitchFamily="34" charset="0"/>
              </a:rPr>
              <a:t>filter</a:t>
            </a:r>
            <a:r>
              <a:rPr spc="-240" dirty="0">
                <a:solidFill>
                  <a:srgbClr val="00BCC8"/>
                </a:solidFill>
                <a:latin typeface="Aptos Black" panose="020B0004020202020204" pitchFamily="34" charset="0"/>
              </a:rPr>
              <a:t>()</a:t>
            </a:r>
          </a:p>
        </p:txBody>
      </p:sp>
      <p:sp>
        <p:nvSpPr>
          <p:cNvPr id="3" name="object 3"/>
          <p:cNvSpPr txBox="1"/>
          <p:nvPr/>
        </p:nvSpPr>
        <p:spPr>
          <a:xfrm>
            <a:off x="1159669" y="2546258"/>
            <a:ext cx="15687786" cy="680399"/>
          </a:xfrm>
          <a:prstGeom prst="rect">
            <a:avLst/>
          </a:prstGeom>
        </p:spPr>
        <p:txBody>
          <a:bodyPr vert="horz" wrap="square" lIns="0" tIns="23706" rIns="0" bIns="0" rtlCol="0">
            <a:spAutoFit/>
          </a:bodyPr>
          <a:lstStyle/>
          <a:p>
            <a:pPr marL="22577">
              <a:spcBef>
                <a:spcPts val="187"/>
              </a:spcBef>
            </a:pPr>
            <a:r>
              <a:rPr sz="4266" dirty="0">
                <a:solidFill>
                  <a:srgbClr val="7E7E7E"/>
                </a:solidFill>
                <a:latin typeface="Calibri Light"/>
                <a:cs typeface="Calibri Light"/>
              </a:rPr>
              <a:t>#</a:t>
            </a:r>
            <a:r>
              <a:rPr sz="4266" spc="36" dirty="0">
                <a:solidFill>
                  <a:srgbClr val="7E7E7E"/>
                </a:solidFill>
                <a:latin typeface="Calibri Light"/>
                <a:cs typeface="Calibri Light"/>
              </a:rPr>
              <a:t> </a:t>
            </a:r>
            <a:r>
              <a:rPr sz="4266" dirty="0">
                <a:solidFill>
                  <a:srgbClr val="7E7E7E"/>
                </a:solidFill>
                <a:latin typeface="Calibri Light"/>
                <a:cs typeface="Calibri Light"/>
              </a:rPr>
              <a:t>dplyr’s</a:t>
            </a:r>
            <a:r>
              <a:rPr sz="4266" spc="18" dirty="0">
                <a:solidFill>
                  <a:srgbClr val="7E7E7E"/>
                </a:solidFill>
                <a:latin typeface="Calibri Light"/>
                <a:cs typeface="Calibri Light"/>
              </a:rPr>
              <a:t> </a:t>
            </a:r>
            <a:r>
              <a:rPr sz="4266" dirty="0">
                <a:solidFill>
                  <a:srgbClr val="7E7E7E"/>
                </a:solidFill>
                <a:latin typeface="Calibri Light"/>
                <a:cs typeface="Calibri Light"/>
              </a:rPr>
              <a:t>filter</a:t>
            </a:r>
            <a:r>
              <a:rPr sz="4266" spc="-249" dirty="0">
                <a:solidFill>
                  <a:srgbClr val="7E7E7E"/>
                </a:solidFill>
                <a:latin typeface="Calibri Light"/>
                <a:cs typeface="Calibri Light"/>
              </a:rPr>
              <a:t> </a:t>
            </a:r>
            <a:r>
              <a:rPr sz="4266" dirty="0">
                <a:solidFill>
                  <a:srgbClr val="7E7E7E"/>
                </a:solidFill>
                <a:latin typeface="Calibri Light"/>
                <a:cs typeface="Calibri Light"/>
              </a:rPr>
              <a:t>function</a:t>
            </a:r>
            <a:r>
              <a:rPr sz="4266" spc="-196" dirty="0">
                <a:solidFill>
                  <a:srgbClr val="7E7E7E"/>
                </a:solidFill>
                <a:latin typeface="Calibri Light"/>
                <a:cs typeface="Calibri Light"/>
              </a:rPr>
              <a:t> </a:t>
            </a:r>
            <a:r>
              <a:rPr sz="4266" dirty="0">
                <a:solidFill>
                  <a:srgbClr val="7E7E7E"/>
                </a:solidFill>
                <a:latin typeface="Calibri Light"/>
                <a:cs typeface="Calibri Light"/>
              </a:rPr>
              <a:t>is</a:t>
            </a:r>
            <a:r>
              <a:rPr sz="4266" spc="-18" dirty="0">
                <a:solidFill>
                  <a:srgbClr val="7E7E7E"/>
                </a:solidFill>
                <a:latin typeface="Calibri Light"/>
                <a:cs typeface="Calibri Light"/>
              </a:rPr>
              <a:t> </a:t>
            </a:r>
            <a:r>
              <a:rPr sz="4266" dirty="0">
                <a:solidFill>
                  <a:srgbClr val="7E7E7E"/>
                </a:solidFill>
                <a:latin typeface="Calibri Light"/>
                <a:cs typeface="Calibri Light"/>
              </a:rPr>
              <a:t>for</a:t>
            </a:r>
            <a:r>
              <a:rPr sz="4266" spc="116" dirty="0">
                <a:solidFill>
                  <a:srgbClr val="7E7E7E"/>
                </a:solidFill>
                <a:latin typeface="Calibri Light"/>
                <a:cs typeface="Calibri Light"/>
              </a:rPr>
              <a:t> </a:t>
            </a:r>
            <a:r>
              <a:rPr sz="4266" dirty="0">
                <a:solidFill>
                  <a:srgbClr val="7E7E7E"/>
                </a:solidFill>
                <a:latin typeface="Calibri Light"/>
                <a:cs typeface="Calibri Light"/>
              </a:rPr>
              <a:t>subsetting</a:t>
            </a:r>
            <a:r>
              <a:rPr sz="4266" spc="-196" dirty="0">
                <a:solidFill>
                  <a:srgbClr val="7E7E7E"/>
                </a:solidFill>
                <a:latin typeface="Calibri Light"/>
                <a:cs typeface="Calibri Light"/>
              </a:rPr>
              <a:t> </a:t>
            </a:r>
            <a:r>
              <a:rPr sz="4266" spc="-18" dirty="0">
                <a:solidFill>
                  <a:srgbClr val="7E7E7E"/>
                </a:solidFill>
                <a:latin typeface="Calibri Light"/>
                <a:cs typeface="Calibri Light"/>
              </a:rPr>
              <a:t>rows/observations</a:t>
            </a:r>
            <a:r>
              <a:rPr sz="4266" spc="-444" dirty="0">
                <a:solidFill>
                  <a:srgbClr val="7E7E7E"/>
                </a:solidFill>
                <a:latin typeface="Calibri Light"/>
                <a:cs typeface="Calibri Light"/>
              </a:rPr>
              <a:t> </a:t>
            </a:r>
            <a:r>
              <a:rPr sz="4266" spc="-18" dirty="0">
                <a:solidFill>
                  <a:srgbClr val="7E7E7E"/>
                </a:solidFill>
                <a:latin typeface="Calibri Light"/>
                <a:cs typeface="Calibri Light"/>
              </a:rPr>
              <a:t>conditionally.</a:t>
            </a:r>
            <a:endParaRPr sz="4266" dirty="0">
              <a:latin typeface="Calibri Light"/>
              <a:cs typeface="Calibri Light"/>
            </a:endParaRPr>
          </a:p>
        </p:txBody>
      </p:sp>
      <p:pic>
        <p:nvPicPr>
          <p:cNvPr id="5" name="object 4">
            <a:extLst>
              <a:ext uri="{FF2B5EF4-FFF2-40B4-BE49-F238E27FC236}">
                <a16:creationId xmlns:a16="http://schemas.microsoft.com/office/drawing/2014/main" id="{0A2B8A63-EE26-02E2-5CAD-20F04AA9781C}"/>
              </a:ext>
            </a:extLst>
          </p:cNvPr>
          <p:cNvPicPr/>
          <p:nvPr/>
        </p:nvPicPr>
        <p:blipFill>
          <a:blip r:embed="rId2" cstate="print"/>
          <a:stretch>
            <a:fillRect/>
          </a:stretch>
        </p:blipFill>
        <p:spPr>
          <a:xfrm>
            <a:off x="18317826" y="533400"/>
            <a:ext cx="2506072" cy="2895529"/>
          </a:xfrm>
          <a:prstGeom prst="rect">
            <a:avLst/>
          </a:prstGeom>
        </p:spPr>
      </p:pic>
      <p:pic>
        <p:nvPicPr>
          <p:cNvPr id="6" name="Picture 5">
            <a:extLst>
              <a:ext uri="{FF2B5EF4-FFF2-40B4-BE49-F238E27FC236}">
                <a16:creationId xmlns:a16="http://schemas.microsoft.com/office/drawing/2014/main" id="{ABEEDD08-D368-7AB7-7274-AF4AA31FF3B9}"/>
              </a:ext>
            </a:extLst>
          </p:cNvPr>
          <p:cNvPicPr>
            <a:picLocks noChangeAspect="1"/>
          </p:cNvPicPr>
          <p:nvPr/>
        </p:nvPicPr>
        <p:blipFill>
          <a:blip r:embed="rId3"/>
          <a:stretch>
            <a:fillRect/>
          </a:stretch>
        </p:blipFill>
        <p:spPr>
          <a:xfrm>
            <a:off x="1159669" y="3810000"/>
            <a:ext cx="19136746" cy="7581151"/>
          </a:xfrm>
          <a:prstGeom prst="rect">
            <a:avLst/>
          </a:prstGeom>
        </p:spPr>
      </p:pic>
      <p:pic>
        <p:nvPicPr>
          <p:cNvPr id="8" name="Picture 7">
            <a:extLst>
              <a:ext uri="{FF2B5EF4-FFF2-40B4-BE49-F238E27FC236}">
                <a16:creationId xmlns:a16="http://schemas.microsoft.com/office/drawing/2014/main" id="{259A0450-1DAC-AF95-7BD1-9EE7620241EE}"/>
              </a:ext>
            </a:extLst>
          </p:cNvPr>
          <p:cNvPicPr>
            <a:picLocks noChangeAspect="1"/>
          </p:cNvPicPr>
          <p:nvPr/>
        </p:nvPicPr>
        <p:blipFill>
          <a:blip r:embed="rId4"/>
          <a:stretch>
            <a:fillRect/>
          </a:stretch>
        </p:blipFill>
        <p:spPr>
          <a:xfrm>
            <a:off x="13261426" y="6348868"/>
            <a:ext cx="3586029" cy="5591120"/>
          </a:xfrm>
          <a:prstGeom prst="rect">
            <a:avLst/>
          </a:prstGeom>
        </p:spPr>
      </p:pic>
      <p:pic>
        <p:nvPicPr>
          <p:cNvPr id="10" name="Picture 9">
            <a:extLst>
              <a:ext uri="{FF2B5EF4-FFF2-40B4-BE49-F238E27FC236}">
                <a16:creationId xmlns:a16="http://schemas.microsoft.com/office/drawing/2014/main" id="{99ABE716-098A-DA7B-CEE9-CB23B1FA6E80}"/>
              </a:ext>
            </a:extLst>
          </p:cNvPr>
          <p:cNvPicPr>
            <a:picLocks noChangeAspect="1"/>
          </p:cNvPicPr>
          <p:nvPr/>
        </p:nvPicPr>
        <p:blipFill>
          <a:blip r:embed="rId5"/>
          <a:stretch>
            <a:fillRect/>
          </a:stretch>
        </p:blipFill>
        <p:spPr>
          <a:xfrm>
            <a:off x="17327579" y="6348868"/>
            <a:ext cx="3161865" cy="2227226"/>
          </a:xfrm>
          <a:prstGeom prst="rect">
            <a:avLst/>
          </a:prstGeom>
        </p:spPr>
      </p:pic>
      <p:sp>
        <p:nvSpPr>
          <p:cNvPr id="11" name="object 2">
            <a:extLst>
              <a:ext uri="{FF2B5EF4-FFF2-40B4-BE49-F238E27FC236}">
                <a16:creationId xmlns:a16="http://schemas.microsoft.com/office/drawing/2014/main" id="{CCC51952-DE1D-F947-32CC-6D4B597AEB99}"/>
              </a:ext>
            </a:extLst>
          </p:cNvPr>
          <p:cNvSpPr txBox="1">
            <a:spLocks/>
          </p:cNvSpPr>
          <p:nvPr/>
        </p:nvSpPr>
        <p:spPr>
          <a:xfrm>
            <a:off x="13230548" y="5540330"/>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a:solidFill>
                  <a:srgbClr val="00BCC8"/>
                </a:solidFill>
                <a:latin typeface="Aptos Black" panose="020B0004020202020204" pitchFamily="34" charset="0"/>
              </a:rPr>
              <a:t>cars</a:t>
            </a:r>
          </a:p>
        </p:txBody>
      </p:sp>
      <p:sp>
        <p:nvSpPr>
          <p:cNvPr id="12" name="object 2">
            <a:extLst>
              <a:ext uri="{FF2B5EF4-FFF2-40B4-BE49-F238E27FC236}">
                <a16:creationId xmlns:a16="http://schemas.microsoft.com/office/drawing/2014/main" id="{49805A48-505A-7FD9-9ED5-6FBC27B06866}"/>
              </a:ext>
            </a:extLst>
          </p:cNvPr>
          <p:cNvSpPr txBox="1">
            <a:spLocks/>
          </p:cNvSpPr>
          <p:nvPr/>
        </p:nvSpPr>
        <p:spPr>
          <a:xfrm>
            <a:off x="17327579" y="5491051"/>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a:solidFill>
                  <a:srgbClr val="00BCC8"/>
                </a:solidFill>
                <a:latin typeface="Aptos Black" panose="020B0004020202020204" pitchFamily="34" charset="0"/>
              </a:rPr>
              <a:t>cars_2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309484" y="210191"/>
            <a:ext cx="16902441" cy="3867189"/>
          </a:xfrm>
          <a:prstGeom prst="rect">
            <a:avLst/>
          </a:prstGeom>
        </p:spPr>
        <p:txBody>
          <a:bodyPr vert="horz" wrap="square" lIns="0" tIns="655868" rIns="0" bIns="0" rtlCol="0">
            <a:spAutoFit/>
          </a:bodyPr>
          <a:lstStyle/>
          <a:p>
            <a:pPr marL="22577">
              <a:spcBef>
                <a:spcPts val="5164"/>
              </a:spcBef>
            </a:pPr>
            <a:r>
              <a:rPr lang="en-CA" spc="-18" dirty="0">
                <a:latin typeface="Aptos Black" panose="020B0004020202020204" pitchFamily="34" charset="0"/>
              </a:rPr>
              <a:t>select</a:t>
            </a:r>
            <a:r>
              <a:rPr lang="en-CA" spc="-18" dirty="0">
                <a:solidFill>
                  <a:srgbClr val="00BCC8"/>
                </a:solidFill>
                <a:latin typeface="Aptos Black" panose="020B0004020202020204" pitchFamily="34" charset="0"/>
              </a:rPr>
              <a:t>()</a:t>
            </a:r>
          </a:p>
          <a:p>
            <a:pPr marL="225768" marR="9031">
              <a:lnSpc>
                <a:spcPct val="130400"/>
              </a:lnSpc>
              <a:spcBef>
                <a:spcPts val="658"/>
              </a:spcBef>
            </a:pPr>
            <a:r>
              <a:rPr lang="en-CA" sz="4266" dirty="0">
                <a:solidFill>
                  <a:srgbClr val="7E7E7E"/>
                </a:solidFill>
              </a:rPr>
              <a:t>#</a:t>
            </a:r>
            <a:r>
              <a:rPr lang="en-CA" sz="4266" spc="27" dirty="0">
                <a:solidFill>
                  <a:srgbClr val="7E7E7E"/>
                </a:solidFill>
              </a:rPr>
              <a:t> </a:t>
            </a:r>
            <a:r>
              <a:rPr lang="en-CA" sz="4266" dirty="0" err="1">
                <a:solidFill>
                  <a:srgbClr val="7E7E7E"/>
                </a:solidFill>
              </a:rPr>
              <a:t>dplyr’s</a:t>
            </a:r>
            <a:r>
              <a:rPr lang="en-CA" sz="4266" dirty="0">
                <a:solidFill>
                  <a:srgbClr val="7E7E7E"/>
                </a:solidFill>
              </a:rPr>
              <a:t> select</a:t>
            </a:r>
            <a:r>
              <a:rPr lang="en-CA" sz="4266" spc="-53" dirty="0">
                <a:solidFill>
                  <a:srgbClr val="7E7E7E"/>
                </a:solidFill>
              </a:rPr>
              <a:t> </a:t>
            </a:r>
            <a:r>
              <a:rPr lang="en-CA" sz="4266" dirty="0">
                <a:solidFill>
                  <a:srgbClr val="7E7E7E"/>
                </a:solidFill>
              </a:rPr>
              <a:t>function</a:t>
            </a:r>
            <a:r>
              <a:rPr lang="en-CA" sz="4266" spc="-347" dirty="0">
                <a:solidFill>
                  <a:srgbClr val="7E7E7E"/>
                </a:solidFill>
              </a:rPr>
              <a:t> </a:t>
            </a:r>
            <a:r>
              <a:rPr lang="en-CA" sz="4266" dirty="0">
                <a:solidFill>
                  <a:srgbClr val="7E7E7E"/>
                </a:solidFill>
              </a:rPr>
              <a:t>is</a:t>
            </a:r>
            <a:r>
              <a:rPr lang="en-CA" sz="4266" spc="116" dirty="0">
                <a:solidFill>
                  <a:srgbClr val="7E7E7E"/>
                </a:solidFill>
              </a:rPr>
              <a:t> </a:t>
            </a:r>
            <a:r>
              <a:rPr lang="en-CA" sz="4266" dirty="0">
                <a:solidFill>
                  <a:srgbClr val="7E7E7E"/>
                </a:solidFill>
              </a:rPr>
              <a:t>for</a:t>
            </a:r>
            <a:r>
              <a:rPr lang="en-CA" sz="4266" spc="-27" dirty="0">
                <a:solidFill>
                  <a:srgbClr val="7E7E7E"/>
                </a:solidFill>
              </a:rPr>
              <a:t> </a:t>
            </a:r>
            <a:r>
              <a:rPr lang="en-CA" sz="4266" dirty="0" err="1">
                <a:solidFill>
                  <a:srgbClr val="7E7E7E"/>
                </a:solidFill>
              </a:rPr>
              <a:t>subsetting</a:t>
            </a:r>
            <a:r>
              <a:rPr lang="en-CA" sz="4266" dirty="0">
                <a:solidFill>
                  <a:srgbClr val="7E7E7E"/>
                </a:solidFill>
              </a:rPr>
              <a:t>,</a:t>
            </a:r>
            <a:r>
              <a:rPr lang="en-CA" sz="4266" spc="-231" dirty="0">
                <a:solidFill>
                  <a:srgbClr val="7E7E7E"/>
                </a:solidFill>
              </a:rPr>
              <a:t> </a:t>
            </a:r>
            <a:r>
              <a:rPr lang="en-CA" sz="4266" dirty="0">
                <a:solidFill>
                  <a:srgbClr val="7E7E7E"/>
                </a:solidFill>
              </a:rPr>
              <a:t>renaming,</a:t>
            </a:r>
            <a:r>
              <a:rPr lang="en-CA" sz="4266" spc="53" dirty="0">
                <a:solidFill>
                  <a:srgbClr val="7E7E7E"/>
                </a:solidFill>
              </a:rPr>
              <a:t> </a:t>
            </a:r>
            <a:r>
              <a:rPr lang="en-CA" sz="4266" dirty="0">
                <a:solidFill>
                  <a:srgbClr val="7E7E7E"/>
                </a:solidFill>
              </a:rPr>
              <a:t>and</a:t>
            </a:r>
            <a:r>
              <a:rPr lang="en-CA" sz="4266" spc="-53" dirty="0">
                <a:solidFill>
                  <a:srgbClr val="7E7E7E"/>
                </a:solidFill>
              </a:rPr>
              <a:t> </a:t>
            </a:r>
            <a:r>
              <a:rPr lang="en-CA" sz="4266" dirty="0">
                <a:solidFill>
                  <a:srgbClr val="7E7E7E"/>
                </a:solidFill>
              </a:rPr>
              <a:t>reordering</a:t>
            </a:r>
            <a:r>
              <a:rPr lang="en-CA" sz="4266" spc="-249" dirty="0">
                <a:solidFill>
                  <a:srgbClr val="7E7E7E"/>
                </a:solidFill>
              </a:rPr>
              <a:t> </a:t>
            </a:r>
            <a:r>
              <a:rPr lang="en-CA" sz="4266" spc="-18" dirty="0">
                <a:solidFill>
                  <a:srgbClr val="7E7E7E"/>
                </a:solidFill>
              </a:rPr>
              <a:t>columns. </a:t>
            </a:r>
            <a:r>
              <a:rPr lang="en-CA" sz="4266" dirty="0">
                <a:solidFill>
                  <a:srgbClr val="7E7E7E"/>
                </a:solidFill>
              </a:rPr>
              <a:t>#</a:t>
            </a:r>
            <a:r>
              <a:rPr lang="en-CA" sz="4266" spc="9" dirty="0">
                <a:solidFill>
                  <a:srgbClr val="7E7E7E"/>
                </a:solidFill>
              </a:rPr>
              <a:t> </a:t>
            </a:r>
            <a:r>
              <a:rPr lang="en-CA" sz="4266" dirty="0">
                <a:solidFill>
                  <a:srgbClr val="7E7E7E"/>
                </a:solidFill>
              </a:rPr>
              <a:t>old</a:t>
            </a:r>
            <a:r>
              <a:rPr lang="en-CA" sz="4266" spc="62" dirty="0">
                <a:solidFill>
                  <a:srgbClr val="7E7E7E"/>
                </a:solidFill>
              </a:rPr>
              <a:t> </a:t>
            </a:r>
            <a:r>
              <a:rPr lang="en-CA" sz="4266" dirty="0">
                <a:solidFill>
                  <a:srgbClr val="7E7E7E"/>
                </a:solidFill>
              </a:rPr>
              <a:t>columns</a:t>
            </a:r>
            <a:r>
              <a:rPr lang="en-CA" sz="4266" spc="-169" dirty="0">
                <a:solidFill>
                  <a:srgbClr val="7E7E7E"/>
                </a:solidFill>
              </a:rPr>
              <a:t> </a:t>
            </a:r>
            <a:r>
              <a:rPr lang="en-CA" sz="4266" dirty="0">
                <a:solidFill>
                  <a:srgbClr val="7E7E7E"/>
                </a:solidFill>
              </a:rPr>
              <a:t>can</a:t>
            </a:r>
            <a:r>
              <a:rPr lang="en-CA" sz="4266" spc="-89" dirty="0">
                <a:solidFill>
                  <a:srgbClr val="7E7E7E"/>
                </a:solidFill>
              </a:rPr>
              <a:t> </a:t>
            </a:r>
            <a:r>
              <a:rPr lang="en-CA" sz="4266" dirty="0">
                <a:solidFill>
                  <a:srgbClr val="7E7E7E"/>
                </a:solidFill>
              </a:rPr>
              <a:t>be</a:t>
            </a:r>
            <a:r>
              <a:rPr lang="en-CA" sz="4266" spc="53" dirty="0">
                <a:solidFill>
                  <a:srgbClr val="7E7E7E"/>
                </a:solidFill>
              </a:rPr>
              <a:t> </a:t>
            </a:r>
            <a:r>
              <a:rPr lang="en-CA" sz="4266" spc="-18" dirty="0">
                <a:solidFill>
                  <a:srgbClr val="7E7E7E"/>
                </a:solidFill>
              </a:rPr>
              <a:t>referred</a:t>
            </a:r>
            <a:r>
              <a:rPr lang="en-CA" sz="4266" spc="-356" dirty="0">
                <a:solidFill>
                  <a:srgbClr val="7E7E7E"/>
                </a:solidFill>
              </a:rPr>
              <a:t> </a:t>
            </a:r>
            <a:r>
              <a:rPr lang="en-CA" sz="4266" dirty="0">
                <a:solidFill>
                  <a:srgbClr val="7E7E7E"/>
                </a:solidFill>
              </a:rPr>
              <a:t>to</a:t>
            </a:r>
            <a:r>
              <a:rPr lang="en-CA" sz="4266" spc="-80" dirty="0">
                <a:solidFill>
                  <a:srgbClr val="7E7E7E"/>
                </a:solidFill>
              </a:rPr>
              <a:t> </a:t>
            </a:r>
            <a:r>
              <a:rPr lang="en-CA" sz="4266" dirty="0">
                <a:solidFill>
                  <a:srgbClr val="7E7E7E"/>
                </a:solidFill>
              </a:rPr>
              <a:t>by name</a:t>
            </a:r>
            <a:r>
              <a:rPr lang="en-CA" sz="4266" spc="53" dirty="0">
                <a:solidFill>
                  <a:srgbClr val="7E7E7E"/>
                </a:solidFill>
              </a:rPr>
              <a:t> </a:t>
            </a:r>
            <a:r>
              <a:rPr lang="en-CA" sz="4266" dirty="0">
                <a:solidFill>
                  <a:srgbClr val="7E7E7E"/>
                </a:solidFill>
              </a:rPr>
              <a:t>or</a:t>
            </a:r>
            <a:r>
              <a:rPr lang="en-CA" sz="4266" spc="18" dirty="0">
                <a:solidFill>
                  <a:srgbClr val="7E7E7E"/>
                </a:solidFill>
              </a:rPr>
              <a:t> </a:t>
            </a:r>
            <a:r>
              <a:rPr lang="en-CA" sz="4266" dirty="0">
                <a:solidFill>
                  <a:srgbClr val="7E7E7E"/>
                </a:solidFill>
              </a:rPr>
              <a:t>by</a:t>
            </a:r>
            <a:r>
              <a:rPr lang="en-CA" sz="4266" spc="9" dirty="0">
                <a:solidFill>
                  <a:srgbClr val="7E7E7E"/>
                </a:solidFill>
              </a:rPr>
              <a:t> </a:t>
            </a:r>
            <a:r>
              <a:rPr lang="en-CA" sz="4266" spc="-18" dirty="0">
                <a:solidFill>
                  <a:srgbClr val="7E7E7E"/>
                </a:solidFill>
              </a:rPr>
              <a:t>number.</a:t>
            </a:r>
            <a:endParaRPr lang="en-CA" sz="4266" dirty="0"/>
          </a:p>
        </p:txBody>
      </p:sp>
      <p:pic>
        <p:nvPicPr>
          <p:cNvPr id="9" name="object 4">
            <a:extLst>
              <a:ext uri="{FF2B5EF4-FFF2-40B4-BE49-F238E27FC236}">
                <a16:creationId xmlns:a16="http://schemas.microsoft.com/office/drawing/2014/main" id="{A270F454-36F2-5423-EA13-8720479BCB76}"/>
              </a:ext>
            </a:extLst>
          </p:cNvPr>
          <p:cNvPicPr/>
          <p:nvPr/>
        </p:nvPicPr>
        <p:blipFill>
          <a:blip r:embed="rId2" cstate="print"/>
          <a:stretch>
            <a:fillRect/>
          </a:stretch>
        </p:blipFill>
        <p:spPr>
          <a:xfrm>
            <a:off x="18317826" y="533400"/>
            <a:ext cx="2506072" cy="2895529"/>
          </a:xfrm>
          <a:prstGeom prst="rect">
            <a:avLst/>
          </a:prstGeom>
        </p:spPr>
      </p:pic>
      <p:pic>
        <p:nvPicPr>
          <p:cNvPr id="10" name="Picture 9">
            <a:extLst>
              <a:ext uri="{FF2B5EF4-FFF2-40B4-BE49-F238E27FC236}">
                <a16:creationId xmlns:a16="http://schemas.microsoft.com/office/drawing/2014/main" id="{E17338CC-66EB-6849-6AB4-85E054917B86}"/>
              </a:ext>
            </a:extLst>
          </p:cNvPr>
          <p:cNvPicPr>
            <a:picLocks noChangeAspect="1"/>
          </p:cNvPicPr>
          <p:nvPr/>
        </p:nvPicPr>
        <p:blipFill>
          <a:blip r:embed="rId3"/>
          <a:stretch>
            <a:fillRect/>
          </a:stretch>
        </p:blipFill>
        <p:spPr>
          <a:xfrm>
            <a:off x="1540669" y="4267200"/>
            <a:ext cx="18592800" cy="7373954"/>
          </a:xfrm>
          <a:prstGeom prst="rect">
            <a:avLst/>
          </a:prstGeom>
        </p:spPr>
      </p:pic>
      <p:sp>
        <p:nvSpPr>
          <p:cNvPr id="11" name="Rectangle 10">
            <a:extLst>
              <a:ext uri="{FF2B5EF4-FFF2-40B4-BE49-F238E27FC236}">
                <a16:creationId xmlns:a16="http://schemas.microsoft.com/office/drawing/2014/main" id="{60FFF618-66B2-FCA0-F3DC-B74C9C45B8AF}"/>
              </a:ext>
            </a:extLst>
          </p:cNvPr>
          <p:cNvSpPr/>
          <p:nvPr/>
        </p:nvSpPr>
        <p:spPr>
          <a:xfrm>
            <a:off x="1540669" y="4267201"/>
            <a:ext cx="18592800" cy="2667000"/>
          </a:xfrm>
          <a:prstGeom prst="rect">
            <a:avLst/>
          </a:prstGeom>
          <a:solidFill>
            <a:srgbClr val="000000">
              <a:alpha val="7098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7D3A211B-448A-E705-87E5-D8CF8712E9D8}"/>
              </a:ext>
            </a:extLst>
          </p:cNvPr>
          <p:cNvSpPr/>
          <p:nvPr/>
        </p:nvSpPr>
        <p:spPr>
          <a:xfrm>
            <a:off x="1540669" y="8030377"/>
            <a:ext cx="18592800" cy="3475823"/>
          </a:xfrm>
          <a:prstGeom prst="rect">
            <a:avLst/>
          </a:prstGeom>
          <a:solidFill>
            <a:srgbClr val="0000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5" name="Picture 14">
            <a:extLst>
              <a:ext uri="{FF2B5EF4-FFF2-40B4-BE49-F238E27FC236}">
                <a16:creationId xmlns:a16="http://schemas.microsoft.com/office/drawing/2014/main" id="{7027989B-9CE3-59D4-F531-B053A637F3FA}"/>
              </a:ext>
            </a:extLst>
          </p:cNvPr>
          <p:cNvPicPr>
            <a:picLocks noChangeAspect="1"/>
          </p:cNvPicPr>
          <p:nvPr/>
        </p:nvPicPr>
        <p:blipFill>
          <a:blip r:embed="rId4"/>
          <a:stretch>
            <a:fillRect/>
          </a:stretch>
        </p:blipFill>
        <p:spPr>
          <a:xfrm>
            <a:off x="16628269" y="6295121"/>
            <a:ext cx="3619276" cy="5544423"/>
          </a:xfrm>
          <a:prstGeom prst="rect">
            <a:avLst/>
          </a:prstGeom>
        </p:spPr>
      </p:pic>
      <p:sp>
        <p:nvSpPr>
          <p:cNvPr id="13" name="object 2">
            <a:extLst>
              <a:ext uri="{FF2B5EF4-FFF2-40B4-BE49-F238E27FC236}">
                <a16:creationId xmlns:a16="http://schemas.microsoft.com/office/drawing/2014/main" id="{69803B18-7E3E-4058-2C2C-6FF26958F0B1}"/>
              </a:ext>
            </a:extLst>
          </p:cNvPr>
          <p:cNvSpPr txBox="1">
            <a:spLocks/>
          </p:cNvSpPr>
          <p:nvPr/>
        </p:nvSpPr>
        <p:spPr>
          <a:xfrm>
            <a:off x="16780669" y="5456849"/>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a:solidFill>
                  <a:srgbClr val="00BCC8"/>
                </a:solidFill>
                <a:latin typeface="Aptos Black" panose="020B0004020202020204" pitchFamily="34" charset="0"/>
              </a:rPr>
              <a:t>cars_3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object 9"/>
          <p:cNvSpPr txBox="1">
            <a:spLocks noGrp="1"/>
          </p:cNvSpPr>
          <p:nvPr>
            <p:ph type="title"/>
          </p:nvPr>
        </p:nvSpPr>
        <p:spPr>
          <a:xfrm>
            <a:off x="1309483" y="1490946"/>
            <a:ext cx="6022385" cy="1501265"/>
          </a:xfrm>
          <a:prstGeom prst="rect">
            <a:avLst/>
          </a:prstGeom>
        </p:spPr>
        <p:txBody>
          <a:bodyPr vert="horz" wrap="square" lIns="0" tIns="23706" rIns="0" bIns="0" rtlCol="0">
            <a:spAutoFit/>
          </a:bodyPr>
          <a:lstStyle/>
          <a:p>
            <a:pPr marL="22577">
              <a:spcBef>
                <a:spcPts val="187"/>
              </a:spcBef>
            </a:pPr>
            <a:r>
              <a:rPr spc="-284" dirty="0">
                <a:latin typeface="Aptos Black" panose="020B0004020202020204" pitchFamily="34" charset="0"/>
              </a:rPr>
              <a:t>mutate</a:t>
            </a:r>
            <a:r>
              <a:rPr spc="-284" dirty="0">
                <a:solidFill>
                  <a:srgbClr val="00BCC8"/>
                </a:solidFill>
                <a:latin typeface="Aptos Black" panose="020B0004020202020204" pitchFamily="34" charset="0"/>
              </a:rPr>
              <a:t>()</a:t>
            </a:r>
          </a:p>
        </p:txBody>
      </p:sp>
      <p:sp>
        <p:nvSpPr>
          <p:cNvPr id="10" name="object 10"/>
          <p:cNvSpPr txBox="1"/>
          <p:nvPr/>
        </p:nvSpPr>
        <p:spPr>
          <a:xfrm>
            <a:off x="1513243" y="3351196"/>
            <a:ext cx="17182398" cy="680399"/>
          </a:xfrm>
          <a:prstGeom prst="rect">
            <a:avLst/>
          </a:prstGeom>
        </p:spPr>
        <p:txBody>
          <a:bodyPr vert="horz" wrap="square" lIns="0" tIns="23706" rIns="0" bIns="0" rtlCol="0">
            <a:spAutoFit/>
          </a:bodyPr>
          <a:lstStyle/>
          <a:p>
            <a:pPr marL="22577">
              <a:spcBef>
                <a:spcPts val="187"/>
              </a:spcBef>
            </a:pPr>
            <a:r>
              <a:rPr sz="4266" dirty="0">
                <a:solidFill>
                  <a:srgbClr val="7E7E7E"/>
                </a:solidFill>
                <a:latin typeface="Calibri Light"/>
                <a:cs typeface="Calibri Light"/>
              </a:rPr>
              <a:t>#</a:t>
            </a:r>
            <a:r>
              <a:rPr sz="4266" spc="9" dirty="0">
                <a:solidFill>
                  <a:srgbClr val="7E7E7E"/>
                </a:solidFill>
                <a:latin typeface="Calibri Light"/>
                <a:cs typeface="Calibri Light"/>
              </a:rPr>
              <a:t> </a:t>
            </a:r>
            <a:r>
              <a:rPr sz="4266" dirty="0">
                <a:solidFill>
                  <a:srgbClr val="7E7E7E"/>
                </a:solidFill>
                <a:latin typeface="Calibri Light"/>
                <a:cs typeface="Calibri Light"/>
              </a:rPr>
              <a:t>mutate</a:t>
            </a:r>
            <a:r>
              <a:rPr sz="4266" spc="-249" dirty="0">
                <a:solidFill>
                  <a:srgbClr val="7E7E7E"/>
                </a:solidFill>
                <a:latin typeface="Calibri Light"/>
                <a:cs typeface="Calibri Light"/>
              </a:rPr>
              <a:t> </a:t>
            </a:r>
            <a:r>
              <a:rPr sz="4266" dirty="0">
                <a:solidFill>
                  <a:srgbClr val="7E7E7E"/>
                </a:solidFill>
                <a:latin typeface="Calibri Light"/>
                <a:cs typeface="Calibri Light"/>
              </a:rPr>
              <a:t>lets</a:t>
            </a:r>
            <a:r>
              <a:rPr sz="4266" spc="-27" dirty="0">
                <a:solidFill>
                  <a:srgbClr val="7E7E7E"/>
                </a:solidFill>
                <a:latin typeface="Calibri Light"/>
                <a:cs typeface="Calibri Light"/>
              </a:rPr>
              <a:t> </a:t>
            </a:r>
            <a:r>
              <a:rPr sz="4266" dirty="0">
                <a:solidFill>
                  <a:srgbClr val="7E7E7E"/>
                </a:solidFill>
                <a:latin typeface="Calibri Light"/>
                <a:cs typeface="Calibri Light"/>
              </a:rPr>
              <a:t>us</a:t>
            </a:r>
            <a:r>
              <a:rPr sz="4266" spc="-27" dirty="0">
                <a:solidFill>
                  <a:srgbClr val="7E7E7E"/>
                </a:solidFill>
                <a:latin typeface="Calibri Light"/>
                <a:cs typeface="Calibri Light"/>
              </a:rPr>
              <a:t> </a:t>
            </a:r>
            <a:r>
              <a:rPr sz="4266" dirty="0">
                <a:solidFill>
                  <a:srgbClr val="7E7E7E"/>
                </a:solidFill>
                <a:latin typeface="Calibri Light"/>
                <a:cs typeface="Calibri Light"/>
              </a:rPr>
              <a:t>add</a:t>
            </a:r>
            <a:r>
              <a:rPr sz="4266" spc="-71" dirty="0">
                <a:solidFill>
                  <a:srgbClr val="7E7E7E"/>
                </a:solidFill>
                <a:latin typeface="Calibri Light"/>
                <a:cs typeface="Calibri Light"/>
              </a:rPr>
              <a:t> </a:t>
            </a:r>
            <a:r>
              <a:rPr sz="4266" dirty="0">
                <a:solidFill>
                  <a:srgbClr val="7E7E7E"/>
                </a:solidFill>
                <a:latin typeface="Calibri Light"/>
                <a:cs typeface="Calibri Light"/>
              </a:rPr>
              <a:t>or</a:t>
            </a:r>
            <a:r>
              <a:rPr sz="4266" spc="18" dirty="0">
                <a:solidFill>
                  <a:srgbClr val="7E7E7E"/>
                </a:solidFill>
                <a:latin typeface="Calibri Light"/>
                <a:cs typeface="Calibri Light"/>
              </a:rPr>
              <a:t> </a:t>
            </a:r>
            <a:r>
              <a:rPr sz="4266" dirty="0">
                <a:solidFill>
                  <a:srgbClr val="7E7E7E"/>
                </a:solidFill>
                <a:latin typeface="Calibri Light"/>
                <a:cs typeface="Calibri Light"/>
              </a:rPr>
              <a:t>overwrite</a:t>
            </a:r>
            <a:r>
              <a:rPr sz="4266" spc="-107" dirty="0">
                <a:solidFill>
                  <a:srgbClr val="7E7E7E"/>
                </a:solidFill>
                <a:latin typeface="Calibri Light"/>
                <a:cs typeface="Calibri Light"/>
              </a:rPr>
              <a:t> </a:t>
            </a:r>
            <a:r>
              <a:rPr sz="4266" dirty="0">
                <a:solidFill>
                  <a:srgbClr val="7E7E7E"/>
                </a:solidFill>
                <a:latin typeface="Calibri Light"/>
                <a:cs typeface="Calibri Light"/>
              </a:rPr>
              <a:t>columns</a:t>
            </a:r>
            <a:r>
              <a:rPr sz="4266" spc="-178" dirty="0">
                <a:solidFill>
                  <a:srgbClr val="7E7E7E"/>
                </a:solidFill>
                <a:latin typeface="Calibri Light"/>
                <a:cs typeface="Calibri Light"/>
              </a:rPr>
              <a:t> </a:t>
            </a:r>
            <a:r>
              <a:rPr sz="4266" dirty="0">
                <a:solidFill>
                  <a:srgbClr val="7E7E7E"/>
                </a:solidFill>
                <a:latin typeface="Calibri Light"/>
                <a:cs typeface="Calibri Light"/>
              </a:rPr>
              <a:t>by</a:t>
            </a:r>
            <a:r>
              <a:rPr sz="4266" spc="9" dirty="0">
                <a:solidFill>
                  <a:srgbClr val="7E7E7E"/>
                </a:solidFill>
                <a:latin typeface="Calibri Light"/>
                <a:cs typeface="Calibri Light"/>
              </a:rPr>
              <a:t> </a:t>
            </a:r>
            <a:r>
              <a:rPr sz="4266" dirty="0">
                <a:solidFill>
                  <a:srgbClr val="7E7E7E"/>
                </a:solidFill>
                <a:latin typeface="Calibri Light"/>
                <a:cs typeface="Calibri Light"/>
              </a:rPr>
              <a:t>computing</a:t>
            </a:r>
            <a:r>
              <a:rPr sz="4266" spc="-258" dirty="0">
                <a:solidFill>
                  <a:srgbClr val="7E7E7E"/>
                </a:solidFill>
                <a:latin typeface="Calibri Light"/>
                <a:cs typeface="Calibri Light"/>
              </a:rPr>
              <a:t> </a:t>
            </a:r>
            <a:r>
              <a:rPr sz="4266" dirty="0">
                <a:solidFill>
                  <a:srgbClr val="7E7E7E"/>
                </a:solidFill>
                <a:latin typeface="Calibri Light"/>
                <a:cs typeface="Calibri Light"/>
              </a:rPr>
              <a:t>a</a:t>
            </a:r>
            <a:r>
              <a:rPr sz="4266" spc="18" dirty="0">
                <a:solidFill>
                  <a:srgbClr val="7E7E7E"/>
                </a:solidFill>
                <a:latin typeface="Calibri Light"/>
                <a:cs typeface="Calibri Light"/>
              </a:rPr>
              <a:t> </a:t>
            </a:r>
            <a:r>
              <a:rPr sz="4266" dirty="0">
                <a:solidFill>
                  <a:srgbClr val="7E7E7E"/>
                </a:solidFill>
                <a:latin typeface="Calibri Light"/>
                <a:cs typeface="Calibri Light"/>
              </a:rPr>
              <a:t>new</a:t>
            </a:r>
            <a:r>
              <a:rPr sz="4266" spc="-27" dirty="0">
                <a:solidFill>
                  <a:srgbClr val="7E7E7E"/>
                </a:solidFill>
                <a:latin typeface="Calibri Light"/>
                <a:cs typeface="Calibri Light"/>
              </a:rPr>
              <a:t> </a:t>
            </a:r>
            <a:r>
              <a:rPr sz="4266" dirty="0">
                <a:solidFill>
                  <a:srgbClr val="7E7E7E"/>
                </a:solidFill>
                <a:latin typeface="Calibri Light"/>
                <a:cs typeface="Calibri Light"/>
              </a:rPr>
              <a:t>value</a:t>
            </a:r>
            <a:r>
              <a:rPr sz="4266" spc="-107" dirty="0">
                <a:solidFill>
                  <a:srgbClr val="7E7E7E"/>
                </a:solidFill>
                <a:latin typeface="Calibri Light"/>
                <a:cs typeface="Calibri Light"/>
              </a:rPr>
              <a:t> </a:t>
            </a:r>
            <a:r>
              <a:rPr sz="4266" dirty="0">
                <a:solidFill>
                  <a:srgbClr val="7E7E7E"/>
                </a:solidFill>
                <a:latin typeface="Calibri Light"/>
                <a:cs typeface="Calibri Light"/>
              </a:rPr>
              <a:t>for</a:t>
            </a:r>
            <a:r>
              <a:rPr sz="4266" spc="27" dirty="0">
                <a:solidFill>
                  <a:srgbClr val="7E7E7E"/>
                </a:solidFill>
                <a:latin typeface="Calibri Light"/>
                <a:cs typeface="Calibri Light"/>
              </a:rPr>
              <a:t> </a:t>
            </a:r>
            <a:r>
              <a:rPr sz="4266" spc="-18" dirty="0">
                <a:solidFill>
                  <a:srgbClr val="7E7E7E"/>
                </a:solidFill>
                <a:latin typeface="Calibri Light"/>
                <a:cs typeface="Calibri Light"/>
              </a:rPr>
              <a:t>them.</a:t>
            </a:r>
            <a:endParaRPr sz="4266">
              <a:latin typeface="Calibri Light"/>
              <a:cs typeface="Calibri Light"/>
            </a:endParaRPr>
          </a:p>
        </p:txBody>
      </p:sp>
      <p:sp>
        <p:nvSpPr>
          <p:cNvPr id="12" name="object 12"/>
          <p:cNvSpPr txBox="1"/>
          <p:nvPr/>
        </p:nvSpPr>
        <p:spPr>
          <a:xfrm>
            <a:off x="14050940" y="8675696"/>
            <a:ext cx="3484795" cy="997139"/>
          </a:xfrm>
          <a:prstGeom prst="rect">
            <a:avLst/>
          </a:prstGeom>
        </p:spPr>
        <p:txBody>
          <a:bodyPr vert="horz" wrap="square" lIns="0" tIns="34995" rIns="0" bIns="0" rtlCol="0">
            <a:spAutoFit/>
          </a:bodyPr>
          <a:lstStyle/>
          <a:p>
            <a:pPr marL="22577" marR="9031" algn="ctr">
              <a:lnSpc>
                <a:spcPts val="2542"/>
              </a:lnSpc>
              <a:spcBef>
                <a:spcPts val="276"/>
              </a:spcBef>
            </a:pPr>
            <a:r>
              <a:rPr sz="2133" dirty="0">
                <a:solidFill>
                  <a:srgbClr val="FFFFFF"/>
                </a:solidFill>
                <a:latin typeface="Calibri Light"/>
                <a:cs typeface="Calibri Light"/>
              </a:rPr>
              <a:t>NA_real_</a:t>
            </a:r>
            <a:r>
              <a:rPr sz="2133" spc="382" dirty="0">
                <a:solidFill>
                  <a:srgbClr val="FFFFFF"/>
                </a:solidFill>
                <a:latin typeface="Calibri Light"/>
                <a:cs typeface="Calibri Light"/>
              </a:rPr>
              <a:t> </a:t>
            </a:r>
            <a:r>
              <a:rPr sz="2133" dirty="0">
                <a:solidFill>
                  <a:srgbClr val="FFFFFF"/>
                </a:solidFill>
                <a:latin typeface="Calibri Light"/>
                <a:cs typeface="Calibri Light"/>
              </a:rPr>
              <a:t>for</a:t>
            </a:r>
            <a:r>
              <a:rPr sz="2133" spc="9" dirty="0">
                <a:solidFill>
                  <a:srgbClr val="FFFFFF"/>
                </a:solidFill>
                <a:latin typeface="Calibri Light"/>
                <a:cs typeface="Calibri Light"/>
              </a:rPr>
              <a:t> </a:t>
            </a:r>
            <a:r>
              <a:rPr sz="2133" dirty="0">
                <a:solidFill>
                  <a:srgbClr val="FFFFFF"/>
                </a:solidFill>
                <a:latin typeface="Calibri Light"/>
                <a:cs typeface="Calibri Light"/>
              </a:rPr>
              <a:t>numeric</a:t>
            </a:r>
            <a:r>
              <a:rPr sz="2133" spc="-18" dirty="0">
                <a:solidFill>
                  <a:srgbClr val="FFFFFF"/>
                </a:solidFill>
                <a:latin typeface="Calibri Light"/>
                <a:cs typeface="Calibri Light"/>
              </a:rPr>
              <a:t> variables </a:t>
            </a:r>
            <a:r>
              <a:rPr sz="2133" dirty="0">
                <a:solidFill>
                  <a:srgbClr val="FFFFFF"/>
                </a:solidFill>
                <a:latin typeface="Calibri Light"/>
                <a:cs typeface="Calibri Light"/>
              </a:rPr>
              <a:t>NA_character_</a:t>
            </a:r>
            <a:r>
              <a:rPr sz="2133" spc="-98" dirty="0">
                <a:solidFill>
                  <a:srgbClr val="FFFFFF"/>
                </a:solidFill>
                <a:latin typeface="Calibri Light"/>
                <a:cs typeface="Calibri Light"/>
              </a:rPr>
              <a:t> </a:t>
            </a:r>
            <a:r>
              <a:rPr sz="2133" dirty="0">
                <a:solidFill>
                  <a:srgbClr val="FFFFFF"/>
                </a:solidFill>
                <a:latin typeface="Calibri Light"/>
                <a:cs typeface="Calibri Light"/>
              </a:rPr>
              <a:t>for</a:t>
            </a:r>
            <a:r>
              <a:rPr sz="2133" spc="-36" dirty="0">
                <a:solidFill>
                  <a:srgbClr val="FFFFFF"/>
                </a:solidFill>
                <a:latin typeface="Calibri Light"/>
                <a:cs typeface="Calibri Light"/>
              </a:rPr>
              <a:t> </a:t>
            </a:r>
            <a:r>
              <a:rPr sz="2133" spc="-18" dirty="0">
                <a:solidFill>
                  <a:srgbClr val="FFFFFF"/>
                </a:solidFill>
                <a:latin typeface="Calibri Light"/>
                <a:cs typeface="Calibri Light"/>
              </a:rPr>
              <a:t>character variables</a:t>
            </a:r>
            <a:endParaRPr sz="2133">
              <a:latin typeface="Calibri Light"/>
              <a:cs typeface="Calibri Light"/>
            </a:endParaRPr>
          </a:p>
        </p:txBody>
      </p:sp>
      <p:pic>
        <p:nvPicPr>
          <p:cNvPr id="13" name="object 4">
            <a:extLst>
              <a:ext uri="{FF2B5EF4-FFF2-40B4-BE49-F238E27FC236}">
                <a16:creationId xmlns:a16="http://schemas.microsoft.com/office/drawing/2014/main" id="{266EFC43-D2A1-E977-CC0B-42F87FD607F8}"/>
              </a:ext>
            </a:extLst>
          </p:cNvPr>
          <p:cNvPicPr/>
          <p:nvPr/>
        </p:nvPicPr>
        <p:blipFill>
          <a:blip r:embed="rId2" cstate="print"/>
          <a:stretch>
            <a:fillRect/>
          </a:stretch>
        </p:blipFill>
        <p:spPr>
          <a:xfrm>
            <a:off x="18317826" y="533400"/>
            <a:ext cx="2506072" cy="2895529"/>
          </a:xfrm>
          <a:prstGeom prst="rect">
            <a:avLst/>
          </a:prstGeom>
        </p:spPr>
      </p:pic>
      <p:pic>
        <p:nvPicPr>
          <p:cNvPr id="14" name="Picture 13">
            <a:extLst>
              <a:ext uri="{FF2B5EF4-FFF2-40B4-BE49-F238E27FC236}">
                <a16:creationId xmlns:a16="http://schemas.microsoft.com/office/drawing/2014/main" id="{D59A1623-0ECA-F6B6-35FC-4A73CC77724F}"/>
              </a:ext>
            </a:extLst>
          </p:cNvPr>
          <p:cNvPicPr>
            <a:picLocks noChangeAspect="1"/>
          </p:cNvPicPr>
          <p:nvPr/>
        </p:nvPicPr>
        <p:blipFill>
          <a:blip r:embed="rId3"/>
          <a:stretch>
            <a:fillRect/>
          </a:stretch>
        </p:blipFill>
        <p:spPr>
          <a:xfrm>
            <a:off x="1422632" y="4331647"/>
            <a:ext cx="18467826" cy="7288853"/>
          </a:xfrm>
          <a:prstGeom prst="rect">
            <a:avLst/>
          </a:prstGeom>
        </p:spPr>
      </p:pic>
      <p:sp>
        <p:nvSpPr>
          <p:cNvPr id="15" name="Rectangle 14">
            <a:extLst>
              <a:ext uri="{FF2B5EF4-FFF2-40B4-BE49-F238E27FC236}">
                <a16:creationId xmlns:a16="http://schemas.microsoft.com/office/drawing/2014/main" id="{CB3F4482-3960-17E3-C98A-1A245E8702D1}"/>
              </a:ext>
            </a:extLst>
          </p:cNvPr>
          <p:cNvSpPr/>
          <p:nvPr/>
        </p:nvSpPr>
        <p:spPr>
          <a:xfrm>
            <a:off x="1444744" y="4331647"/>
            <a:ext cx="18445714" cy="2895529"/>
          </a:xfrm>
          <a:prstGeom prst="rect">
            <a:avLst/>
          </a:prstGeom>
          <a:solidFill>
            <a:srgbClr val="000000">
              <a:alpha val="7098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Rectangle 15">
            <a:extLst>
              <a:ext uri="{FF2B5EF4-FFF2-40B4-BE49-F238E27FC236}">
                <a16:creationId xmlns:a16="http://schemas.microsoft.com/office/drawing/2014/main" id="{A95F4CE4-FA76-5166-D4DA-D5E8294425AB}"/>
              </a:ext>
            </a:extLst>
          </p:cNvPr>
          <p:cNvSpPr/>
          <p:nvPr/>
        </p:nvSpPr>
        <p:spPr>
          <a:xfrm>
            <a:off x="1444744" y="8915400"/>
            <a:ext cx="18467826" cy="2705100"/>
          </a:xfrm>
          <a:prstGeom prst="rect">
            <a:avLst/>
          </a:prstGeom>
          <a:solidFill>
            <a:srgbClr val="0000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8" name="Picture 17">
            <a:extLst>
              <a:ext uri="{FF2B5EF4-FFF2-40B4-BE49-F238E27FC236}">
                <a16:creationId xmlns:a16="http://schemas.microsoft.com/office/drawing/2014/main" id="{94165CBB-5362-1E5E-4A48-F08F4BDE5403}"/>
              </a:ext>
            </a:extLst>
          </p:cNvPr>
          <p:cNvPicPr>
            <a:picLocks noChangeAspect="1"/>
          </p:cNvPicPr>
          <p:nvPr/>
        </p:nvPicPr>
        <p:blipFill>
          <a:blip r:embed="rId4"/>
          <a:stretch>
            <a:fillRect/>
          </a:stretch>
        </p:blipFill>
        <p:spPr>
          <a:xfrm>
            <a:off x="15474638" y="6570484"/>
            <a:ext cx="4754756" cy="5088116"/>
          </a:xfrm>
          <a:prstGeom prst="rect">
            <a:avLst/>
          </a:prstGeom>
        </p:spPr>
      </p:pic>
      <p:sp>
        <p:nvSpPr>
          <p:cNvPr id="19" name="object 2">
            <a:extLst>
              <a:ext uri="{FF2B5EF4-FFF2-40B4-BE49-F238E27FC236}">
                <a16:creationId xmlns:a16="http://schemas.microsoft.com/office/drawing/2014/main" id="{2DF96A2A-9C7C-955E-6166-30FEEB42D04B}"/>
              </a:ext>
            </a:extLst>
          </p:cNvPr>
          <p:cNvSpPr txBox="1">
            <a:spLocks/>
          </p:cNvSpPr>
          <p:nvPr/>
        </p:nvSpPr>
        <p:spPr>
          <a:xfrm>
            <a:off x="15702968" y="5719819"/>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a:solidFill>
                  <a:srgbClr val="00BCC8"/>
                </a:solidFill>
                <a:latin typeface="Aptos Black" panose="020B0004020202020204" pitchFamily="34" charset="0"/>
              </a:rPr>
              <a:t>cars_4</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380301" y="354130"/>
            <a:ext cx="33875049" cy="3103554"/>
          </a:xfrm>
          <a:prstGeom prst="rect">
            <a:avLst/>
          </a:prstGeom>
        </p:spPr>
        <p:txBody>
          <a:bodyPr vert="horz" wrap="square" lIns="0" tIns="668286" rIns="0" bIns="0" rtlCol="0">
            <a:spAutoFit/>
          </a:bodyPr>
          <a:lstStyle/>
          <a:p>
            <a:pPr marL="22577">
              <a:spcBef>
                <a:spcPts val="5262"/>
              </a:spcBef>
            </a:pPr>
            <a:r>
              <a:rPr spc="-133" dirty="0">
                <a:latin typeface="Aptos Black" panose="020B0004020202020204" pitchFamily="34" charset="0"/>
              </a:rPr>
              <a:t>summarize</a:t>
            </a:r>
            <a:r>
              <a:rPr spc="-133" dirty="0">
                <a:solidFill>
                  <a:srgbClr val="00BCC8"/>
                </a:solidFill>
                <a:latin typeface="Aptos Black" panose="020B0004020202020204" pitchFamily="34" charset="0"/>
              </a:rPr>
              <a:t>()</a:t>
            </a:r>
          </a:p>
          <a:p>
            <a:pPr marL="191903">
              <a:spcBef>
                <a:spcPts val="2267"/>
              </a:spcBef>
            </a:pPr>
            <a:r>
              <a:rPr sz="4266" dirty="0">
                <a:solidFill>
                  <a:srgbClr val="7E7E7E"/>
                </a:solidFill>
              </a:rPr>
              <a:t>#</a:t>
            </a:r>
            <a:r>
              <a:rPr sz="4266" spc="-89" dirty="0">
                <a:solidFill>
                  <a:srgbClr val="7E7E7E"/>
                </a:solidFill>
              </a:rPr>
              <a:t> </a:t>
            </a:r>
            <a:r>
              <a:rPr sz="4266" dirty="0">
                <a:solidFill>
                  <a:srgbClr val="7E7E7E"/>
                </a:solidFill>
              </a:rPr>
              <a:t>summarize</a:t>
            </a:r>
            <a:r>
              <a:rPr sz="4266" spc="89" dirty="0">
                <a:solidFill>
                  <a:srgbClr val="7E7E7E"/>
                </a:solidFill>
              </a:rPr>
              <a:t> </a:t>
            </a:r>
            <a:r>
              <a:rPr sz="4266" dirty="0">
                <a:solidFill>
                  <a:srgbClr val="7E7E7E"/>
                </a:solidFill>
              </a:rPr>
              <a:t>lets</a:t>
            </a:r>
            <a:r>
              <a:rPr sz="4266" spc="-240" dirty="0">
                <a:solidFill>
                  <a:srgbClr val="7E7E7E"/>
                </a:solidFill>
              </a:rPr>
              <a:t> </a:t>
            </a:r>
            <a:r>
              <a:rPr sz="4266" dirty="0">
                <a:solidFill>
                  <a:srgbClr val="7E7E7E"/>
                </a:solidFill>
              </a:rPr>
              <a:t>us</a:t>
            </a:r>
            <a:r>
              <a:rPr sz="4266" spc="18" dirty="0">
                <a:solidFill>
                  <a:srgbClr val="7E7E7E"/>
                </a:solidFill>
              </a:rPr>
              <a:t> </a:t>
            </a:r>
            <a:r>
              <a:rPr sz="4266" dirty="0">
                <a:solidFill>
                  <a:srgbClr val="7E7E7E"/>
                </a:solidFill>
              </a:rPr>
              <a:t>compute</a:t>
            </a:r>
            <a:r>
              <a:rPr sz="4266" spc="-418" dirty="0">
                <a:solidFill>
                  <a:srgbClr val="7E7E7E"/>
                </a:solidFill>
              </a:rPr>
              <a:t> </a:t>
            </a:r>
            <a:r>
              <a:rPr sz="4266" dirty="0">
                <a:solidFill>
                  <a:srgbClr val="7E7E7E"/>
                </a:solidFill>
              </a:rPr>
              <a:t>summaries</a:t>
            </a:r>
            <a:r>
              <a:rPr sz="4266" spc="18" dirty="0">
                <a:solidFill>
                  <a:srgbClr val="7E7E7E"/>
                </a:solidFill>
              </a:rPr>
              <a:t> </a:t>
            </a:r>
            <a:r>
              <a:rPr sz="4266" dirty="0">
                <a:solidFill>
                  <a:srgbClr val="7E7E7E"/>
                </a:solidFill>
              </a:rPr>
              <a:t>of </a:t>
            </a:r>
            <a:r>
              <a:rPr sz="4266" spc="-18" dirty="0">
                <a:solidFill>
                  <a:srgbClr val="7E7E7E"/>
                </a:solidFill>
              </a:rPr>
              <a:t>data.</a:t>
            </a:r>
            <a:endParaRPr sz="4266" dirty="0"/>
          </a:p>
        </p:txBody>
      </p:sp>
      <p:pic>
        <p:nvPicPr>
          <p:cNvPr id="11" name="object 4">
            <a:extLst>
              <a:ext uri="{FF2B5EF4-FFF2-40B4-BE49-F238E27FC236}">
                <a16:creationId xmlns:a16="http://schemas.microsoft.com/office/drawing/2014/main" id="{E38A7303-F343-6716-84C9-5B35E6C859A7}"/>
              </a:ext>
            </a:extLst>
          </p:cNvPr>
          <p:cNvPicPr/>
          <p:nvPr/>
        </p:nvPicPr>
        <p:blipFill>
          <a:blip r:embed="rId2" cstate="print"/>
          <a:stretch>
            <a:fillRect/>
          </a:stretch>
        </p:blipFill>
        <p:spPr>
          <a:xfrm>
            <a:off x="18317826" y="533400"/>
            <a:ext cx="2506072" cy="2895529"/>
          </a:xfrm>
          <a:prstGeom prst="rect">
            <a:avLst/>
          </a:prstGeom>
        </p:spPr>
      </p:pic>
      <p:pic>
        <p:nvPicPr>
          <p:cNvPr id="12" name="Picture 11">
            <a:extLst>
              <a:ext uri="{FF2B5EF4-FFF2-40B4-BE49-F238E27FC236}">
                <a16:creationId xmlns:a16="http://schemas.microsoft.com/office/drawing/2014/main" id="{9A6F6B4B-7711-BE2C-62AD-818E81C3CBB5}"/>
              </a:ext>
            </a:extLst>
          </p:cNvPr>
          <p:cNvPicPr>
            <a:picLocks noChangeAspect="1"/>
          </p:cNvPicPr>
          <p:nvPr/>
        </p:nvPicPr>
        <p:blipFill>
          <a:blip r:embed="rId3"/>
          <a:stretch>
            <a:fillRect/>
          </a:stretch>
        </p:blipFill>
        <p:spPr>
          <a:xfrm>
            <a:off x="1235869" y="4038600"/>
            <a:ext cx="18876476" cy="7428178"/>
          </a:xfrm>
          <a:prstGeom prst="rect">
            <a:avLst/>
          </a:prstGeom>
        </p:spPr>
      </p:pic>
      <p:sp>
        <p:nvSpPr>
          <p:cNvPr id="13" name="Rectangle 12">
            <a:extLst>
              <a:ext uri="{FF2B5EF4-FFF2-40B4-BE49-F238E27FC236}">
                <a16:creationId xmlns:a16="http://schemas.microsoft.com/office/drawing/2014/main" id="{E49D3790-0175-C901-0175-DCAE85A57C67}"/>
              </a:ext>
            </a:extLst>
          </p:cNvPr>
          <p:cNvSpPr/>
          <p:nvPr/>
        </p:nvSpPr>
        <p:spPr>
          <a:xfrm>
            <a:off x="1235869" y="4060166"/>
            <a:ext cx="18876476" cy="2035834"/>
          </a:xfrm>
          <a:prstGeom prst="rect">
            <a:avLst/>
          </a:prstGeom>
          <a:solidFill>
            <a:srgbClr val="000000">
              <a:alpha val="7098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Rectangle 13">
            <a:extLst>
              <a:ext uri="{FF2B5EF4-FFF2-40B4-BE49-F238E27FC236}">
                <a16:creationId xmlns:a16="http://schemas.microsoft.com/office/drawing/2014/main" id="{7D21C3A0-5EA6-584B-4421-CF9F1B8E4827}"/>
              </a:ext>
            </a:extLst>
          </p:cNvPr>
          <p:cNvSpPr/>
          <p:nvPr/>
        </p:nvSpPr>
        <p:spPr>
          <a:xfrm>
            <a:off x="1235869" y="8763000"/>
            <a:ext cx="18876476" cy="2703778"/>
          </a:xfrm>
          <a:prstGeom prst="rect">
            <a:avLst/>
          </a:prstGeom>
          <a:solidFill>
            <a:srgbClr val="000000">
              <a:alpha val="7098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6" name="Picture 15">
            <a:extLst>
              <a:ext uri="{FF2B5EF4-FFF2-40B4-BE49-F238E27FC236}">
                <a16:creationId xmlns:a16="http://schemas.microsoft.com/office/drawing/2014/main" id="{4141A817-CAB8-F62C-09A7-26229DA4A9EC}"/>
              </a:ext>
            </a:extLst>
          </p:cNvPr>
          <p:cNvPicPr>
            <a:picLocks noChangeAspect="1"/>
          </p:cNvPicPr>
          <p:nvPr/>
        </p:nvPicPr>
        <p:blipFill>
          <a:blip r:embed="rId4"/>
          <a:stretch>
            <a:fillRect/>
          </a:stretch>
        </p:blipFill>
        <p:spPr>
          <a:xfrm>
            <a:off x="13249850" y="8382000"/>
            <a:ext cx="7188419" cy="2362200"/>
          </a:xfrm>
          <a:prstGeom prst="rect">
            <a:avLst/>
          </a:prstGeom>
        </p:spPr>
      </p:pic>
      <p:sp>
        <p:nvSpPr>
          <p:cNvPr id="17" name="object 2">
            <a:extLst>
              <a:ext uri="{FF2B5EF4-FFF2-40B4-BE49-F238E27FC236}">
                <a16:creationId xmlns:a16="http://schemas.microsoft.com/office/drawing/2014/main" id="{5A422B95-8543-6790-651F-A9992679ABC4}"/>
              </a:ext>
            </a:extLst>
          </p:cNvPr>
          <p:cNvSpPr txBox="1">
            <a:spLocks/>
          </p:cNvSpPr>
          <p:nvPr/>
        </p:nvSpPr>
        <p:spPr>
          <a:xfrm>
            <a:off x="13269394" y="7527066"/>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a:solidFill>
                  <a:srgbClr val="00BCC8"/>
                </a:solidFill>
                <a:latin typeface="Aptos Black" panose="020B0004020202020204" pitchFamily="34" charset="0"/>
              </a:rPr>
              <a:t>cars_4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rcRect t="13361"/>
          <a:stretch/>
        </p:blipFill>
        <p:spPr>
          <a:xfrm>
            <a:off x="860652" y="2528596"/>
            <a:ext cx="17620812" cy="8829234"/>
          </a:xfrm>
          <a:prstGeom prst="rect">
            <a:avLst/>
          </a:prstGeom>
        </p:spPr>
      </p:pic>
      <p:pic>
        <p:nvPicPr>
          <p:cNvPr id="3" name="object 3"/>
          <p:cNvPicPr/>
          <p:nvPr/>
        </p:nvPicPr>
        <p:blipFill>
          <a:blip r:embed="rId3" cstate="print"/>
          <a:stretch>
            <a:fillRect/>
          </a:stretch>
        </p:blipFill>
        <p:spPr>
          <a:xfrm>
            <a:off x="18944812" y="665605"/>
            <a:ext cx="2523005" cy="2912462"/>
          </a:xfrm>
          <a:prstGeom prst="rect">
            <a:avLst/>
          </a:prstGeom>
        </p:spPr>
      </p:pic>
      <p:sp>
        <p:nvSpPr>
          <p:cNvPr id="5" name="object 9">
            <a:extLst>
              <a:ext uri="{FF2B5EF4-FFF2-40B4-BE49-F238E27FC236}">
                <a16:creationId xmlns:a16="http://schemas.microsoft.com/office/drawing/2014/main" id="{F0C1D02C-8288-97D0-E2B4-CBFBF3DBD344}"/>
              </a:ext>
            </a:extLst>
          </p:cNvPr>
          <p:cNvSpPr txBox="1">
            <a:spLocks/>
          </p:cNvSpPr>
          <p:nvPr/>
        </p:nvSpPr>
        <p:spPr>
          <a:xfrm>
            <a:off x="860652" y="533400"/>
            <a:ext cx="6432605" cy="2147596"/>
          </a:xfrm>
          <a:prstGeom prst="rect">
            <a:avLst/>
          </a:prstGeom>
        </p:spPr>
        <p:txBody>
          <a:bodyPr vert="horz" wrap="square" lIns="0" tIns="23706" rIns="0" bIns="0" rtlCol="0">
            <a:spAutoFit/>
          </a:bodyPr>
          <a:lstStyle>
            <a:lvl1pPr>
              <a:defRPr>
                <a:latin typeface="+mj-lt"/>
                <a:ea typeface="+mj-ea"/>
                <a:cs typeface="+mj-cs"/>
              </a:defRPr>
            </a:lvl1pPr>
          </a:lstStyle>
          <a:p>
            <a:pPr marL="22577">
              <a:spcBef>
                <a:spcPts val="187"/>
              </a:spcBef>
            </a:pPr>
            <a:r>
              <a:rPr lang="en-CA" sz="13800" spc="-231" dirty="0" err="1">
                <a:solidFill>
                  <a:srgbClr val="00BCC8"/>
                </a:solidFill>
                <a:latin typeface="Aptos Black" panose="020B0004020202020204" pitchFamily="34" charset="0"/>
              </a:rPr>
              <a:t>tidyr</a:t>
            </a:r>
            <a:endParaRPr lang="en-CA" sz="13800" spc="-231" dirty="0">
              <a:solidFill>
                <a:srgbClr val="00BCC8"/>
              </a:solidFill>
              <a:latin typeface="Aptos Black" panose="020B00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963797" y="1138472"/>
            <a:ext cx="8425471" cy="1501265"/>
          </a:xfrm>
          <a:prstGeom prst="rect">
            <a:avLst/>
          </a:prstGeom>
        </p:spPr>
        <p:txBody>
          <a:bodyPr vert="horz" wrap="square" lIns="0" tIns="23706" rIns="0" bIns="0" rtlCol="0">
            <a:spAutoFit/>
          </a:bodyPr>
          <a:lstStyle/>
          <a:p>
            <a:pPr marL="22577">
              <a:spcBef>
                <a:spcPts val="187"/>
              </a:spcBef>
            </a:pPr>
            <a:r>
              <a:rPr spc="-258" dirty="0">
                <a:latin typeface="Aptos Black" panose="020B0004020202020204" pitchFamily="34" charset="0"/>
              </a:rPr>
              <a:t>pivot_longer</a:t>
            </a:r>
            <a:r>
              <a:rPr spc="-258" dirty="0">
                <a:solidFill>
                  <a:srgbClr val="00BCC8"/>
                </a:solidFill>
                <a:latin typeface="Aptos Black" panose="020B0004020202020204" pitchFamily="34" charset="0"/>
              </a:rPr>
              <a:t>()</a:t>
            </a:r>
          </a:p>
        </p:txBody>
      </p:sp>
      <p:sp>
        <p:nvSpPr>
          <p:cNvPr id="7" name="object 7"/>
          <p:cNvSpPr txBox="1"/>
          <p:nvPr/>
        </p:nvSpPr>
        <p:spPr>
          <a:xfrm>
            <a:off x="963797" y="2775131"/>
            <a:ext cx="17294017" cy="1255044"/>
          </a:xfrm>
          <a:prstGeom prst="rect">
            <a:avLst/>
          </a:prstGeom>
        </p:spPr>
        <p:txBody>
          <a:bodyPr vert="horz" wrap="square" lIns="0" tIns="23706" rIns="0" bIns="0" rtlCol="0">
            <a:spAutoFit/>
          </a:bodyPr>
          <a:lstStyle/>
          <a:p>
            <a:pPr marL="22577">
              <a:lnSpc>
                <a:spcPts val="4764"/>
              </a:lnSpc>
              <a:spcBef>
                <a:spcPts val="187"/>
              </a:spcBef>
            </a:pPr>
            <a:r>
              <a:rPr sz="4266" dirty="0">
                <a:solidFill>
                  <a:srgbClr val="7E7E7E"/>
                </a:solidFill>
                <a:latin typeface="Calibri Light"/>
                <a:cs typeface="Calibri Light"/>
              </a:rPr>
              <a:t># pivot_longer()</a:t>
            </a:r>
            <a:r>
              <a:rPr sz="4266" spc="-356" dirty="0">
                <a:solidFill>
                  <a:srgbClr val="7E7E7E"/>
                </a:solidFill>
                <a:latin typeface="Calibri Light"/>
                <a:cs typeface="Calibri Light"/>
              </a:rPr>
              <a:t> </a:t>
            </a:r>
            <a:r>
              <a:rPr sz="4266" spc="-18" dirty="0">
                <a:solidFill>
                  <a:srgbClr val="7E7E7E"/>
                </a:solidFill>
                <a:latin typeface="Calibri Light"/>
                <a:cs typeface="Calibri Light"/>
              </a:rPr>
              <a:t>"lengthens"</a:t>
            </a:r>
            <a:r>
              <a:rPr sz="4266" spc="-142" dirty="0">
                <a:solidFill>
                  <a:srgbClr val="7E7E7E"/>
                </a:solidFill>
                <a:latin typeface="Calibri Light"/>
                <a:cs typeface="Calibri Light"/>
              </a:rPr>
              <a:t> </a:t>
            </a:r>
            <a:r>
              <a:rPr sz="4266" dirty="0">
                <a:solidFill>
                  <a:srgbClr val="7E7E7E"/>
                </a:solidFill>
                <a:latin typeface="Calibri Light"/>
                <a:cs typeface="Calibri Light"/>
              </a:rPr>
              <a:t>data,</a:t>
            </a:r>
            <a:r>
              <a:rPr sz="4266" spc="-107" dirty="0">
                <a:solidFill>
                  <a:srgbClr val="7E7E7E"/>
                </a:solidFill>
                <a:latin typeface="Calibri Light"/>
                <a:cs typeface="Calibri Light"/>
              </a:rPr>
              <a:t> </a:t>
            </a:r>
            <a:r>
              <a:rPr sz="4266" dirty="0">
                <a:solidFill>
                  <a:srgbClr val="7E7E7E"/>
                </a:solidFill>
                <a:latin typeface="Calibri Light"/>
                <a:cs typeface="Calibri Light"/>
              </a:rPr>
              <a:t>increasing</a:t>
            </a:r>
            <a:r>
              <a:rPr sz="4266" spc="-267" dirty="0">
                <a:solidFill>
                  <a:srgbClr val="7E7E7E"/>
                </a:solidFill>
                <a:latin typeface="Calibri Light"/>
                <a:cs typeface="Calibri Light"/>
              </a:rPr>
              <a:t> </a:t>
            </a:r>
            <a:r>
              <a:rPr sz="4266" dirty="0">
                <a:solidFill>
                  <a:srgbClr val="7E7E7E"/>
                </a:solidFill>
                <a:latin typeface="Calibri Light"/>
                <a:cs typeface="Calibri Light"/>
              </a:rPr>
              <a:t>the</a:t>
            </a:r>
            <a:r>
              <a:rPr sz="4266" spc="36" dirty="0">
                <a:solidFill>
                  <a:srgbClr val="7E7E7E"/>
                </a:solidFill>
                <a:latin typeface="Calibri Light"/>
                <a:cs typeface="Calibri Light"/>
              </a:rPr>
              <a:t> </a:t>
            </a:r>
            <a:r>
              <a:rPr sz="4266" dirty="0">
                <a:solidFill>
                  <a:srgbClr val="7E7E7E"/>
                </a:solidFill>
                <a:latin typeface="Calibri Light"/>
                <a:cs typeface="Calibri Light"/>
              </a:rPr>
              <a:t>number</a:t>
            </a:r>
            <a:r>
              <a:rPr sz="4266" spc="-124" dirty="0">
                <a:solidFill>
                  <a:srgbClr val="7E7E7E"/>
                </a:solidFill>
                <a:latin typeface="Calibri Light"/>
                <a:cs typeface="Calibri Light"/>
              </a:rPr>
              <a:t> </a:t>
            </a:r>
            <a:r>
              <a:rPr sz="4266" dirty="0">
                <a:solidFill>
                  <a:srgbClr val="7E7E7E"/>
                </a:solidFill>
                <a:latin typeface="Calibri Light"/>
                <a:cs typeface="Calibri Light"/>
              </a:rPr>
              <a:t>of</a:t>
            </a:r>
            <a:r>
              <a:rPr sz="4266" spc="-71" dirty="0">
                <a:solidFill>
                  <a:srgbClr val="7E7E7E"/>
                </a:solidFill>
                <a:latin typeface="Calibri Light"/>
                <a:cs typeface="Calibri Light"/>
              </a:rPr>
              <a:t> </a:t>
            </a:r>
            <a:r>
              <a:rPr sz="4266" dirty="0">
                <a:solidFill>
                  <a:srgbClr val="7E7E7E"/>
                </a:solidFill>
                <a:latin typeface="Calibri Light"/>
                <a:cs typeface="Calibri Light"/>
              </a:rPr>
              <a:t>rows</a:t>
            </a:r>
            <a:r>
              <a:rPr sz="4266" spc="98" dirty="0">
                <a:solidFill>
                  <a:srgbClr val="7E7E7E"/>
                </a:solidFill>
                <a:latin typeface="Calibri Light"/>
                <a:cs typeface="Calibri Light"/>
              </a:rPr>
              <a:t> </a:t>
            </a:r>
            <a:r>
              <a:rPr sz="4266" dirty="0">
                <a:solidFill>
                  <a:srgbClr val="7E7E7E"/>
                </a:solidFill>
                <a:latin typeface="Calibri Light"/>
                <a:cs typeface="Calibri Light"/>
              </a:rPr>
              <a:t>and</a:t>
            </a:r>
            <a:r>
              <a:rPr sz="4266" spc="-89" dirty="0">
                <a:solidFill>
                  <a:srgbClr val="7E7E7E"/>
                </a:solidFill>
                <a:latin typeface="Calibri Light"/>
                <a:cs typeface="Calibri Light"/>
              </a:rPr>
              <a:t> </a:t>
            </a:r>
            <a:r>
              <a:rPr sz="4266" dirty="0">
                <a:solidFill>
                  <a:srgbClr val="7E7E7E"/>
                </a:solidFill>
                <a:latin typeface="Calibri Light"/>
                <a:cs typeface="Calibri Light"/>
              </a:rPr>
              <a:t>decreasing</a:t>
            </a:r>
            <a:r>
              <a:rPr sz="4266" spc="-116" dirty="0">
                <a:solidFill>
                  <a:srgbClr val="7E7E7E"/>
                </a:solidFill>
                <a:latin typeface="Calibri Light"/>
                <a:cs typeface="Calibri Light"/>
              </a:rPr>
              <a:t> </a:t>
            </a:r>
            <a:r>
              <a:rPr sz="4266" spc="-44" dirty="0">
                <a:solidFill>
                  <a:srgbClr val="7E7E7E"/>
                </a:solidFill>
                <a:latin typeface="Calibri Light"/>
                <a:cs typeface="Calibri Light"/>
              </a:rPr>
              <a:t>the</a:t>
            </a:r>
            <a:r>
              <a:rPr lang="en-CA" sz="4266" spc="-44" dirty="0">
                <a:solidFill>
                  <a:srgbClr val="7E7E7E"/>
                </a:solidFill>
                <a:latin typeface="Calibri Light"/>
                <a:cs typeface="Calibri Light"/>
              </a:rPr>
              <a:t> </a:t>
            </a:r>
            <a:r>
              <a:rPr sz="4266" dirty="0">
                <a:solidFill>
                  <a:srgbClr val="7E7E7E"/>
                </a:solidFill>
                <a:latin typeface="Calibri Light"/>
                <a:cs typeface="Calibri Light"/>
              </a:rPr>
              <a:t>number</a:t>
            </a:r>
            <a:r>
              <a:rPr sz="4266" spc="-178" dirty="0">
                <a:solidFill>
                  <a:srgbClr val="7E7E7E"/>
                </a:solidFill>
                <a:latin typeface="Calibri Light"/>
                <a:cs typeface="Calibri Light"/>
              </a:rPr>
              <a:t> </a:t>
            </a:r>
            <a:r>
              <a:rPr sz="4266" dirty="0">
                <a:solidFill>
                  <a:srgbClr val="7E7E7E"/>
                </a:solidFill>
                <a:latin typeface="Calibri Light"/>
                <a:cs typeface="Calibri Light"/>
              </a:rPr>
              <a:t>of</a:t>
            </a:r>
            <a:r>
              <a:rPr sz="4266" spc="27" dirty="0">
                <a:solidFill>
                  <a:srgbClr val="7E7E7E"/>
                </a:solidFill>
                <a:latin typeface="Calibri Light"/>
                <a:cs typeface="Calibri Light"/>
              </a:rPr>
              <a:t> </a:t>
            </a:r>
            <a:r>
              <a:rPr sz="4266" dirty="0">
                <a:solidFill>
                  <a:srgbClr val="7E7E7E"/>
                </a:solidFill>
                <a:latin typeface="Calibri Light"/>
                <a:cs typeface="Calibri Light"/>
              </a:rPr>
              <a:t>columns.</a:t>
            </a:r>
            <a:r>
              <a:rPr sz="4266" spc="-142" dirty="0">
                <a:solidFill>
                  <a:srgbClr val="7E7E7E"/>
                </a:solidFill>
                <a:latin typeface="Calibri Light"/>
                <a:cs typeface="Calibri Light"/>
              </a:rPr>
              <a:t> </a:t>
            </a:r>
            <a:r>
              <a:rPr sz="4266" dirty="0">
                <a:solidFill>
                  <a:srgbClr val="7E7E7E"/>
                </a:solidFill>
                <a:latin typeface="Calibri Light"/>
                <a:cs typeface="Calibri Light"/>
              </a:rPr>
              <a:t>The </a:t>
            </a:r>
            <a:r>
              <a:rPr sz="4266" spc="-18" dirty="0">
                <a:solidFill>
                  <a:srgbClr val="7E7E7E"/>
                </a:solidFill>
                <a:latin typeface="Calibri Light"/>
                <a:cs typeface="Calibri Light"/>
              </a:rPr>
              <a:t>inverse</a:t>
            </a:r>
            <a:r>
              <a:rPr sz="4266" spc="-9" dirty="0">
                <a:solidFill>
                  <a:srgbClr val="7E7E7E"/>
                </a:solidFill>
                <a:latin typeface="Calibri Light"/>
                <a:cs typeface="Calibri Light"/>
              </a:rPr>
              <a:t> </a:t>
            </a:r>
            <a:r>
              <a:rPr sz="4266" spc="-18" dirty="0">
                <a:solidFill>
                  <a:srgbClr val="7E7E7E"/>
                </a:solidFill>
                <a:latin typeface="Calibri Light"/>
                <a:cs typeface="Calibri Light"/>
              </a:rPr>
              <a:t>transformation</a:t>
            </a:r>
            <a:r>
              <a:rPr sz="4266" spc="-249" dirty="0">
                <a:solidFill>
                  <a:srgbClr val="7E7E7E"/>
                </a:solidFill>
                <a:latin typeface="Calibri Light"/>
                <a:cs typeface="Calibri Light"/>
              </a:rPr>
              <a:t> </a:t>
            </a:r>
            <a:r>
              <a:rPr sz="4266" dirty="0">
                <a:solidFill>
                  <a:srgbClr val="7E7E7E"/>
                </a:solidFill>
                <a:latin typeface="Calibri Light"/>
                <a:cs typeface="Calibri Light"/>
              </a:rPr>
              <a:t>is</a:t>
            </a:r>
            <a:r>
              <a:rPr sz="4266" spc="187" dirty="0">
                <a:solidFill>
                  <a:srgbClr val="7E7E7E"/>
                </a:solidFill>
                <a:latin typeface="Calibri Light"/>
                <a:cs typeface="Calibri Light"/>
              </a:rPr>
              <a:t> </a:t>
            </a:r>
            <a:r>
              <a:rPr sz="4266" spc="-18" dirty="0">
                <a:solidFill>
                  <a:srgbClr val="7E7E7E"/>
                </a:solidFill>
                <a:latin typeface="Calibri Light"/>
                <a:cs typeface="Calibri Light"/>
              </a:rPr>
              <a:t>pivot_wider()</a:t>
            </a:r>
            <a:endParaRPr sz="4266" dirty="0">
              <a:latin typeface="Calibri Light"/>
              <a:cs typeface="Calibri Light"/>
            </a:endParaRPr>
          </a:p>
        </p:txBody>
      </p:sp>
      <p:pic>
        <p:nvPicPr>
          <p:cNvPr id="8" name="object 8"/>
          <p:cNvPicPr/>
          <p:nvPr/>
        </p:nvPicPr>
        <p:blipFill>
          <a:blip r:embed="rId2" cstate="print"/>
          <a:stretch>
            <a:fillRect/>
          </a:stretch>
        </p:blipFill>
        <p:spPr>
          <a:xfrm>
            <a:off x="18710632" y="313388"/>
            <a:ext cx="2523005" cy="2912462"/>
          </a:xfrm>
          <a:prstGeom prst="rect">
            <a:avLst/>
          </a:prstGeom>
        </p:spPr>
      </p:pic>
      <p:pic>
        <p:nvPicPr>
          <p:cNvPr id="14" name="Picture 13">
            <a:extLst>
              <a:ext uri="{FF2B5EF4-FFF2-40B4-BE49-F238E27FC236}">
                <a16:creationId xmlns:a16="http://schemas.microsoft.com/office/drawing/2014/main" id="{FEBA2F79-2CDB-8191-1F5C-FC9FA53DECFA}"/>
              </a:ext>
            </a:extLst>
          </p:cNvPr>
          <p:cNvPicPr>
            <a:picLocks noChangeAspect="1"/>
          </p:cNvPicPr>
          <p:nvPr/>
        </p:nvPicPr>
        <p:blipFill>
          <a:blip r:embed="rId3"/>
          <a:srcRect t="3226" b="12392"/>
          <a:stretch/>
        </p:blipFill>
        <p:spPr>
          <a:xfrm>
            <a:off x="963797" y="4328598"/>
            <a:ext cx="11875847" cy="3986584"/>
          </a:xfrm>
          <a:prstGeom prst="rect">
            <a:avLst/>
          </a:prstGeom>
        </p:spPr>
      </p:pic>
      <p:pic>
        <p:nvPicPr>
          <p:cNvPr id="16" name="Picture 15">
            <a:extLst>
              <a:ext uri="{FF2B5EF4-FFF2-40B4-BE49-F238E27FC236}">
                <a16:creationId xmlns:a16="http://schemas.microsoft.com/office/drawing/2014/main" id="{7938497F-0B91-6555-8CC2-385FBC7EA332}"/>
              </a:ext>
            </a:extLst>
          </p:cNvPr>
          <p:cNvPicPr>
            <a:picLocks noChangeAspect="1"/>
          </p:cNvPicPr>
          <p:nvPr/>
        </p:nvPicPr>
        <p:blipFill>
          <a:blip r:embed="rId4"/>
          <a:stretch>
            <a:fillRect/>
          </a:stretch>
        </p:blipFill>
        <p:spPr>
          <a:xfrm>
            <a:off x="13021923" y="5083876"/>
            <a:ext cx="5381192" cy="3581400"/>
          </a:xfrm>
          <a:prstGeom prst="rect">
            <a:avLst/>
          </a:prstGeom>
        </p:spPr>
      </p:pic>
      <p:pic>
        <p:nvPicPr>
          <p:cNvPr id="18" name="Picture 17">
            <a:extLst>
              <a:ext uri="{FF2B5EF4-FFF2-40B4-BE49-F238E27FC236}">
                <a16:creationId xmlns:a16="http://schemas.microsoft.com/office/drawing/2014/main" id="{4BCEBE2C-2961-8B97-4355-23F59AD1431D}"/>
              </a:ext>
            </a:extLst>
          </p:cNvPr>
          <p:cNvPicPr>
            <a:picLocks noChangeAspect="1"/>
          </p:cNvPicPr>
          <p:nvPr/>
        </p:nvPicPr>
        <p:blipFill>
          <a:blip r:embed="rId5"/>
          <a:stretch>
            <a:fillRect/>
          </a:stretch>
        </p:blipFill>
        <p:spPr>
          <a:xfrm>
            <a:off x="12999861" y="9416869"/>
            <a:ext cx="6654345" cy="2091366"/>
          </a:xfrm>
          <a:prstGeom prst="rect">
            <a:avLst/>
          </a:prstGeom>
        </p:spPr>
      </p:pic>
      <p:sp>
        <p:nvSpPr>
          <p:cNvPr id="19" name="object 2">
            <a:extLst>
              <a:ext uri="{FF2B5EF4-FFF2-40B4-BE49-F238E27FC236}">
                <a16:creationId xmlns:a16="http://schemas.microsoft.com/office/drawing/2014/main" id="{A990E367-16D1-9235-1994-2FDBF180B552}"/>
              </a:ext>
            </a:extLst>
          </p:cNvPr>
          <p:cNvSpPr txBox="1">
            <a:spLocks/>
          </p:cNvSpPr>
          <p:nvPr/>
        </p:nvSpPr>
        <p:spPr>
          <a:xfrm>
            <a:off x="13028528" y="4240444"/>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err="1">
                <a:solidFill>
                  <a:srgbClr val="00BCC8"/>
                </a:solidFill>
                <a:latin typeface="Aptos Black" panose="020B0004020202020204" pitchFamily="34" charset="0"/>
              </a:rPr>
              <a:t>cars_long</a:t>
            </a:r>
            <a:endParaRPr lang="en-CA" sz="5400" spc="-240" dirty="0">
              <a:solidFill>
                <a:srgbClr val="00BCC8"/>
              </a:solidFill>
              <a:latin typeface="Aptos Black" panose="020B0004020202020204" pitchFamily="34" charset="0"/>
            </a:endParaRPr>
          </a:p>
        </p:txBody>
      </p:sp>
      <p:sp>
        <p:nvSpPr>
          <p:cNvPr id="20" name="object 2">
            <a:extLst>
              <a:ext uri="{FF2B5EF4-FFF2-40B4-BE49-F238E27FC236}">
                <a16:creationId xmlns:a16="http://schemas.microsoft.com/office/drawing/2014/main" id="{2BE49864-2F43-DFCF-3075-AE10023FAB9C}"/>
              </a:ext>
            </a:extLst>
          </p:cNvPr>
          <p:cNvSpPr txBox="1">
            <a:spLocks/>
          </p:cNvSpPr>
          <p:nvPr/>
        </p:nvSpPr>
        <p:spPr>
          <a:xfrm>
            <a:off x="12999861" y="8613606"/>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err="1">
                <a:solidFill>
                  <a:srgbClr val="00BCC8"/>
                </a:solidFill>
                <a:latin typeface="Aptos Black" panose="020B0004020202020204" pitchFamily="34" charset="0"/>
              </a:rPr>
              <a:t>cars_wide</a:t>
            </a:r>
            <a:endParaRPr lang="en-CA" sz="5400" spc="-240" dirty="0">
              <a:solidFill>
                <a:srgbClr val="00BCC8"/>
              </a:solidFill>
              <a:latin typeface="Aptos Black" panose="020B0004020202020204" pitchFamily="34" charset="0"/>
            </a:endParaRPr>
          </a:p>
        </p:txBody>
      </p:sp>
      <p:pic>
        <p:nvPicPr>
          <p:cNvPr id="21" name="Picture 20">
            <a:extLst>
              <a:ext uri="{FF2B5EF4-FFF2-40B4-BE49-F238E27FC236}">
                <a16:creationId xmlns:a16="http://schemas.microsoft.com/office/drawing/2014/main" id="{285000F7-308F-4BBC-BF37-404D5CA4E2A5}"/>
              </a:ext>
            </a:extLst>
          </p:cNvPr>
          <p:cNvPicPr>
            <a:picLocks noChangeAspect="1"/>
          </p:cNvPicPr>
          <p:nvPr/>
        </p:nvPicPr>
        <p:blipFill>
          <a:blip r:embed="rId6"/>
          <a:stretch>
            <a:fillRect/>
          </a:stretch>
        </p:blipFill>
        <p:spPr>
          <a:xfrm>
            <a:off x="1582322" y="9281452"/>
            <a:ext cx="7188419" cy="2362200"/>
          </a:xfrm>
          <a:prstGeom prst="rect">
            <a:avLst/>
          </a:prstGeom>
        </p:spPr>
      </p:pic>
      <p:sp>
        <p:nvSpPr>
          <p:cNvPr id="22" name="object 2">
            <a:extLst>
              <a:ext uri="{FF2B5EF4-FFF2-40B4-BE49-F238E27FC236}">
                <a16:creationId xmlns:a16="http://schemas.microsoft.com/office/drawing/2014/main" id="{81EE31C0-1368-9256-A567-C643ED627F50}"/>
              </a:ext>
            </a:extLst>
          </p:cNvPr>
          <p:cNvSpPr txBox="1">
            <a:spLocks/>
          </p:cNvSpPr>
          <p:nvPr/>
        </p:nvSpPr>
        <p:spPr>
          <a:xfrm>
            <a:off x="1601866" y="8426518"/>
            <a:ext cx="5087278" cy="854934"/>
          </a:xfrm>
          <a:prstGeom prst="rect">
            <a:avLst/>
          </a:prstGeom>
        </p:spPr>
        <p:txBody>
          <a:bodyPr vert="horz" wrap="square" lIns="0" tIns="23706" rIns="0" bIns="0" rtlCol="0">
            <a:spAutoFit/>
          </a:bodyPr>
          <a:lstStyle>
            <a:lvl1pPr>
              <a:defRPr sz="9600" b="0" i="0">
                <a:solidFill>
                  <a:srgbClr val="202020"/>
                </a:solidFill>
                <a:latin typeface="Calibri Light"/>
                <a:ea typeface="+mj-ea"/>
                <a:cs typeface="Calibri Light"/>
              </a:defRPr>
            </a:lvl1pPr>
          </a:lstStyle>
          <a:p>
            <a:pPr marL="22577">
              <a:spcBef>
                <a:spcPts val="187"/>
              </a:spcBef>
            </a:pPr>
            <a:r>
              <a:rPr lang="en-CA" sz="5400" spc="-240" dirty="0">
                <a:solidFill>
                  <a:srgbClr val="00BCC8"/>
                </a:solidFill>
                <a:latin typeface="Aptos Black" panose="020B0004020202020204" pitchFamily="34" charset="0"/>
              </a:rPr>
              <a:t>cars_4</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473869" y="2362200"/>
            <a:ext cx="11209593" cy="9414704"/>
            <a:chOff x="247649" y="1533523"/>
            <a:chExt cx="6305550" cy="5295900"/>
          </a:xfrm>
        </p:grpSpPr>
        <p:pic>
          <p:nvPicPr>
            <p:cNvPr id="3" name="object 3"/>
            <p:cNvPicPr/>
            <p:nvPr/>
          </p:nvPicPr>
          <p:blipFill>
            <a:blip r:embed="rId2" cstate="print"/>
            <a:stretch>
              <a:fillRect/>
            </a:stretch>
          </p:blipFill>
          <p:spPr>
            <a:xfrm>
              <a:off x="247649" y="1533523"/>
              <a:ext cx="6305550" cy="5295900"/>
            </a:xfrm>
            <a:prstGeom prst="rect">
              <a:avLst/>
            </a:prstGeom>
          </p:spPr>
        </p:pic>
        <p:sp>
          <p:nvSpPr>
            <p:cNvPr id="4" name="object 4"/>
            <p:cNvSpPr/>
            <p:nvPr/>
          </p:nvSpPr>
          <p:spPr>
            <a:xfrm>
              <a:off x="1619492" y="2224150"/>
              <a:ext cx="552450" cy="428625"/>
            </a:xfrm>
            <a:custGeom>
              <a:avLst/>
              <a:gdLst/>
              <a:ahLst/>
              <a:cxnLst/>
              <a:rect l="l" t="t" r="r" b="b"/>
              <a:pathLst>
                <a:path w="552450" h="428625">
                  <a:moveTo>
                    <a:pt x="276225" y="0"/>
                  </a:moveTo>
                  <a:lnTo>
                    <a:pt x="210947" y="163702"/>
                  </a:lnTo>
                  <a:lnTo>
                    <a:pt x="0" y="163702"/>
                  </a:lnTo>
                  <a:lnTo>
                    <a:pt x="170687" y="264795"/>
                  </a:lnTo>
                  <a:lnTo>
                    <a:pt x="105410" y="428498"/>
                  </a:lnTo>
                  <a:lnTo>
                    <a:pt x="276225" y="327406"/>
                  </a:lnTo>
                  <a:lnTo>
                    <a:pt x="446913" y="428498"/>
                  </a:lnTo>
                  <a:lnTo>
                    <a:pt x="381634" y="264795"/>
                  </a:lnTo>
                  <a:lnTo>
                    <a:pt x="552450" y="163702"/>
                  </a:lnTo>
                  <a:lnTo>
                    <a:pt x="341375" y="163702"/>
                  </a:lnTo>
                  <a:lnTo>
                    <a:pt x="276225" y="0"/>
                  </a:lnTo>
                  <a:close/>
                </a:path>
              </a:pathLst>
            </a:custGeom>
            <a:solidFill>
              <a:srgbClr val="FF80A9"/>
            </a:solidFill>
          </p:spPr>
          <p:txBody>
            <a:bodyPr wrap="square" lIns="0" tIns="0" rIns="0" bIns="0" rtlCol="0"/>
            <a:lstStyle/>
            <a:p>
              <a:endParaRPr/>
            </a:p>
          </p:txBody>
        </p:sp>
      </p:grpSp>
      <p:sp>
        <p:nvSpPr>
          <p:cNvPr id="9" name="object 9">
            <a:extLst>
              <a:ext uri="{FF2B5EF4-FFF2-40B4-BE49-F238E27FC236}">
                <a16:creationId xmlns:a16="http://schemas.microsoft.com/office/drawing/2014/main" id="{5B567856-F506-896C-A922-6932F3E457D8}"/>
              </a:ext>
            </a:extLst>
          </p:cNvPr>
          <p:cNvSpPr txBox="1">
            <a:spLocks/>
          </p:cNvSpPr>
          <p:nvPr/>
        </p:nvSpPr>
        <p:spPr>
          <a:xfrm>
            <a:off x="778669" y="191600"/>
            <a:ext cx="6432605" cy="2147596"/>
          </a:xfrm>
          <a:prstGeom prst="rect">
            <a:avLst/>
          </a:prstGeom>
        </p:spPr>
        <p:txBody>
          <a:bodyPr vert="horz" wrap="square" lIns="0" tIns="23706" rIns="0" bIns="0" rtlCol="0">
            <a:spAutoFit/>
          </a:bodyPr>
          <a:lstStyle>
            <a:lvl1pPr>
              <a:defRPr>
                <a:latin typeface="+mj-lt"/>
                <a:ea typeface="+mj-ea"/>
                <a:cs typeface="+mj-cs"/>
              </a:defRPr>
            </a:lvl1pPr>
          </a:lstStyle>
          <a:p>
            <a:pPr marL="22577">
              <a:spcBef>
                <a:spcPts val="187"/>
              </a:spcBef>
            </a:pPr>
            <a:r>
              <a:rPr lang="en-CA" sz="13800" spc="-231" dirty="0" err="1">
                <a:solidFill>
                  <a:srgbClr val="00BCC8"/>
                </a:solidFill>
                <a:latin typeface="Aptos Black" panose="020B0004020202020204" pitchFamily="34" charset="0"/>
              </a:rPr>
              <a:t>stringr</a:t>
            </a:r>
            <a:endParaRPr lang="en-CA" sz="13800" spc="-231" dirty="0">
              <a:solidFill>
                <a:srgbClr val="00BCC8"/>
              </a:solidFill>
              <a:latin typeface="Aptos Black" panose="020B0004020202020204" pitchFamily="34" charset="0"/>
            </a:endParaRPr>
          </a:p>
        </p:txBody>
      </p:sp>
      <p:pic>
        <p:nvPicPr>
          <p:cNvPr id="11" name="Picture 10">
            <a:extLst>
              <a:ext uri="{FF2B5EF4-FFF2-40B4-BE49-F238E27FC236}">
                <a16:creationId xmlns:a16="http://schemas.microsoft.com/office/drawing/2014/main" id="{7E85BAED-8AF3-EF04-9E9C-FABE26382F8E}"/>
              </a:ext>
            </a:extLst>
          </p:cNvPr>
          <p:cNvPicPr>
            <a:picLocks noChangeAspect="1"/>
          </p:cNvPicPr>
          <p:nvPr/>
        </p:nvPicPr>
        <p:blipFill>
          <a:blip r:embed="rId3"/>
          <a:stretch>
            <a:fillRect/>
          </a:stretch>
        </p:blipFill>
        <p:spPr>
          <a:xfrm>
            <a:off x="13155610" y="5867400"/>
            <a:ext cx="7552895" cy="4184430"/>
          </a:xfrm>
          <a:prstGeom prst="rect">
            <a:avLst/>
          </a:prstGeom>
        </p:spPr>
      </p:pic>
      <p:pic>
        <p:nvPicPr>
          <p:cNvPr id="13" name="Picture 12">
            <a:extLst>
              <a:ext uri="{FF2B5EF4-FFF2-40B4-BE49-F238E27FC236}">
                <a16:creationId xmlns:a16="http://schemas.microsoft.com/office/drawing/2014/main" id="{EF9CFF38-80E5-5714-75D8-77A3CAF07A18}"/>
              </a:ext>
            </a:extLst>
          </p:cNvPr>
          <p:cNvPicPr>
            <a:picLocks noChangeAspect="1"/>
          </p:cNvPicPr>
          <p:nvPr/>
        </p:nvPicPr>
        <p:blipFill>
          <a:blip r:embed="rId4"/>
          <a:stretch>
            <a:fillRect/>
          </a:stretch>
        </p:blipFill>
        <p:spPr>
          <a:xfrm>
            <a:off x="13040534" y="3597458"/>
            <a:ext cx="7783048" cy="1839319"/>
          </a:xfrm>
          <a:prstGeom prst="rect">
            <a:avLst/>
          </a:prstGeom>
        </p:spPr>
      </p:pic>
      <p:pic>
        <p:nvPicPr>
          <p:cNvPr id="1026" name="Picture 2" descr="Simple, Consistent Wrappers for Common String Operations • stringr">
            <a:extLst>
              <a:ext uri="{FF2B5EF4-FFF2-40B4-BE49-F238E27FC236}">
                <a16:creationId xmlns:a16="http://schemas.microsoft.com/office/drawing/2014/main" id="{25E14AF0-0366-1C28-2645-5CDEF7981F7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66669" y="180098"/>
            <a:ext cx="2286000" cy="2638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371645" y="1549511"/>
            <a:ext cx="12225568" cy="9092978"/>
            <a:chOff x="247649" y="1533525"/>
            <a:chExt cx="6877050" cy="5114925"/>
          </a:xfrm>
        </p:grpSpPr>
        <p:pic>
          <p:nvPicPr>
            <p:cNvPr id="3" name="object 3"/>
            <p:cNvPicPr/>
            <p:nvPr/>
          </p:nvPicPr>
          <p:blipFill>
            <a:blip r:embed="rId3" cstate="print"/>
            <a:stretch>
              <a:fillRect/>
            </a:stretch>
          </p:blipFill>
          <p:spPr>
            <a:xfrm>
              <a:off x="247649" y="1533525"/>
              <a:ext cx="6877050" cy="5114925"/>
            </a:xfrm>
            <a:prstGeom prst="rect">
              <a:avLst/>
            </a:prstGeom>
          </p:spPr>
        </p:pic>
        <p:sp>
          <p:nvSpPr>
            <p:cNvPr id="8" name="object 8"/>
            <p:cNvSpPr/>
            <p:nvPr/>
          </p:nvSpPr>
          <p:spPr>
            <a:xfrm>
              <a:off x="1637291" y="4101095"/>
              <a:ext cx="561975" cy="428625"/>
            </a:xfrm>
            <a:custGeom>
              <a:avLst/>
              <a:gdLst/>
              <a:ahLst/>
              <a:cxnLst/>
              <a:rect l="l" t="t" r="r" b="b"/>
              <a:pathLst>
                <a:path w="561975" h="428625">
                  <a:moveTo>
                    <a:pt x="280924" y="0"/>
                  </a:moveTo>
                  <a:lnTo>
                    <a:pt x="214629" y="163703"/>
                  </a:lnTo>
                  <a:lnTo>
                    <a:pt x="0" y="163703"/>
                  </a:lnTo>
                  <a:lnTo>
                    <a:pt x="173608" y="264794"/>
                  </a:lnTo>
                  <a:lnTo>
                    <a:pt x="107315" y="428498"/>
                  </a:lnTo>
                  <a:lnTo>
                    <a:pt x="280924" y="327406"/>
                  </a:lnTo>
                  <a:lnTo>
                    <a:pt x="454532" y="428498"/>
                  </a:lnTo>
                  <a:lnTo>
                    <a:pt x="388239" y="264794"/>
                  </a:lnTo>
                  <a:lnTo>
                    <a:pt x="561848" y="163703"/>
                  </a:lnTo>
                  <a:lnTo>
                    <a:pt x="347218" y="163703"/>
                  </a:lnTo>
                  <a:lnTo>
                    <a:pt x="280924" y="0"/>
                  </a:lnTo>
                  <a:close/>
                </a:path>
              </a:pathLst>
            </a:custGeom>
            <a:solidFill>
              <a:srgbClr val="FF80A9"/>
            </a:solidFill>
          </p:spPr>
          <p:txBody>
            <a:bodyPr wrap="square" lIns="0" tIns="0" rIns="0" bIns="0" rtlCol="0"/>
            <a:lstStyle/>
            <a:p>
              <a:endParaRPr/>
            </a:p>
          </p:txBody>
        </p:sp>
      </p:grpSp>
      <p:pic>
        <p:nvPicPr>
          <p:cNvPr id="13" name="Picture 12">
            <a:extLst>
              <a:ext uri="{FF2B5EF4-FFF2-40B4-BE49-F238E27FC236}">
                <a16:creationId xmlns:a16="http://schemas.microsoft.com/office/drawing/2014/main" id="{9A8E0668-1306-E4C9-C0B1-5510ADAFBC2D}"/>
              </a:ext>
            </a:extLst>
          </p:cNvPr>
          <p:cNvPicPr>
            <a:picLocks noChangeAspect="1"/>
          </p:cNvPicPr>
          <p:nvPr/>
        </p:nvPicPr>
        <p:blipFill>
          <a:blip r:embed="rId4"/>
          <a:stretch>
            <a:fillRect/>
          </a:stretch>
        </p:blipFill>
        <p:spPr>
          <a:xfrm>
            <a:off x="12901973" y="6400800"/>
            <a:ext cx="8219293" cy="4476989"/>
          </a:xfrm>
          <a:prstGeom prst="rect">
            <a:avLst/>
          </a:prstGeom>
        </p:spPr>
      </p:pic>
      <p:pic>
        <p:nvPicPr>
          <p:cNvPr id="15" name="Picture 14">
            <a:extLst>
              <a:ext uri="{FF2B5EF4-FFF2-40B4-BE49-F238E27FC236}">
                <a16:creationId xmlns:a16="http://schemas.microsoft.com/office/drawing/2014/main" id="{A84485E9-1DA8-AF4B-0C25-2D8319F3CEAC}"/>
              </a:ext>
            </a:extLst>
          </p:cNvPr>
          <p:cNvPicPr>
            <a:picLocks noChangeAspect="1"/>
          </p:cNvPicPr>
          <p:nvPr/>
        </p:nvPicPr>
        <p:blipFill>
          <a:blip r:embed="rId5"/>
          <a:stretch>
            <a:fillRect/>
          </a:stretch>
        </p:blipFill>
        <p:spPr>
          <a:xfrm>
            <a:off x="12712704" y="4168001"/>
            <a:ext cx="8597832" cy="1927999"/>
          </a:xfrm>
          <a:prstGeom prst="rect">
            <a:avLst/>
          </a:prstGeom>
        </p:spPr>
      </p:pic>
      <p:pic>
        <p:nvPicPr>
          <p:cNvPr id="16" name="Picture 2" descr="Simple, Consistent Wrappers for Common String Operations • stringr">
            <a:extLst>
              <a:ext uri="{FF2B5EF4-FFF2-40B4-BE49-F238E27FC236}">
                <a16:creationId xmlns:a16="http://schemas.microsoft.com/office/drawing/2014/main" id="{6F4539FB-79C7-854C-A779-ABB7B9AC82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66669" y="180098"/>
            <a:ext cx="2286000" cy="2638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02469" y="1066800"/>
            <a:ext cx="10854002" cy="9363844"/>
            <a:chOff x="247649" y="1371634"/>
            <a:chExt cx="6105525" cy="5267291"/>
          </a:xfrm>
        </p:grpSpPr>
        <p:pic>
          <p:nvPicPr>
            <p:cNvPr id="3" name="object 3"/>
            <p:cNvPicPr/>
            <p:nvPr/>
          </p:nvPicPr>
          <p:blipFill>
            <a:blip r:embed="rId2" cstate="print"/>
            <a:stretch>
              <a:fillRect/>
            </a:stretch>
          </p:blipFill>
          <p:spPr>
            <a:xfrm>
              <a:off x="247649" y="1533525"/>
              <a:ext cx="6105525" cy="5105400"/>
            </a:xfrm>
            <a:prstGeom prst="rect">
              <a:avLst/>
            </a:prstGeom>
          </p:spPr>
        </p:pic>
        <p:sp>
          <p:nvSpPr>
            <p:cNvPr id="4" name="object 4"/>
            <p:cNvSpPr/>
            <p:nvPr/>
          </p:nvSpPr>
          <p:spPr>
            <a:xfrm>
              <a:off x="4517933" y="1371634"/>
              <a:ext cx="1657350" cy="514350"/>
            </a:xfrm>
            <a:custGeom>
              <a:avLst/>
              <a:gdLst/>
              <a:ahLst/>
              <a:cxnLst/>
              <a:rect l="l" t="t" r="r" b="b"/>
              <a:pathLst>
                <a:path w="1657350" h="514350">
                  <a:moveTo>
                    <a:pt x="1657350" y="0"/>
                  </a:moveTo>
                  <a:lnTo>
                    <a:pt x="0" y="0"/>
                  </a:lnTo>
                  <a:lnTo>
                    <a:pt x="0" y="514350"/>
                  </a:lnTo>
                  <a:lnTo>
                    <a:pt x="1657350" y="514350"/>
                  </a:lnTo>
                  <a:lnTo>
                    <a:pt x="1657350" y="0"/>
                  </a:lnTo>
                  <a:close/>
                </a:path>
              </a:pathLst>
            </a:custGeom>
            <a:solidFill>
              <a:srgbClr val="FFFFFF"/>
            </a:solidFill>
          </p:spPr>
          <p:txBody>
            <a:bodyPr wrap="square" lIns="0" tIns="0" rIns="0" bIns="0" rtlCol="0"/>
            <a:lstStyle/>
            <a:p>
              <a:endParaRPr/>
            </a:p>
          </p:txBody>
        </p:sp>
        <p:sp>
          <p:nvSpPr>
            <p:cNvPr id="6" name="object 6"/>
            <p:cNvSpPr/>
            <p:nvPr/>
          </p:nvSpPr>
          <p:spPr>
            <a:xfrm>
              <a:off x="1533555" y="3086176"/>
              <a:ext cx="552450" cy="438150"/>
            </a:xfrm>
            <a:custGeom>
              <a:avLst/>
              <a:gdLst/>
              <a:ahLst/>
              <a:cxnLst/>
              <a:rect l="l" t="t" r="r" b="b"/>
              <a:pathLst>
                <a:path w="552450" h="438150">
                  <a:moveTo>
                    <a:pt x="276225" y="0"/>
                  </a:moveTo>
                  <a:lnTo>
                    <a:pt x="210947" y="167259"/>
                  </a:lnTo>
                  <a:lnTo>
                    <a:pt x="0" y="167259"/>
                  </a:lnTo>
                  <a:lnTo>
                    <a:pt x="170688" y="270764"/>
                  </a:lnTo>
                  <a:lnTo>
                    <a:pt x="105410" y="438023"/>
                  </a:lnTo>
                  <a:lnTo>
                    <a:pt x="276225" y="334645"/>
                  </a:lnTo>
                  <a:lnTo>
                    <a:pt x="446913" y="438023"/>
                  </a:lnTo>
                  <a:lnTo>
                    <a:pt x="381634" y="270764"/>
                  </a:lnTo>
                  <a:lnTo>
                    <a:pt x="552450" y="167259"/>
                  </a:lnTo>
                  <a:lnTo>
                    <a:pt x="341375" y="167259"/>
                  </a:lnTo>
                  <a:lnTo>
                    <a:pt x="276225" y="0"/>
                  </a:lnTo>
                  <a:close/>
                </a:path>
              </a:pathLst>
            </a:custGeom>
            <a:solidFill>
              <a:srgbClr val="FF80A9"/>
            </a:solidFill>
          </p:spPr>
          <p:txBody>
            <a:bodyPr wrap="square" lIns="0" tIns="0" rIns="0" bIns="0" rtlCol="0"/>
            <a:lstStyle/>
            <a:p>
              <a:endParaRPr/>
            </a:p>
          </p:txBody>
        </p:sp>
      </p:grpSp>
      <p:pic>
        <p:nvPicPr>
          <p:cNvPr id="11" name="Picture 10">
            <a:extLst>
              <a:ext uri="{FF2B5EF4-FFF2-40B4-BE49-F238E27FC236}">
                <a16:creationId xmlns:a16="http://schemas.microsoft.com/office/drawing/2014/main" id="{EB97E6C2-E74E-3AEB-3F14-2843C6F1EF6C}"/>
              </a:ext>
            </a:extLst>
          </p:cNvPr>
          <p:cNvPicPr>
            <a:picLocks noChangeAspect="1"/>
          </p:cNvPicPr>
          <p:nvPr/>
        </p:nvPicPr>
        <p:blipFill>
          <a:blip r:embed="rId3"/>
          <a:stretch>
            <a:fillRect/>
          </a:stretch>
        </p:blipFill>
        <p:spPr>
          <a:xfrm>
            <a:off x="13275469" y="5181600"/>
            <a:ext cx="6629400" cy="6629400"/>
          </a:xfrm>
          <a:prstGeom prst="rect">
            <a:avLst/>
          </a:prstGeom>
        </p:spPr>
      </p:pic>
      <p:pic>
        <p:nvPicPr>
          <p:cNvPr id="13" name="Picture 12">
            <a:extLst>
              <a:ext uri="{FF2B5EF4-FFF2-40B4-BE49-F238E27FC236}">
                <a16:creationId xmlns:a16="http://schemas.microsoft.com/office/drawing/2014/main" id="{1B10D239-8491-D5EC-55FA-1062A1C7EACA}"/>
              </a:ext>
            </a:extLst>
          </p:cNvPr>
          <p:cNvPicPr>
            <a:picLocks noChangeAspect="1"/>
          </p:cNvPicPr>
          <p:nvPr/>
        </p:nvPicPr>
        <p:blipFill>
          <a:blip r:embed="rId4"/>
          <a:stretch>
            <a:fillRect/>
          </a:stretch>
        </p:blipFill>
        <p:spPr>
          <a:xfrm>
            <a:off x="12475144" y="2971800"/>
            <a:ext cx="8477251" cy="1905000"/>
          </a:xfrm>
          <a:prstGeom prst="rect">
            <a:avLst/>
          </a:prstGeom>
        </p:spPr>
      </p:pic>
      <p:pic>
        <p:nvPicPr>
          <p:cNvPr id="14" name="Picture 2" descr="Simple, Consistent Wrappers for Common String Operations • stringr">
            <a:extLst>
              <a:ext uri="{FF2B5EF4-FFF2-40B4-BE49-F238E27FC236}">
                <a16:creationId xmlns:a16="http://schemas.microsoft.com/office/drawing/2014/main" id="{56404FE5-2F3A-D54C-1395-2F031606C7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66669" y="180098"/>
            <a:ext cx="2286000" cy="2638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369486" y="821196"/>
            <a:ext cx="11226526" cy="9465498"/>
          </a:xfrm>
          <a:prstGeom prst="rect">
            <a:avLst/>
          </a:prstGeom>
        </p:spPr>
      </p:pic>
      <p:pic>
        <p:nvPicPr>
          <p:cNvPr id="7" name="Picture 6">
            <a:extLst>
              <a:ext uri="{FF2B5EF4-FFF2-40B4-BE49-F238E27FC236}">
                <a16:creationId xmlns:a16="http://schemas.microsoft.com/office/drawing/2014/main" id="{E1F00A86-7220-A2C3-8CCB-01208C1011A2}"/>
              </a:ext>
            </a:extLst>
          </p:cNvPr>
          <p:cNvPicPr>
            <a:picLocks noChangeAspect="1"/>
          </p:cNvPicPr>
          <p:nvPr/>
        </p:nvPicPr>
        <p:blipFill>
          <a:blip r:embed="rId3"/>
          <a:stretch>
            <a:fillRect/>
          </a:stretch>
        </p:blipFill>
        <p:spPr>
          <a:xfrm>
            <a:off x="11741843" y="5715000"/>
            <a:ext cx="9532033" cy="3581400"/>
          </a:xfrm>
          <a:prstGeom prst="rect">
            <a:avLst/>
          </a:prstGeom>
        </p:spPr>
      </p:pic>
      <p:pic>
        <p:nvPicPr>
          <p:cNvPr id="9" name="Picture 8">
            <a:extLst>
              <a:ext uri="{FF2B5EF4-FFF2-40B4-BE49-F238E27FC236}">
                <a16:creationId xmlns:a16="http://schemas.microsoft.com/office/drawing/2014/main" id="{7428DCB1-1799-B250-68CB-56415A13017A}"/>
              </a:ext>
            </a:extLst>
          </p:cNvPr>
          <p:cNvPicPr>
            <a:picLocks noChangeAspect="1"/>
          </p:cNvPicPr>
          <p:nvPr/>
        </p:nvPicPr>
        <p:blipFill>
          <a:blip r:embed="rId4"/>
          <a:srcRect r="3924"/>
          <a:stretch/>
        </p:blipFill>
        <p:spPr>
          <a:xfrm>
            <a:off x="11596012" y="3124200"/>
            <a:ext cx="9799818" cy="1981200"/>
          </a:xfrm>
          <a:prstGeom prst="rect">
            <a:avLst/>
          </a:prstGeom>
        </p:spPr>
      </p:pic>
      <p:sp>
        <p:nvSpPr>
          <p:cNvPr id="10" name="object 6">
            <a:extLst>
              <a:ext uri="{FF2B5EF4-FFF2-40B4-BE49-F238E27FC236}">
                <a16:creationId xmlns:a16="http://schemas.microsoft.com/office/drawing/2014/main" id="{23E0E98A-CDE3-49EF-94B6-B588E2A755C1}"/>
              </a:ext>
            </a:extLst>
          </p:cNvPr>
          <p:cNvSpPr/>
          <p:nvPr/>
        </p:nvSpPr>
        <p:spPr>
          <a:xfrm>
            <a:off x="2759869" y="1905306"/>
            <a:ext cx="982109" cy="778914"/>
          </a:xfrm>
          <a:custGeom>
            <a:avLst/>
            <a:gdLst/>
            <a:ahLst/>
            <a:cxnLst/>
            <a:rect l="l" t="t" r="r" b="b"/>
            <a:pathLst>
              <a:path w="552450" h="438150">
                <a:moveTo>
                  <a:pt x="276225" y="0"/>
                </a:moveTo>
                <a:lnTo>
                  <a:pt x="210947" y="167259"/>
                </a:lnTo>
                <a:lnTo>
                  <a:pt x="0" y="167259"/>
                </a:lnTo>
                <a:lnTo>
                  <a:pt x="170688" y="270764"/>
                </a:lnTo>
                <a:lnTo>
                  <a:pt x="105410" y="438023"/>
                </a:lnTo>
                <a:lnTo>
                  <a:pt x="276225" y="334645"/>
                </a:lnTo>
                <a:lnTo>
                  <a:pt x="446913" y="438023"/>
                </a:lnTo>
                <a:lnTo>
                  <a:pt x="381634" y="270764"/>
                </a:lnTo>
                <a:lnTo>
                  <a:pt x="552450" y="167259"/>
                </a:lnTo>
                <a:lnTo>
                  <a:pt x="341375" y="167259"/>
                </a:lnTo>
                <a:lnTo>
                  <a:pt x="276225" y="0"/>
                </a:lnTo>
                <a:close/>
              </a:path>
            </a:pathLst>
          </a:custGeom>
          <a:solidFill>
            <a:srgbClr val="FF80A9"/>
          </a:solidFill>
        </p:spPr>
        <p:txBody>
          <a:bodyPr wrap="square" lIns="0" tIns="0" rIns="0" bIns="0" rtlCol="0"/>
          <a:lstStyle/>
          <a:p>
            <a:endParaRPr/>
          </a:p>
        </p:txBody>
      </p:sp>
      <p:sp>
        <p:nvSpPr>
          <p:cNvPr id="11" name="object 6">
            <a:extLst>
              <a:ext uri="{FF2B5EF4-FFF2-40B4-BE49-F238E27FC236}">
                <a16:creationId xmlns:a16="http://schemas.microsoft.com/office/drawing/2014/main" id="{813C4C37-5B9E-4B70-A536-15C27F749B24}"/>
              </a:ext>
            </a:extLst>
          </p:cNvPr>
          <p:cNvSpPr/>
          <p:nvPr/>
        </p:nvSpPr>
        <p:spPr>
          <a:xfrm>
            <a:off x="2759868" y="7239000"/>
            <a:ext cx="982109" cy="778914"/>
          </a:xfrm>
          <a:custGeom>
            <a:avLst/>
            <a:gdLst/>
            <a:ahLst/>
            <a:cxnLst/>
            <a:rect l="l" t="t" r="r" b="b"/>
            <a:pathLst>
              <a:path w="552450" h="438150">
                <a:moveTo>
                  <a:pt x="276225" y="0"/>
                </a:moveTo>
                <a:lnTo>
                  <a:pt x="210947" y="167259"/>
                </a:lnTo>
                <a:lnTo>
                  <a:pt x="0" y="167259"/>
                </a:lnTo>
                <a:lnTo>
                  <a:pt x="170688" y="270764"/>
                </a:lnTo>
                <a:lnTo>
                  <a:pt x="105410" y="438023"/>
                </a:lnTo>
                <a:lnTo>
                  <a:pt x="276225" y="334645"/>
                </a:lnTo>
                <a:lnTo>
                  <a:pt x="446913" y="438023"/>
                </a:lnTo>
                <a:lnTo>
                  <a:pt x="381634" y="270764"/>
                </a:lnTo>
                <a:lnTo>
                  <a:pt x="552450" y="167259"/>
                </a:lnTo>
                <a:lnTo>
                  <a:pt x="341375" y="167259"/>
                </a:lnTo>
                <a:lnTo>
                  <a:pt x="276225" y="0"/>
                </a:lnTo>
                <a:close/>
              </a:path>
            </a:pathLst>
          </a:custGeom>
          <a:solidFill>
            <a:srgbClr val="FF80A9"/>
          </a:solidFill>
        </p:spPr>
        <p:txBody>
          <a:bodyPr wrap="square" lIns="0" tIns="0" rIns="0" bIns="0" rtlCol="0"/>
          <a:lstStyle/>
          <a:p>
            <a:endParaRPr/>
          </a:p>
        </p:txBody>
      </p:sp>
      <p:pic>
        <p:nvPicPr>
          <p:cNvPr id="12" name="Picture 2" descr="Simple, Consistent Wrappers for Common String Operations • stringr">
            <a:extLst>
              <a:ext uri="{FF2B5EF4-FFF2-40B4-BE49-F238E27FC236}">
                <a16:creationId xmlns:a16="http://schemas.microsoft.com/office/drawing/2014/main" id="{C64D9CF1-03A8-019D-FA04-A66464CEA2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66669" y="180098"/>
            <a:ext cx="2286000" cy="2638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79573" y="7491984"/>
            <a:ext cx="11128258" cy="1256974"/>
          </a:xfrm>
          <a:prstGeom prst="rect">
            <a:avLst/>
          </a:prstGeom>
        </p:spPr>
      </p:pic>
      <p:pic>
        <p:nvPicPr>
          <p:cNvPr id="3" name="object 3"/>
          <p:cNvPicPr/>
          <p:nvPr/>
        </p:nvPicPr>
        <p:blipFill>
          <a:blip r:embed="rId3" cstate="print"/>
          <a:stretch>
            <a:fillRect/>
          </a:stretch>
        </p:blipFill>
        <p:spPr>
          <a:xfrm>
            <a:off x="550069" y="779063"/>
            <a:ext cx="12496495" cy="5316937"/>
          </a:xfrm>
          <a:prstGeom prst="rect">
            <a:avLst/>
          </a:prstGeom>
        </p:spPr>
      </p:pic>
      <p:pic>
        <p:nvPicPr>
          <p:cNvPr id="4" name="object 4"/>
          <p:cNvPicPr/>
          <p:nvPr/>
        </p:nvPicPr>
        <p:blipFill>
          <a:blip r:embed="rId4" cstate="print"/>
          <a:stretch>
            <a:fillRect/>
          </a:stretch>
        </p:blipFill>
        <p:spPr>
          <a:xfrm>
            <a:off x="888732" y="6265333"/>
            <a:ext cx="3064859" cy="931311"/>
          </a:xfrm>
          <a:prstGeom prst="rect">
            <a:avLst/>
          </a:prstGeom>
        </p:spPr>
      </p:pic>
      <p:pic>
        <p:nvPicPr>
          <p:cNvPr id="12" name="Picture 11">
            <a:extLst>
              <a:ext uri="{FF2B5EF4-FFF2-40B4-BE49-F238E27FC236}">
                <a16:creationId xmlns:a16="http://schemas.microsoft.com/office/drawing/2014/main" id="{8E273A10-81A8-22A3-64C6-971C5C69A867}"/>
              </a:ext>
            </a:extLst>
          </p:cNvPr>
          <p:cNvPicPr>
            <a:picLocks noChangeAspect="1"/>
          </p:cNvPicPr>
          <p:nvPr/>
        </p:nvPicPr>
        <p:blipFill>
          <a:blip r:embed="rId5"/>
          <a:stretch>
            <a:fillRect/>
          </a:stretch>
        </p:blipFill>
        <p:spPr>
          <a:xfrm>
            <a:off x="12666640" y="5396851"/>
            <a:ext cx="8457429" cy="6261749"/>
          </a:xfrm>
          <a:prstGeom prst="rect">
            <a:avLst/>
          </a:prstGeom>
        </p:spPr>
      </p:pic>
      <p:sp>
        <p:nvSpPr>
          <p:cNvPr id="13" name="object 6">
            <a:extLst>
              <a:ext uri="{FF2B5EF4-FFF2-40B4-BE49-F238E27FC236}">
                <a16:creationId xmlns:a16="http://schemas.microsoft.com/office/drawing/2014/main" id="{3992553C-294F-AD3C-7AD2-92A88263D8A8}"/>
              </a:ext>
            </a:extLst>
          </p:cNvPr>
          <p:cNvSpPr/>
          <p:nvPr/>
        </p:nvSpPr>
        <p:spPr>
          <a:xfrm>
            <a:off x="3140869" y="7694417"/>
            <a:ext cx="982109" cy="778914"/>
          </a:xfrm>
          <a:custGeom>
            <a:avLst/>
            <a:gdLst/>
            <a:ahLst/>
            <a:cxnLst/>
            <a:rect l="l" t="t" r="r" b="b"/>
            <a:pathLst>
              <a:path w="552450" h="438150">
                <a:moveTo>
                  <a:pt x="276225" y="0"/>
                </a:moveTo>
                <a:lnTo>
                  <a:pt x="210947" y="167259"/>
                </a:lnTo>
                <a:lnTo>
                  <a:pt x="0" y="167259"/>
                </a:lnTo>
                <a:lnTo>
                  <a:pt x="170688" y="270764"/>
                </a:lnTo>
                <a:lnTo>
                  <a:pt x="105410" y="438023"/>
                </a:lnTo>
                <a:lnTo>
                  <a:pt x="276225" y="334645"/>
                </a:lnTo>
                <a:lnTo>
                  <a:pt x="446913" y="438023"/>
                </a:lnTo>
                <a:lnTo>
                  <a:pt x="381634" y="270764"/>
                </a:lnTo>
                <a:lnTo>
                  <a:pt x="552450" y="167259"/>
                </a:lnTo>
                <a:lnTo>
                  <a:pt x="341375" y="167259"/>
                </a:lnTo>
                <a:lnTo>
                  <a:pt x="276225" y="0"/>
                </a:lnTo>
                <a:close/>
              </a:path>
            </a:pathLst>
          </a:custGeom>
          <a:solidFill>
            <a:srgbClr val="FF80A9"/>
          </a:solidFill>
        </p:spPr>
        <p:txBody>
          <a:bodyPr wrap="square" lIns="0" tIns="0" rIns="0" bIns="0" rtlCol="0"/>
          <a:lstStyle/>
          <a:p>
            <a:endParaRPr/>
          </a:p>
        </p:txBody>
      </p:sp>
      <p:pic>
        <p:nvPicPr>
          <p:cNvPr id="15" name="Picture 14">
            <a:extLst>
              <a:ext uri="{FF2B5EF4-FFF2-40B4-BE49-F238E27FC236}">
                <a16:creationId xmlns:a16="http://schemas.microsoft.com/office/drawing/2014/main" id="{9DECA671-EF6C-2ACD-179A-79C281603ED8}"/>
              </a:ext>
            </a:extLst>
          </p:cNvPr>
          <p:cNvPicPr>
            <a:picLocks noChangeAspect="1"/>
          </p:cNvPicPr>
          <p:nvPr/>
        </p:nvPicPr>
        <p:blipFill>
          <a:blip r:embed="rId6"/>
          <a:stretch>
            <a:fillRect/>
          </a:stretch>
        </p:blipFill>
        <p:spPr>
          <a:xfrm>
            <a:off x="12666639" y="3086467"/>
            <a:ext cx="8629609" cy="1929384"/>
          </a:xfrm>
          <a:prstGeom prst="rect">
            <a:avLst/>
          </a:prstGeom>
        </p:spPr>
      </p:pic>
      <p:pic>
        <p:nvPicPr>
          <p:cNvPr id="16" name="Picture 2" descr="Simple, Consistent Wrappers for Common String Operations • stringr">
            <a:extLst>
              <a:ext uri="{FF2B5EF4-FFF2-40B4-BE49-F238E27FC236}">
                <a16:creationId xmlns:a16="http://schemas.microsoft.com/office/drawing/2014/main" id="{1E09230C-0BC1-7C95-C108-C6AD68B45E1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66669" y="180098"/>
            <a:ext cx="2286000" cy="2638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27577-5CBB-9EF1-6887-1921112CF4C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A21E5D4-6BDB-E8FF-8061-B90DBCCED6E4}"/>
              </a:ext>
            </a:extLst>
          </p:cNvPr>
          <p:cNvSpPr/>
          <p:nvPr/>
        </p:nvSpPr>
        <p:spPr>
          <a:xfrm>
            <a:off x="0" y="298"/>
            <a:ext cx="3140869" cy="12191702"/>
          </a:xfrm>
          <a:custGeom>
            <a:avLst/>
            <a:gdLst/>
            <a:ahLst/>
            <a:cxnLst/>
            <a:rect l="l" t="t" r="r" b="b"/>
            <a:pathLst>
              <a:path w="4572000" h="6858000">
                <a:moveTo>
                  <a:pt x="4572000" y="0"/>
                </a:moveTo>
                <a:lnTo>
                  <a:pt x="0" y="0"/>
                </a:lnTo>
                <a:lnTo>
                  <a:pt x="0" y="6858000"/>
                </a:lnTo>
                <a:lnTo>
                  <a:pt x="4572000" y="6858000"/>
                </a:lnTo>
                <a:lnTo>
                  <a:pt x="4572000" y="0"/>
                </a:lnTo>
                <a:close/>
              </a:path>
            </a:pathLst>
          </a:custGeom>
          <a:solidFill>
            <a:srgbClr val="00BCC8"/>
          </a:solidFill>
        </p:spPr>
        <p:txBody>
          <a:bodyPr wrap="square" lIns="0" tIns="0" rIns="0" bIns="0" rtlCol="0"/>
          <a:lstStyle/>
          <a:p>
            <a:endParaRPr/>
          </a:p>
        </p:txBody>
      </p:sp>
      <p:sp>
        <p:nvSpPr>
          <p:cNvPr id="3" name="object 3">
            <a:extLst>
              <a:ext uri="{FF2B5EF4-FFF2-40B4-BE49-F238E27FC236}">
                <a16:creationId xmlns:a16="http://schemas.microsoft.com/office/drawing/2014/main" id="{80A49086-AD07-DC13-0FEF-5DF6000B5091}"/>
              </a:ext>
            </a:extLst>
          </p:cNvPr>
          <p:cNvSpPr txBox="1">
            <a:spLocks noGrp="1"/>
          </p:cNvSpPr>
          <p:nvPr>
            <p:ph type="title"/>
          </p:nvPr>
        </p:nvSpPr>
        <p:spPr>
          <a:xfrm rot="16200000">
            <a:off x="-2110032" y="5127712"/>
            <a:ext cx="6951980" cy="1936577"/>
          </a:xfrm>
          <a:prstGeom prst="rect">
            <a:avLst/>
          </a:prstGeom>
        </p:spPr>
        <p:txBody>
          <a:bodyPr vert="horz" wrap="square" lIns="0" tIns="292375" rIns="0" bIns="0" rtlCol="0">
            <a:spAutoFit/>
          </a:bodyPr>
          <a:lstStyle/>
          <a:p>
            <a:pPr marL="22577">
              <a:spcBef>
                <a:spcPts val="2302"/>
              </a:spcBef>
            </a:pPr>
            <a:r>
              <a:rPr lang="en-CA" sz="10666" spc="-151" dirty="0">
                <a:solidFill>
                  <a:srgbClr val="FFFFFF"/>
                </a:solidFill>
                <a:latin typeface="Aptos Black" panose="020B0004020202020204" pitchFamily="34" charset="0"/>
              </a:rPr>
              <a:t>Resources</a:t>
            </a:r>
            <a:endParaRPr sz="10666" dirty="0">
              <a:latin typeface="Aptos Black" panose="020B0004020202020204" pitchFamily="34" charset="0"/>
            </a:endParaRPr>
          </a:p>
        </p:txBody>
      </p:sp>
      <p:sp>
        <p:nvSpPr>
          <p:cNvPr id="5" name="object 3">
            <a:extLst>
              <a:ext uri="{FF2B5EF4-FFF2-40B4-BE49-F238E27FC236}">
                <a16:creationId xmlns:a16="http://schemas.microsoft.com/office/drawing/2014/main" id="{F9CA4392-B753-5446-3CAC-D5EA2EAAD4B1}"/>
              </a:ext>
            </a:extLst>
          </p:cNvPr>
          <p:cNvSpPr txBox="1"/>
          <p:nvPr/>
        </p:nvSpPr>
        <p:spPr>
          <a:xfrm>
            <a:off x="3574257" y="1524000"/>
            <a:ext cx="18135600" cy="9566478"/>
          </a:xfrm>
          <a:prstGeom prst="rect">
            <a:avLst/>
          </a:prstGeom>
        </p:spPr>
        <p:txBody>
          <a:bodyPr vert="horz" wrap="square" lIns="0" tIns="29350" rIns="0" bIns="0" rtlCol="0">
            <a:spAutoFit/>
          </a:bodyPr>
          <a:lstStyle/>
          <a:p>
            <a:pPr marL="1164448" indent="-1143000">
              <a:lnSpc>
                <a:spcPts val="6817"/>
              </a:lnSpc>
              <a:spcBef>
                <a:spcPts val="231"/>
              </a:spcBef>
              <a:buFont typeface="+mj-lt"/>
              <a:buAutoNum type="arabicPeriod"/>
              <a:tabLst>
                <a:tab pos="633279" algn="l"/>
              </a:tabLst>
            </a:pPr>
            <a:r>
              <a:rPr lang="en-CA" sz="4800" dirty="0">
                <a:latin typeface="Calibri Light"/>
                <a:cs typeface="Calibri Light"/>
              </a:rPr>
              <a:t>Swirl tutorial package (</a:t>
            </a:r>
            <a:r>
              <a:rPr lang="en-CA" sz="4800" dirty="0">
                <a:latin typeface="Calibri Light"/>
                <a:cs typeface="Calibri Light"/>
                <a:hlinkClick r:id="rId2"/>
              </a:rPr>
              <a:t>https://swirlstats.com/</a:t>
            </a:r>
            <a:r>
              <a:rPr lang="en-CA" sz="4800" dirty="0">
                <a:latin typeface="Calibri Light"/>
                <a:cs typeface="Calibri Light"/>
              </a:rPr>
              <a:t>) </a:t>
            </a:r>
            <a:endParaRPr lang="en-CA" sz="4800" spc="-18" dirty="0">
              <a:latin typeface="Calibri Light"/>
              <a:cs typeface="Calibri Light"/>
            </a:endParaRPr>
          </a:p>
          <a:p>
            <a:pPr marL="1164448" indent="-1143000">
              <a:lnSpc>
                <a:spcPts val="6817"/>
              </a:lnSpc>
              <a:buFont typeface="+mj-lt"/>
              <a:buAutoNum type="arabicPeriod"/>
              <a:tabLst>
                <a:tab pos="633279" algn="l"/>
              </a:tabLst>
            </a:pPr>
            <a:r>
              <a:rPr lang="en-CA" sz="4800" dirty="0">
                <a:latin typeface="Calibri Light"/>
                <a:cs typeface="Calibri Light"/>
              </a:rPr>
              <a:t>Epi’s handbook (</a:t>
            </a:r>
            <a:r>
              <a:rPr lang="en-CA" sz="4800" dirty="0">
                <a:latin typeface="Calibri Light"/>
                <a:cs typeface="Calibri Light"/>
                <a:hlinkClick r:id="rId3"/>
              </a:rPr>
              <a:t>https://www.epirhandbook.com/en/</a:t>
            </a:r>
            <a:r>
              <a:rPr lang="en-CA" sz="4800" dirty="0">
                <a:latin typeface="Calibri Light"/>
                <a:cs typeface="Calibri Light"/>
              </a:rPr>
              <a:t>)</a:t>
            </a:r>
          </a:p>
          <a:p>
            <a:pPr marL="1164448" indent="-1143000">
              <a:lnSpc>
                <a:spcPts val="6817"/>
              </a:lnSpc>
              <a:buFont typeface="+mj-lt"/>
              <a:buAutoNum type="arabicPeriod"/>
              <a:tabLst>
                <a:tab pos="633279" algn="l"/>
              </a:tabLst>
            </a:pPr>
            <a:r>
              <a:rPr lang="en-CA" sz="4800" dirty="0">
                <a:latin typeface="Calibri Light"/>
                <a:cs typeface="Calibri Light"/>
              </a:rPr>
              <a:t>R4Epi (</a:t>
            </a:r>
            <a:r>
              <a:rPr lang="en-CA" sz="4800" dirty="0">
                <a:latin typeface="Calibri Light"/>
                <a:cs typeface="Calibri Light"/>
                <a:hlinkClick r:id="rId4"/>
              </a:rPr>
              <a:t>https://www.r4epi.com/</a:t>
            </a:r>
            <a:r>
              <a:rPr lang="en-CA" sz="4800" dirty="0">
                <a:latin typeface="Calibri Light"/>
                <a:cs typeface="Calibri Light"/>
              </a:rPr>
              <a:t>) </a:t>
            </a:r>
          </a:p>
          <a:p>
            <a:pPr marL="1164448" indent="-1143000">
              <a:lnSpc>
                <a:spcPts val="6817"/>
              </a:lnSpc>
              <a:buFont typeface="+mj-lt"/>
              <a:buAutoNum type="arabicPeriod"/>
              <a:tabLst>
                <a:tab pos="633279" algn="l"/>
              </a:tabLst>
            </a:pPr>
            <a:r>
              <a:rPr lang="en-CA" sz="4800" spc="-18" dirty="0">
                <a:latin typeface="Calibri Light"/>
                <a:cs typeface="Calibri Light"/>
              </a:rPr>
              <a:t>Intro to R for epi’s free course (</a:t>
            </a:r>
            <a:r>
              <a:rPr lang="en-CA" sz="4800" spc="-18" dirty="0">
                <a:latin typeface="Calibri Light"/>
                <a:cs typeface="Calibri Light"/>
                <a:hlinkClick r:id="rId5"/>
              </a:rPr>
              <a:t>https://ucb-epi-r.github.io/</a:t>
            </a:r>
            <a:r>
              <a:rPr lang="en-CA" sz="4800" spc="-18" dirty="0">
                <a:latin typeface="Calibri Light"/>
                <a:cs typeface="Calibri Light"/>
              </a:rPr>
              <a:t>)</a:t>
            </a:r>
          </a:p>
          <a:p>
            <a:pPr marL="1164448" indent="-1143000">
              <a:lnSpc>
                <a:spcPts val="6817"/>
              </a:lnSpc>
              <a:buFont typeface="+mj-lt"/>
              <a:buAutoNum type="arabicPeriod"/>
              <a:tabLst>
                <a:tab pos="633279" algn="l"/>
              </a:tabLst>
            </a:pPr>
            <a:r>
              <a:rPr lang="en-CA" sz="4800" spc="-18" dirty="0">
                <a:latin typeface="Calibri Light"/>
                <a:cs typeface="Calibri Light"/>
              </a:rPr>
              <a:t>R for data science (</a:t>
            </a:r>
            <a:r>
              <a:rPr lang="en-CA" sz="4800" spc="-18" dirty="0">
                <a:latin typeface="Calibri Light"/>
                <a:cs typeface="Calibri Light"/>
                <a:hlinkClick r:id="rId6"/>
              </a:rPr>
              <a:t>https://r4ds.hadley.nz/</a:t>
            </a:r>
            <a:r>
              <a:rPr lang="en-CA" sz="4800" spc="-18" dirty="0">
                <a:latin typeface="Calibri Light"/>
                <a:cs typeface="Calibri Light"/>
              </a:rPr>
              <a:t>) </a:t>
            </a:r>
          </a:p>
          <a:p>
            <a:pPr marL="1164448" indent="-1143000">
              <a:lnSpc>
                <a:spcPts val="6817"/>
              </a:lnSpc>
              <a:buFont typeface="+mj-lt"/>
              <a:buAutoNum type="arabicPeriod"/>
              <a:tabLst>
                <a:tab pos="633279" algn="l"/>
              </a:tabLst>
            </a:pPr>
            <a:r>
              <a:rPr lang="en-CA" sz="4800" spc="-18" dirty="0">
                <a:latin typeface="Calibri Light"/>
                <a:cs typeface="Calibri Light"/>
              </a:rPr>
              <a:t>R for SAS users (</a:t>
            </a:r>
            <a:r>
              <a:rPr lang="en-CA" sz="4800" spc="-18" dirty="0">
                <a:latin typeface="Calibri Light"/>
                <a:cs typeface="Calibri Light"/>
                <a:hlinkClick r:id="rId7"/>
              </a:rPr>
              <a:t>https://posit.co/blog/how-to-learn-r-as-a-sas-user/</a:t>
            </a:r>
            <a:r>
              <a:rPr lang="en-CA" sz="4800" spc="-18" dirty="0">
                <a:latin typeface="Calibri Light"/>
                <a:cs typeface="Calibri Light"/>
              </a:rPr>
              <a:t>) </a:t>
            </a:r>
          </a:p>
          <a:p>
            <a:pPr marL="1164448" indent="-1143000">
              <a:lnSpc>
                <a:spcPts val="6817"/>
              </a:lnSpc>
              <a:buFont typeface="+mj-lt"/>
              <a:buAutoNum type="arabicPeriod"/>
              <a:tabLst>
                <a:tab pos="633279" algn="l"/>
              </a:tabLst>
            </a:pPr>
            <a:r>
              <a:rPr lang="en-CA" sz="4800" spc="-18" dirty="0">
                <a:latin typeface="Calibri Light"/>
                <a:cs typeface="Calibri Light"/>
              </a:rPr>
              <a:t>SAS to R cheat sheet (</a:t>
            </a:r>
            <a:r>
              <a:rPr lang="en-CA" sz="4800" spc="-18" dirty="0">
                <a:latin typeface="Calibri Light"/>
                <a:cs typeface="Calibri Light"/>
                <a:hlinkClick r:id="rId8"/>
              </a:rPr>
              <a:t>https://pharmaverse.github.io/intro-to-r-for-sas-programmers-workshop/</a:t>
            </a:r>
            <a:r>
              <a:rPr lang="en-CA" sz="4800" spc="-18" dirty="0">
                <a:latin typeface="Calibri Light"/>
                <a:cs typeface="Calibri Light"/>
              </a:rPr>
              <a:t>) </a:t>
            </a:r>
          </a:p>
          <a:p>
            <a:pPr marL="1164448" indent="-1143000">
              <a:lnSpc>
                <a:spcPts val="6817"/>
              </a:lnSpc>
              <a:buFont typeface="+mj-lt"/>
              <a:buAutoNum type="arabicPeriod"/>
              <a:tabLst>
                <a:tab pos="633279" algn="l"/>
              </a:tabLst>
            </a:pPr>
            <a:r>
              <a:rPr lang="en-CA" sz="4800" spc="-18" dirty="0">
                <a:latin typeface="Calibri Light"/>
                <a:cs typeface="Calibri Light"/>
              </a:rPr>
              <a:t>Intro to </a:t>
            </a:r>
            <a:r>
              <a:rPr lang="en-CA" sz="4800" spc="-18" dirty="0" err="1">
                <a:latin typeface="Calibri Light"/>
                <a:cs typeface="Calibri Light"/>
              </a:rPr>
              <a:t>Tidyverse</a:t>
            </a:r>
            <a:r>
              <a:rPr lang="en-CA" sz="4800" spc="-18" dirty="0">
                <a:latin typeface="Calibri Light"/>
                <a:cs typeface="Calibri Light"/>
              </a:rPr>
              <a:t> (</a:t>
            </a:r>
            <a:r>
              <a:rPr lang="en-CA" sz="4800" spc="-18" dirty="0">
                <a:latin typeface="Calibri Light"/>
                <a:cs typeface="Calibri Light"/>
                <a:hlinkClick r:id="rId9"/>
              </a:rPr>
              <a:t>https://jhudatascience.org/tidyversecourse/intro.html</a:t>
            </a:r>
            <a:r>
              <a:rPr lang="en-CA" sz="4800" spc="-18" dirty="0">
                <a:latin typeface="Calibri Light"/>
                <a:cs typeface="Calibri Light"/>
              </a:rPr>
              <a:t>) </a:t>
            </a:r>
          </a:p>
          <a:p>
            <a:pPr marL="1164448" indent="-1143000">
              <a:lnSpc>
                <a:spcPts val="6817"/>
              </a:lnSpc>
              <a:buFont typeface="+mj-lt"/>
              <a:buAutoNum type="arabicPeriod"/>
              <a:tabLst>
                <a:tab pos="633279" algn="l"/>
              </a:tabLst>
            </a:pPr>
            <a:endParaRPr lang="en-CA" sz="4800" spc="-18" dirty="0">
              <a:latin typeface="Calibri Light"/>
              <a:cs typeface="Calibri Light"/>
            </a:endParaRPr>
          </a:p>
        </p:txBody>
      </p:sp>
    </p:spTree>
    <p:extLst>
      <p:ext uri="{BB962C8B-B14F-4D97-AF65-F5344CB8AC3E}">
        <p14:creationId xmlns:p14="http://schemas.microsoft.com/office/powerpoint/2010/main" val="9062108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rot="16200000">
            <a:off x="2489140" y="-2477953"/>
            <a:ext cx="12191699" cy="17169979"/>
          </a:xfrm>
          <a:prstGeom prst="rect">
            <a:avLst/>
          </a:prstGeom>
        </p:spPr>
      </p:pic>
      <p:sp>
        <p:nvSpPr>
          <p:cNvPr id="3" name="object 3"/>
          <p:cNvSpPr txBox="1"/>
          <p:nvPr/>
        </p:nvSpPr>
        <p:spPr>
          <a:xfrm rot="16200000">
            <a:off x="15580189" y="6175459"/>
            <a:ext cx="10445354" cy="576795"/>
          </a:xfrm>
          <a:prstGeom prst="rect">
            <a:avLst/>
          </a:prstGeom>
        </p:spPr>
        <p:txBody>
          <a:bodyPr vert="horz" wrap="square" lIns="0" tIns="22577" rIns="0" bIns="0" rtlCol="0">
            <a:spAutoFit/>
          </a:bodyPr>
          <a:lstStyle/>
          <a:p>
            <a:pPr marL="22577">
              <a:spcBef>
                <a:spcPts val="178"/>
              </a:spcBef>
            </a:pPr>
            <a:r>
              <a:rPr u="sng" spc="-18" dirty="0">
                <a:solidFill>
                  <a:srgbClr val="226FCD"/>
                </a:solidFill>
                <a:uFill>
                  <a:solidFill>
                    <a:srgbClr val="226FCD"/>
                  </a:solidFill>
                </a:uFill>
                <a:latin typeface="Calibri Light"/>
                <a:cs typeface="Calibri Light"/>
                <a:hlinkClick r:id="rId3"/>
              </a:rPr>
              <a:t>https://s3.amazonaws.com/assets.datacamp.com/blog_assets/T</a:t>
            </a:r>
            <a:endParaRPr dirty="0">
              <a:latin typeface="Calibri Light"/>
              <a:cs typeface="Calibri Light"/>
            </a:endParaRPr>
          </a:p>
          <a:p>
            <a:pPr marL="22577">
              <a:spcBef>
                <a:spcPts val="36"/>
              </a:spcBef>
            </a:pPr>
            <a:r>
              <a:rPr u="sng" spc="-18" dirty="0">
                <a:solidFill>
                  <a:srgbClr val="226FCD"/>
                </a:solidFill>
                <a:uFill>
                  <a:solidFill>
                    <a:srgbClr val="226FCD"/>
                  </a:solidFill>
                </a:uFill>
                <a:latin typeface="Calibri Light"/>
                <a:cs typeface="Calibri Light"/>
                <a:hlinkClick r:id="rId3"/>
              </a:rPr>
              <a:t>idyverse+Cheat+Sheet.pdf</a:t>
            </a:r>
            <a:endParaRPr dirty="0">
              <a:latin typeface="Calibri Light"/>
              <a:cs typeface="Calibri Light"/>
            </a:endParaRPr>
          </a:p>
        </p:txBody>
      </p:sp>
      <p:sp>
        <p:nvSpPr>
          <p:cNvPr id="4" name="object 4"/>
          <p:cNvSpPr txBox="1"/>
          <p:nvPr/>
        </p:nvSpPr>
        <p:spPr>
          <a:xfrm rot="16200000">
            <a:off x="16641411" y="7854506"/>
            <a:ext cx="6245988" cy="1500125"/>
          </a:xfrm>
          <a:prstGeom prst="rect">
            <a:avLst/>
          </a:prstGeom>
        </p:spPr>
        <p:txBody>
          <a:bodyPr vert="horz" wrap="square" lIns="0" tIns="22577" rIns="0" bIns="0" rtlCol="0">
            <a:spAutoFit/>
          </a:bodyPr>
          <a:lstStyle/>
          <a:p>
            <a:pPr marL="22577">
              <a:spcBef>
                <a:spcPts val="178"/>
              </a:spcBef>
            </a:pPr>
            <a:r>
              <a:rPr sz="9600" spc="-203" dirty="0">
                <a:solidFill>
                  <a:srgbClr val="202020"/>
                </a:solidFill>
                <a:latin typeface="Calibri Light"/>
                <a:cs typeface="Calibri Light"/>
              </a:rPr>
              <a:t>C</a:t>
            </a:r>
            <a:r>
              <a:rPr sz="9600" spc="-213" dirty="0">
                <a:solidFill>
                  <a:srgbClr val="202020"/>
                </a:solidFill>
                <a:latin typeface="Calibri Light"/>
                <a:cs typeface="Calibri Light"/>
              </a:rPr>
              <a:t>H</a:t>
            </a:r>
            <a:r>
              <a:rPr sz="9600" spc="-293" dirty="0">
                <a:solidFill>
                  <a:srgbClr val="202020"/>
                </a:solidFill>
                <a:latin typeface="Calibri Light"/>
                <a:cs typeface="Calibri Light"/>
              </a:rPr>
              <a:t>E</a:t>
            </a:r>
            <a:r>
              <a:rPr sz="9600" spc="-1004" dirty="0">
                <a:solidFill>
                  <a:srgbClr val="202020"/>
                </a:solidFill>
                <a:latin typeface="Calibri Light"/>
                <a:cs typeface="Calibri Light"/>
              </a:rPr>
              <a:t>A</a:t>
            </a:r>
            <a:r>
              <a:rPr sz="9600" dirty="0">
                <a:solidFill>
                  <a:srgbClr val="202020"/>
                </a:solidFill>
                <a:latin typeface="Calibri Light"/>
                <a:cs typeface="Calibri Light"/>
              </a:rPr>
              <a:t>T</a:t>
            </a:r>
            <a:r>
              <a:rPr sz="9600" spc="-942" dirty="0">
                <a:solidFill>
                  <a:srgbClr val="202020"/>
                </a:solidFill>
                <a:latin typeface="Calibri Light"/>
                <a:cs typeface="Calibri Light"/>
              </a:rPr>
              <a:t> </a:t>
            </a:r>
            <a:r>
              <a:rPr sz="9600" spc="-160" dirty="0">
                <a:solidFill>
                  <a:srgbClr val="202020"/>
                </a:solidFill>
                <a:latin typeface="Calibri Light"/>
                <a:cs typeface="Calibri Light"/>
              </a:rPr>
              <a:t>SHEET</a:t>
            </a:r>
            <a:endParaRPr sz="9600" dirty="0">
              <a:latin typeface="Calibri Light"/>
              <a:cs typeface="Calibri Ligh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26FCD"/>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103d4f6-ee92-414b-a650-3e3b4090863e">
      <Terms xmlns="http://schemas.microsoft.com/office/infopath/2007/PartnerControls"/>
    </lcf76f155ced4ddcb4097134ff3c332f>
    <TaxCatchAll xmlns="cc32d92f-7736-4923-8cdf-168cc5809e7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E284AABCA0AD3438948330854908A41" ma:contentTypeVersion="14" ma:contentTypeDescription="Create a new document." ma:contentTypeScope="" ma:versionID="05ff08c31046a48e27ad5c5ee64816d8">
  <xsd:schema xmlns:xsd="http://www.w3.org/2001/XMLSchema" xmlns:xs="http://www.w3.org/2001/XMLSchema" xmlns:p="http://schemas.microsoft.com/office/2006/metadata/properties" xmlns:ns2="7103d4f6-ee92-414b-a650-3e3b4090863e" xmlns:ns3="cc32d92f-7736-4923-8cdf-168cc5809e71" targetNamespace="http://schemas.microsoft.com/office/2006/metadata/properties" ma:root="true" ma:fieldsID="ccadfbeb02c9c65f14cd8459b9555de7" ns2:_="" ns3:_="">
    <xsd:import namespace="7103d4f6-ee92-414b-a650-3e3b4090863e"/>
    <xsd:import namespace="cc32d92f-7736-4923-8cdf-168cc5809e7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03d4f6-ee92-414b-a650-3e3b409086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6ddb0ec-cae1-4b94-bdc6-d5be94c7207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2d92f-7736-4923-8cdf-168cc5809e71"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e06d-3437-43a9-adec-9346ebee703a}" ma:internalName="TaxCatchAll" ma:showField="CatchAllData" ma:web="cc32d92f-7736-4923-8cdf-168cc5809e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86ED4D-16B3-4441-8B09-C7195B7E0C12}">
  <ds:schemaRefs>
    <ds:schemaRef ds:uri="http://schemas.microsoft.com/office/2006/metadata/properties"/>
    <ds:schemaRef ds:uri="http://schemas.microsoft.com/office/infopath/2007/PartnerControls"/>
    <ds:schemaRef ds:uri="7103d4f6-ee92-414b-a650-3e3b4090863e"/>
    <ds:schemaRef ds:uri="cc32d92f-7736-4923-8cdf-168cc5809e71"/>
  </ds:schemaRefs>
</ds:datastoreItem>
</file>

<file path=customXml/itemProps2.xml><?xml version="1.0" encoding="utf-8"?>
<ds:datastoreItem xmlns:ds="http://schemas.openxmlformats.org/officeDocument/2006/customXml" ds:itemID="{EC550DA3-5C3B-4CB8-B527-2C04665A76B2}">
  <ds:schemaRefs>
    <ds:schemaRef ds:uri="http://schemas.microsoft.com/sharepoint/v3/contenttype/forms"/>
  </ds:schemaRefs>
</ds:datastoreItem>
</file>

<file path=customXml/itemProps3.xml><?xml version="1.0" encoding="utf-8"?>
<ds:datastoreItem xmlns:ds="http://schemas.openxmlformats.org/officeDocument/2006/customXml" ds:itemID="{BDD23F54-6D6C-44C6-87A0-8EDADE652F1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03d4f6-ee92-414b-a650-3e3b4090863e"/>
    <ds:schemaRef ds:uri="cc32d92f-7736-4923-8cdf-168cc5809e7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10393</TotalTime>
  <Words>1478</Words>
  <Application>Microsoft Office PowerPoint</Application>
  <PresentationFormat>Custom</PresentationFormat>
  <Paragraphs>164</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Intro to R</vt:lpstr>
      <vt:lpstr>OVERVIEW</vt:lpstr>
      <vt:lpstr>WHAT IS R?</vt:lpstr>
      <vt:lpstr>WHAT R IS NOT</vt:lpstr>
      <vt:lpstr>R Basics</vt:lpstr>
      <vt:lpstr>OVERVIEW</vt:lpstr>
      <vt:lpstr>Installation</vt:lpstr>
      <vt:lpstr>SCRIPT</vt:lpstr>
      <vt:lpstr>console</vt:lpstr>
      <vt:lpstr>The number 1 you see in brackets before the 2 (i.e., [1]) is telling you that this line of results starts with the first result. That fact is obvious here because there is only one result. To make this idea clearer, let’s show you a result with multiple lines.</vt:lpstr>
      <vt:lpstr>environment</vt:lpstr>
      <vt:lpstr>script</vt:lpstr>
      <vt:lpstr>Working directory</vt:lpstr>
      <vt:lpstr>R projects</vt:lpstr>
      <vt:lpstr>Base R A few notes on R's language</vt:lpstr>
      <vt:lpstr>script</vt:lpstr>
      <vt:lpstr>Packages </vt:lpstr>
      <vt:lpstr>PowerPoint Presentation</vt:lpstr>
      <vt:lpstr>pacman::p_load()</vt:lpstr>
      <vt:lpstr>Importing data</vt:lpstr>
      <vt:lpstr>PowerPoint Presentation</vt:lpstr>
      <vt:lpstr>PowerPoint Presentation</vt:lpstr>
      <vt:lpstr>PowerPoint Presentation</vt:lpstr>
      <vt:lpstr>PowerPoint Presentation</vt:lpstr>
      <vt:lpstr>Exporting data</vt:lpstr>
      <vt:lpstr>The tidyverse:</vt:lpstr>
      <vt:lpstr>OVERVIEW</vt:lpstr>
      <vt:lpstr>Tidyverse</vt:lpstr>
      <vt:lpstr>PowerPoint Presentation</vt:lpstr>
      <vt:lpstr>The pipe %&gt;%</vt:lpstr>
      <vt:lpstr>filter()</vt:lpstr>
      <vt:lpstr>select() # dplyr’s select function is for subsetting, renaming, and reordering columns. # old columns can be referred to by name or by number.</vt:lpstr>
      <vt:lpstr>mutate()</vt:lpstr>
      <vt:lpstr>summarize() # summarize lets us compute summaries of data.</vt:lpstr>
      <vt:lpstr>PowerPoint Presentation</vt:lpstr>
      <vt:lpstr>pivot_longer()</vt:lpstr>
      <vt:lpstr>PowerPoint Presentation</vt:lpstr>
      <vt:lpstr>PowerPoint Presentation</vt:lpstr>
      <vt:lpstr>PowerPoint Presentation</vt:lpstr>
      <vt:lpstr>PowerPoint Presentation</vt:lpstr>
      <vt:lpstr>PowerPoint Presentation</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Cayen, Joelle (PHAC/ASPC)</cp:lastModifiedBy>
  <cp:revision>8</cp:revision>
  <dcterms:created xsi:type="dcterms:W3CDTF">2025-06-16T18:03:31Z</dcterms:created>
  <dcterms:modified xsi:type="dcterms:W3CDTF">2026-02-09T20:18:19Z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2022-06-01T00:00:00Z</vt:filetime>
  </property>
  <property fmtid="{D5CDD505-2E9C-101B-9397-08002B2CF9AE}" pid="3" name="LastSaved">
    <vt:filetime>2025-06-16T00:00:00Z</vt:filetime>
  </property>
  <property fmtid="{D5CDD505-2E9C-101B-9397-08002B2CF9AE}" pid="4" name="MSIP_Label_05d8ed60-cd71-485b-a85b-277aaf32f506_Enabled">
    <vt:lpwstr>true</vt:lpwstr>
  </property>
  <property fmtid="{D5CDD505-2E9C-101B-9397-08002B2CF9AE}" pid="5" name="MSIP_Label_05d8ed60-cd71-485b-a85b-277aaf32f506_SetDate">
    <vt:lpwstr>2025-06-16T18:04:26Z</vt:lpwstr>
  </property>
  <property fmtid="{D5CDD505-2E9C-101B-9397-08002B2CF9AE}" pid="6" name="MSIP_Label_05d8ed60-cd71-485b-a85b-277aaf32f506_Method">
    <vt:lpwstr>Standard</vt:lpwstr>
  </property>
  <property fmtid="{D5CDD505-2E9C-101B-9397-08002B2CF9AE}" pid="7" name="MSIP_Label_05d8ed60-cd71-485b-a85b-277aaf32f506_Name">
    <vt:lpwstr>Unclassified</vt:lpwstr>
  </property>
  <property fmtid="{D5CDD505-2E9C-101B-9397-08002B2CF9AE}" pid="8" name="MSIP_Label_05d8ed60-cd71-485b-a85b-277aaf32f506_SiteId">
    <vt:lpwstr>42fd9015-de4d-4223-a368-baeacab48927</vt:lpwstr>
  </property>
  <property fmtid="{D5CDD505-2E9C-101B-9397-08002B2CF9AE}" pid="9" name="MSIP_Label_05d8ed60-cd71-485b-a85b-277aaf32f506_ActionId">
    <vt:lpwstr>689f6997-4d97-4f83-81f4-123f67f1bdf7</vt:lpwstr>
  </property>
  <property fmtid="{D5CDD505-2E9C-101B-9397-08002B2CF9AE}" pid="10" name="MSIP_Label_05d8ed60-cd71-485b-a85b-277aaf32f506_ContentBits">
    <vt:lpwstr>1</vt:lpwstr>
  </property>
  <property fmtid="{D5CDD505-2E9C-101B-9397-08002B2CF9AE}" pid="11" name="MSIP_Label_05d8ed60-cd71-485b-a85b-277aaf32f506_Tag">
    <vt:lpwstr>10, 3, 0, 1</vt:lpwstr>
  </property>
  <property fmtid="{D5CDD505-2E9C-101B-9397-08002B2CF9AE}" pid="12" name="ClassificationContentMarkingHeaderLocations">
    <vt:lpwstr>Office Theme:8</vt:lpwstr>
  </property>
  <property fmtid="{D5CDD505-2E9C-101B-9397-08002B2CF9AE}" pid="13" name="ClassificationContentMarkingHeaderText">
    <vt:lpwstr>Unclassified / Non classifié</vt:lpwstr>
  </property>
  <property fmtid="{D5CDD505-2E9C-101B-9397-08002B2CF9AE}" pid="14" name="ContentTypeId">
    <vt:lpwstr>0x010100AE284AABCA0AD3438948330854908A41</vt:lpwstr>
  </property>
  <property fmtid="{D5CDD505-2E9C-101B-9397-08002B2CF9AE}" pid="15" name="MediaServiceImageTags">
    <vt:lpwstr/>
  </property>
</Properties>
</file>